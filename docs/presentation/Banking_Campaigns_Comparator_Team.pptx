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team. This is a research POC for comparing communication, not a production marketing platform. The deck assesses the current repository against the two stakeholder briefs.</a:t>
            </a:r>
          </a:p>
          <a:p/>
          <a:p>
            <a:r>
              <a:t>Evidence: Project review · 24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stakeholder presentation illustrates differences in imagery, text and layout. These are starting hypotheses, not findings produced by our app. The use case explicitly says this is not a modelling exercise. Our scope is public product pages; we do not measure campaign conversion or CTR.</a:t>
            </a:r>
          </a:p>
          <a:p/>
          <a:p>
            <a:r>
              <a:t>Evidence: ING presentation pp. 19–22; use-case: Objective, MVP, Expected Outputs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Implemented evidence: scraping/page_scrapers.py, capture.py, schemas/features.py, api/features.py, services/compare.py and frontend Compare.tsx. Partial: broad bank/language coverage and visual automation. Not established: ING positioning and validated recommendations. Do not claim a POC automatically proves business impact.</a:t>
            </a:r>
          </a:p>
          <a:p/>
          <a:p>
            <a:r>
              <a:t>Evidence: Use-case: Feature Extraction, Expected Outputs; code evidence in presentation notes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current UI counts, not a market sample claim. Completed status can include acknowledged missing fields. The screenshot documents application state and should not be presented as audited source authenticity or complete research coverage.</a:t>
            </a:r>
          </a:p>
          <a:p/>
          <a:p>
            <a:r>
              <a:t>Evidence: Local Dataset UI captured 24 September 2026; frontend/src/pages/Dashboard.tsx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of the implemented local app. Solid arrows show data; dashed arrows show triggers. Configured JSON sources are imported on list load. Only the first supported auto-label action saves automatic labels. All capture modes save evidence. Human review edits saved feature records. Compare reads those records within a single product category. No cloud AI, email, hash-based change detection or automatic website-difference engine is implied.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come from UI additions or configured JSON imported into user_sources on list load. For a first capture, supported sources offer Scrape &amp; Auto-label; unsupported sources offer Capture page. After a successful capture both paths offer only Capture only. Failed first attempts retain the original action. Recapture preserves labels.</a:t>
            </a:r>
          </a:p>
          <a:p/>
          <a:p>
            <a:r>
              <a:t>Evidence: scraping/dispatcher.py; scraping_config.py; services/collection.py; pages/Scraping.tsx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Capture evidence is saved before destructive text cleanup. Each capture is a historical record. Generic capture works without creating automatic labels. Dynamic pages, banners and hidden content can still affect coverage. Source URL and timestamps enable traceability; database and artifacts must be backed up together.</a:t>
            </a:r>
          </a:p>
          <a:p/>
          <a:p>
            <a:r>
              <a:t>Evidence: scraping/capture.py; page_scrapers.py; message_scraper.py; components/CaptureViewer.tsx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are derived from the current frontend feature definitions. The UI also has a ninth group for additional campaign observations. Having fields available does not mean all are automatically populated. Most visual/design fields require manual annotation.</a:t>
            </a:r>
          </a:p>
          <a:p/>
          <a:p>
            <a:r>
              <a:t>Evidence: frontend/src/api/features.ts; backend/app/schemas/features.py; pages/Label.tsx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Supported cases share code but coverage is explicitly registered. Message scoring requires at least 50 words. Keyword-based scores need language and product calibration. CTA uses visible candidates, keyword/class rules, deduplication and ranking. No trained AI model is used. Six CTA fields are persisted via the existing feature schema.</a:t>
            </a:r>
          </a:p>
          <a:p/>
          <a:p>
            <a:r>
              <a:t>Evidence: feature_labels.py; message_analysis.py; message_analysis_config.py; cta_analysis.py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product details screen. Explain the difference between automatic provenance and review status. Completion may acknowledge missing fields, so it is not a promise of 100 percent completeness. Recapture updates evidence without overwriting reviewed labels.</a:t>
            </a:r>
          </a:p>
          <a:p/>
          <a:p>
            <a:r>
              <a:t>Evidence: pages/Label.tsx; api/features.py; components/FeatureControls.tsx</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Observations describe ranges or equal scores in the selected sample. They are deterministic summaries, not AI insights. Missing values stay missing and higher values do not necessarily mean better. There are no bank averages or effectiveness measurements. Screenshot selection is illustrative and may include drafts.</a:t>
            </a:r>
          </a:p>
          <a:p/>
          <a:p>
            <a:r>
              <a:t>Evidence: services/compare.py; ComparisonChart.tsx; ComparisonFindings.tsx; ComparisonTable.tsx</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completed backend run during implementation reported 192 passed; it was not rerun for this presentation. Tests cover implementation, not accuracy of bank labels. Sitemap discovery reads robots.txt for sitemap locations; that is not evidence that every fetch enforces robots rules. Site permission review remains a team responsibility.</a:t>
            </a:r>
          </a:p>
          <a:p/>
          <a:p>
            <a:r>
              <a:t>Evidence: tests/test_cta.py; test_source_workflow.py; test_message_integration.py; crawling/crawling.py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invent a conclusion such as ING being more rational than competitors. Next choose a defensible matched sample, double-review labels, show a few concrete differences with screenshots and then formulate improvement hypotheses. Testing those hypotheses would be separate work.</a:t>
            </a:r>
          </a:p>
          <a:p/>
          <a:p>
            <a:r>
              <a:t>Evidence: Use-case: Expected Outputs, Goal; ING presentation pp. 21–22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team split: presenter 1 covers problem and scope; presenter 2 architecture and pipeline; presenter 3 framework, automation and review; presenter 4 comparison, limitations and next steps. Adapt to team size. Use a previously captured product to avoid waiting for external sites during the demo.</a:t>
            </a:r>
          </a:p>
          <a:p/>
          <a:p>
            <a:r>
              <a:t>Evidence: Demo uses existing records; no live scraping dependency required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narrative documentation in the repository is outdated; implementation checks and current UI were prioritised. No external market research or database content changes were performed for this deck. Screenshots are local, dated observations. Fonts follow frontend CSS and may substitute if unavailable on the receiving computer.</a:t>
            </a:r>
          </a:p>
          <a:p/>
          <a:p>
            <a:r>
              <a:t>Evidence: Repository review and local screenshots · 24 September 2026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8F6"/>
        </a:solidFill>
        <a:effectLst/>
      </p:bgPr>
    </p:bg>
    <p:spTree>
      <p:nvGrpSpPr>
        <p:cNvPr id="1" name=""/>
        <p:cNvGrpSpPr/>
        <p:nvPr/>
      </p:nvGrpSpPr>
      <p:grpSpPr/>
      <p:sp>
        <p:nvSpPr>
          <p:cNvPr id="2" name="TextBox 1"/>
          <p:cNvSpPr txBox="1"/>
          <p:nvPr/>
        </p:nvSpPr>
        <p:spPr>
          <a:xfrm>
            <a:off x="502920" y="256032"/>
            <a:ext cx="10972800" cy="228600"/>
          </a:xfrm>
          <a:prstGeom prst="rect">
            <a:avLst/>
          </a:prstGeom>
          <a:noFill/>
        </p:spPr>
        <p:txBody>
          <a:bodyPr wrap="square" lIns="0" rIns="0" tIns="0" bIns="0">
            <a:spAutoFit/>
          </a:bodyPr>
          <a:lstStyle/>
          <a:p>
            <a:pPr>
              <a:spcAft>
                <a:spcPts val="800"/>
              </a:spcAft>
              <a:defRPr sz="1000" b="1">
                <a:solidFill>
                  <a:srgbClr val="244F41"/>
                </a:solidFill>
                <a:latin typeface="Manrope"/>
              </a:defRPr>
            </a:pPr>
            <a:r>
              <a:t>BECODE × BANKING COMMUNICATION RESEARCH</a:t>
            </a:r>
          </a:p>
        </p:txBody>
      </p:sp>
      <p:sp>
        <p:nvSpPr>
          <p:cNvPr id="3" name="TextBox 2"/>
          <p:cNvSpPr txBox="1"/>
          <p:nvPr/>
        </p:nvSpPr>
        <p:spPr>
          <a:xfrm>
            <a:off x="502920" y="749808"/>
            <a:ext cx="11155680" cy="662940"/>
          </a:xfrm>
          <a:prstGeom prst="rect">
            <a:avLst/>
          </a:prstGeom>
          <a:noFill/>
        </p:spPr>
        <p:txBody>
          <a:bodyPr wrap="square" lIns="0" rIns="0" tIns="0" bIns="0">
            <a:spAutoFit/>
          </a:bodyPr>
          <a:lstStyle/>
          <a:p>
            <a:pPr>
              <a:spcAft>
                <a:spcPts val="800"/>
              </a:spcAft>
              <a:defRPr sz="2900" b="1">
                <a:solidFill>
                  <a:srgbClr val="182E26"/>
                </a:solidFill>
                <a:latin typeface="Manrope"/>
              </a:defRPr>
            </a:pPr>
            <a:r>
              <a:t>Banking campaigns comparator</a:t>
            </a:r>
          </a:p>
        </p:txBody>
      </p:sp>
      <p:sp>
        <p:nvSpPr>
          <p:cNvPr id="4" name="TextBox 3"/>
          <p:cNvSpPr txBox="1"/>
          <p:nvPr/>
        </p:nvSpPr>
        <p:spPr>
          <a:xfrm>
            <a:off x="502920" y="1435608"/>
            <a:ext cx="11064240" cy="548640"/>
          </a:xfrm>
          <a:prstGeom prst="rect">
            <a:avLst/>
          </a:prstGeom>
          <a:noFill/>
        </p:spPr>
        <p:txBody>
          <a:bodyPr wrap="square" lIns="0" rIns="0" tIns="0" bIns="0">
            <a:spAutoFit/>
          </a:bodyPr>
          <a:lstStyle/>
          <a:p>
            <a:pPr>
              <a:spcAft>
                <a:spcPts val="800"/>
              </a:spcAft>
              <a:defRPr sz="1500" b="0">
                <a:solidFill>
                  <a:srgbClr val="63705F"/>
                </a:solidFill>
                <a:latin typeface="DM Sans"/>
              </a:defRPr>
            </a:pPr>
            <a:r>
              <a:t>From public product pages to evidence-backed comparisons</a:t>
            </a:r>
          </a:p>
        </p:txBody>
      </p:sp>
      <p:sp>
        <p:nvSpPr>
          <p:cNvPr id="5" name="TextBox 4"/>
          <p:cNvSpPr txBox="1"/>
          <p:nvPr/>
        </p:nvSpPr>
        <p:spPr>
          <a:xfrm>
            <a:off x="502920" y="6437376"/>
            <a:ext cx="10607040" cy="210312"/>
          </a:xfrm>
          <a:prstGeom prst="rect">
            <a:avLst/>
          </a:prstGeom>
          <a:noFill/>
        </p:spPr>
        <p:txBody>
          <a:bodyPr wrap="square" lIns="0" rIns="0" tIns="0" bIns="0">
            <a:spAutoFit/>
          </a:bodyPr>
          <a:lstStyle/>
          <a:p>
            <a:pPr>
              <a:spcAft>
                <a:spcPts val="800"/>
              </a:spcAft>
              <a:defRPr sz="800" b="0">
                <a:solidFill>
                  <a:srgbClr val="63705F"/>
                </a:solidFill>
                <a:latin typeface="DM Sans"/>
              </a:defRPr>
            </a:pPr>
            <a:r>
              <a:t>Project review · 24 September 2026</a:t>
            </a:r>
          </a:p>
        </p:txBody>
      </p:sp>
      <p:sp>
        <p:nvSpPr>
          <p:cNvPr id="6" name="TextBox 5"/>
          <p:cNvSpPr txBox="1"/>
          <p:nvPr/>
        </p:nvSpPr>
        <p:spPr>
          <a:xfrm>
            <a:off x="11064240" y="6419088"/>
            <a:ext cx="640080" cy="228600"/>
          </a:xfrm>
          <a:prstGeom prst="rect">
            <a:avLst/>
          </a:prstGeom>
          <a:noFill/>
        </p:spPr>
        <p:txBody>
          <a:bodyPr wrap="square" lIns="0" rIns="0" tIns="0" bIns="0">
            <a:spAutoFit/>
          </a:bodyPr>
          <a:lstStyle/>
          <a:p>
            <a:pPr>
              <a:spcAft>
                <a:spcPts val="800"/>
              </a:spcAft>
              <a:defRPr sz="1000" b="1">
                <a:solidFill>
                  <a:srgbClr val="244F41"/>
                </a:solidFill>
                <a:latin typeface="Manrope"/>
              </a:defRPr>
            </a:pPr>
            <a:r>
              <a:t>01</a:t>
            </a:r>
          </a:p>
        </p:txBody>
      </p:sp>
      <p:sp>
        <p:nvSpPr>
          <p:cNvPr id="7" name="Rounded Rectangle 6"/>
          <p:cNvSpPr/>
          <p:nvPr/>
        </p:nvSpPr>
        <p:spPr>
          <a:xfrm>
            <a:off x="502920" y="2377440"/>
            <a:ext cx="6675120" cy="306324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2560320"/>
            <a:ext cx="6254496" cy="502920"/>
          </a:xfrm>
          <a:prstGeom prst="rect">
            <a:avLst/>
          </a:prstGeom>
          <a:noFill/>
        </p:spPr>
        <p:txBody>
          <a:bodyPr wrap="square" lIns="0" rIns="0" tIns="0" bIns="0">
            <a:spAutoFit/>
          </a:bodyPr>
          <a:lstStyle/>
          <a:p>
            <a:pPr>
              <a:spcAft>
                <a:spcPts val="800"/>
              </a:spcAft>
              <a:defRPr sz="1900" b="1">
                <a:solidFill>
                  <a:srgbClr val="244F41"/>
                </a:solidFill>
                <a:latin typeface="Manrope"/>
              </a:defRPr>
            </a:pPr>
            <a:r>
              <a:t>A reusable research workflow</a:t>
            </a:r>
          </a:p>
        </p:txBody>
      </p:sp>
      <p:sp>
        <p:nvSpPr>
          <p:cNvPr id="9" name="TextBox 8"/>
          <p:cNvSpPr txBox="1"/>
          <p:nvPr/>
        </p:nvSpPr>
        <p:spPr>
          <a:xfrm>
            <a:off x="713232" y="3200400"/>
            <a:ext cx="6254496" cy="2130552"/>
          </a:xfrm>
          <a:prstGeom prst="rect">
            <a:avLst/>
          </a:prstGeom>
          <a:noFill/>
        </p:spPr>
        <p:txBody>
          <a:bodyPr wrap="square" lIns="0" rIns="0" tIns="0" bIns="0">
            <a:spAutoFit/>
          </a:bodyPr>
          <a:lstStyle/>
          <a:p>
            <a:pPr>
              <a:spcAft>
                <a:spcPts val="800"/>
              </a:spcAft>
              <a:defRPr sz="1600" b="0">
                <a:solidFill>
                  <a:srgbClr val="182E26"/>
                </a:solidFill>
                <a:latin typeface="DM Sans"/>
              </a:defRPr>
            </a:pPr>
            <a:r>
              <a:t>Capture evidence. Structure observations.</a:t>
            </a:r>
          </a:p>
          <a:p>
            <a:pPr>
              <a:spcAft>
                <a:spcPts val="800"/>
              </a:spcAft>
              <a:defRPr sz="1600" b="0">
                <a:solidFill>
                  <a:srgbClr val="182E26"/>
                </a:solidFill>
                <a:latin typeface="DM Sans"/>
              </a:defRPr>
            </a:pPr>
            <a:r>
              <a:t>Review automatic suggestions. Compare like with like.</a:t>
            </a:r>
          </a:p>
          <a:p>
            <a:pPr>
              <a:spcAft>
                <a:spcPts val="800"/>
              </a:spcAft>
              <a:defRPr sz="1600" b="0">
                <a:solidFill>
                  <a:srgbClr val="182E26"/>
                </a:solidFill>
                <a:latin typeface="DM Sans"/>
              </a:defRPr>
            </a:pPr>
          </a:p>
          <a:p>
            <a:pPr>
              <a:spcAft>
                <a:spcPts val="800"/>
              </a:spcAft>
              <a:defRPr sz="1600" b="0">
                <a:solidFill>
                  <a:srgbClr val="182E26"/>
                </a:solidFill>
                <a:latin typeface="DM Sans"/>
              </a:defRPr>
            </a:pPr>
            <a:r>
              <a:t>Business question: what can ING learn from how other banks present similar products?</a:t>
            </a:r>
          </a:p>
        </p:txBody>
      </p:sp>
      <p:sp>
        <p:nvSpPr>
          <p:cNvPr id="10" name="Rounded Rectangle 9"/>
          <p:cNvSpPr/>
          <p:nvPr/>
        </p:nvSpPr>
        <p:spPr>
          <a:xfrm>
            <a:off x="7406640" y="2377440"/>
            <a:ext cx="4251960" cy="306324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16952" y="2560320"/>
            <a:ext cx="3831336" cy="502920"/>
          </a:xfrm>
          <a:prstGeom prst="rect">
            <a:avLst/>
          </a:prstGeom>
          <a:noFill/>
        </p:spPr>
        <p:txBody>
          <a:bodyPr wrap="square" lIns="0" rIns="0" tIns="0" bIns="0">
            <a:spAutoFit/>
          </a:bodyPr>
          <a:lstStyle/>
          <a:p>
            <a:pPr>
              <a:spcAft>
                <a:spcPts val="800"/>
              </a:spcAft>
              <a:defRPr sz="1900" b="1">
                <a:solidFill>
                  <a:srgbClr val="244F41"/>
                </a:solidFill>
                <a:latin typeface="Manrope"/>
              </a:defRPr>
            </a:pPr>
            <a:r>
              <a:t>Built for human review</a:t>
            </a:r>
          </a:p>
        </p:txBody>
      </p:sp>
      <p:sp>
        <p:nvSpPr>
          <p:cNvPr id="12" name="TextBox 11"/>
          <p:cNvSpPr txBox="1"/>
          <p:nvPr/>
        </p:nvSpPr>
        <p:spPr>
          <a:xfrm>
            <a:off x="7616952" y="3200400"/>
            <a:ext cx="3831336" cy="2130552"/>
          </a:xfrm>
          <a:prstGeom prst="rect">
            <a:avLst/>
          </a:prstGeom>
          <a:noFill/>
        </p:spPr>
        <p:txBody>
          <a:bodyPr wrap="square" lIns="0" rIns="0" tIns="0" bIns="0">
            <a:spAutoFit/>
          </a:bodyPr>
          <a:lstStyle/>
          <a:p>
            <a:pPr>
              <a:spcAft>
                <a:spcPts val="800"/>
              </a:spcAft>
              <a:defRPr sz="1600" b="0">
                <a:solidFill>
                  <a:srgbClr val="182E26"/>
                </a:solidFill>
                <a:latin typeface="DM Sans"/>
              </a:defRPr>
            </a:pPr>
            <a:r>
              <a:t>React + FastAPI + PostgreSQL</a:t>
            </a:r>
          </a:p>
          <a:p>
            <a:pPr>
              <a:spcAft>
                <a:spcPts val="800"/>
              </a:spcAft>
              <a:defRPr sz="1600" b="0">
                <a:solidFill>
                  <a:srgbClr val="182E26"/>
                </a:solidFill>
                <a:latin typeface="DM Sans"/>
              </a:defRPr>
            </a:pPr>
            <a:r>
              <a:t>Playwright page capture</a:t>
            </a:r>
          </a:p>
          <a:p>
            <a:pPr>
              <a:spcAft>
                <a:spcPts val="800"/>
              </a:spcAft>
              <a:defRPr sz="1600" b="0">
                <a:solidFill>
                  <a:srgbClr val="182E26"/>
                </a:solidFill>
                <a:latin typeface="DM Sans"/>
              </a:defRPr>
            </a:pPr>
            <a:r>
              <a:t>Rule-based assistance</a:t>
            </a:r>
          </a:p>
          <a:p>
            <a:pPr>
              <a:spcAft>
                <a:spcPts val="800"/>
              </a:spcAft>
              <a:defRPr sz="1600" b="0">
                <a:solidFill>
                  <a:srgbClr val="182E26"/>
                </a:solidFill>
                <a:latin typeface="DM Sans"/>
              </a:defRPr>
            </a:pPr>
            <a:r>
              <a:t>No AI model required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6"/>
        </a:solidFill>
        <a:effectLst/>
      </p:bgPr>
    </p:bg>
    <p:spTree>
      <p:nvGrpSpPr>
        <p:cNvPr id="1" name=""/>
        <p:cNvGrpSpPr/>
        <p:nvPr/>
      </p:nvGrpSpPr>
      <p:grpSpPr/>
      <p:sp>
        <p:nvSpPr>
          <p:cNvPr id="2" name="TextBox 1"/>
          <p:cNvSpPr txBox="1"/>
          <p:nvPr/>
        </p:nvSpPr>
        <p:spPr>
          <a:xfrm>
            <a:off x="502920" y="256032"/>
            <a:ext cx="10972800" cy="228600"/>
          </a:xfrm>
          <a:prstGeom prst="rect">
            <a:avLst/>
          </a:prstGeom>
          <a:noFill/>
        </p:spPr>
        <p:txBody>
          <a:bodyPr wrap="square" lIns="0" rIns="0" tIns="0" bIns="0">
            <a:spAutoFit/>
          </a:bodyPr>
          <a:lstStyle/>
          <a:p>
            <a:pPr>
              <a:spcAft>
                <a:spcPts val="800"/>
              </a:spcAft>
              <a:defRPr sz="1000" b="1">
                <a:solidFill>
                  <a:srgbClr val="244F41"/>
                </a:solidFill>
                <a:latin typeface="Manrope"/>
              </a:defRPr>
            </a:pPr>
            <a:r>
              <a:t>01 / WHY THIS PROJECT</a:t>
            </a:r>
          </a:p>
        </p:txBody>
      </p:sp>
      <p:sp>
        <p:nvSpPr>
          <p:cNvPr id="3" name="TextBox 2"/>
          <p:cNvSpPr txBox="1"/>
          <p:nvPr/>
        </p:nvSpPr>
        <p:spPr>
          <a:xfrm>
            <a:off x="502920" y="749808"/>
            <a:ext cx="11155680" cy="662940"/>
          </a:xfrm>
          <a:prstGeom prst="rect">
            <a:avLst/>
          </a:prstGeom>
          <a:noFill/>
        </p:spPr>
        <p:txBody>
          <a:bodyPr wrap="square" lIns="0" rIns="0" tIns="0" bIns="0">
            <a:spAutoFit/>
          </a:bodyPr>
          <a:lstStyle/>
          <a:p>
            <a:pPr>
              <a:spcAft>
                <a:spcPts val="800"/>
              </a:spcAft>
              <a:defRPr sz="2900" b="1">
                <a:solidFill>
                  <a:srgbClr val="182E26"/>
                </a:solidFill>
                <a:latin typeface="Manrope"/>
              </a:defRPr>
            </a:pPr>
            <a:r>
              <a:t>The brief asks for evidence, not a bank ranking</a:t>
            </a:r>
          </a:p>
        </p:txBody>
      </p:sp>
      <p:sp>
        <p:nvSpPr>
          <p:cNvPr id="4" name="TextBox 3"/>
          <p:cNvSpPr txBox="1"/>
          <p:nvPr/>
        </p:nvSpPr>
        <p:spPr>
          <a:xfrm>
            <a:off x="502920" y="1435608"/>
            <a:ext cx="11064240" cy="548640"/>
          </a:xfrm>
          <a:prstGeom prst="rect">
            <a:avLst/>
          </a:prstGeom>
          <a:noFill/>
        </p:spPr>
        <p:txBody>
          <a:bodyPr wrap="square" lIns="0" rIns="0" tIns="0" bIns="0">
            <a:spAutoFit/>
          </a:bodyPr>
          <a:lstStyle/>
          <a:p>
            <a:pPr>
              <a:spcAft>
                <a:spcPts val="800"/>
              </a:spcAft>
              <a:defRPr sz="1500" b="0">
                <a:solidFill>
                  <a:srgbClr val="63705F"/>
                </a:solidFill>
                <a:latin typeface="DM Sans"/>
              </a:defRPr>
            </a:pPr>
            <a:r>
              <a:t>A focused, reproducible POC for business and data stakeholders.</a:t>
            </a:r>
          </a:p>
        </p:txBody>
      </p:sp>
      <p:sp>
        <p:nvSpPr>
          <p:cNvPr id="5" name="TextBox 4"/>
          <p:cNvSpPr txBox="1"/>
          <p:nvPr/>
        </p:nvSpPr>
        <p:spPr>
          <a:xfrm>
            <a:off x="502920" y="6437376"/>
            <a:ext cx="10607040" cy="210312"/>
          </a:xfrm>
          <a:prstGeom prst="rect">
            <a:avLst/>
          </a:prstGeom>
          <a:noFill/>
        </p:spPr>
        <p:txBody>
          <a:bodyPr wrap="square" lIns="0" rIns="0" tIns="0" bIns="0">
            <a:spAutoFit/>
          </a:bodyPr>
          <a:lstStyle/>
          <a:p>
            <a:pPr>
              <a:spcAft>
                <a:spcPts val="800"/>
              </a:spcAft>
              <a:defRPr sz="800" b="0">
                <a:solidFill>
                  <a:srgbClr val="63705F"/>
                </a:solidFill>
                <a:latin typeface="DM Sans"/>
              </a:defRPr>
            </a:pPr>
            <a:r>
              <a:t>ING presentation pp. 19–22; use-case: Objective, MVP, Expected Outputs</a:t>
            </a:r>
          </a:p>
        </p:txBody>
      </p:sp>
      <p:sp>
        <p:nvSpPr>
          <p:cNvPr id="6" name="TextBox 5"/>
          <p:cNvSpPr txBox="1"/>
          <p:nvPr/>
        </p:nvSpPr>
        <p:spPr>
          <a:xfrm>
            <a:off x="11064240" y="6419088"/>
            <a:ext cx="640080" cy="228600"/>
          </a:xfrm>
          <a:prstGeom prst="rect">
            <a:avLst/>
          </a:prstGeom>
          <a:noFill/>
        </p:spPr>
        <p:txBody>
          <a:bodyPr wrap="square" lIns="0" rIns="0" tIns="0" bIns="0">
            <a:spAutoFit/>
          </a:bodyPr>
          <a:lstStyle/>
          <a:p>
            <a:pPr>
              <a:spcAft>
                <a:spcPts val="800"/>
              </a:spcAft>
              <a:defRPr sz="1000" b="1">
                <a:solidFill>
                  <a:srgbClr val="244F41"/>
                </a:solidFill>
                <a:latin typeface="Manrope"/>
              </a:defRPr>
            </a:pPr>
            <a:r>
              <a:t>02</a:t>
            </a:r>
          </a:p>
        </p:txBody>
      </p:sp>
      <p:sp>
        <p:nvSpPr>
          <p:cNvPr id="7" name="Rounded Rectangle 6"/>
          <p:cNvSpPr/>
          <p:nvPr/>
        </p:nvSpPr>
        <p:spPr>
          <a:xfrm>
            <a:off x="502920" y="2286000"/>
            <a:ext cx="3566160" cy="324612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2468880"/>
            <a:ext cx="3145536" cy="502920"/>
          </a:xfrm>
          <a:prstGeom prst="rect">
            <a:avLst/>
          </a:prstGeom>
          <a:noFill/>
        </p:spPr>
        <p:txBody>
          <a:bodyPr wrap="square" lIns="0" rIns="0" tIns="0" bIns="0">
            <a:spAutoFit/>
          </a:bodyPr>
          <a:lstStyle/>
          <a:p>
            <a:pPr>
              <a:spcAft>
                <a:spcPts val="800"/>
              </a:spcAft>
              <a:defRPr sz="1900" b="1">
                <a:solidFill>
                  <a:srgbClr val="244F41"/>
                </a:solidFill>
                <a:latin typeface="Manrope"/>
              </a:defRPr>
            </a:pPr>
            <a:r>
              <a:t>Compare consistently</a:t>
            </a:r>
          </a:p>
        </p:txBody>
      </p:sp>
      <p:sp>
        <p:nvSpPr>
          <p:cNvPr id="9" name="TextBox 8"/>
          <p:cNvSpPr txBox="1"/>
          <p:nvPr/>
        </p:nvSpPr>
        <p:spPr>
          <a:xfrm>
            <a:off x="713232" y="3108960"/>
            <a:ext cx="3145536" cy="2313432"/>
          </a:xfrm>
          <a:prstGeom prst="rect">
            <a:avLst/>
          </a:prstGeom>
          <a:noFill/>
        </p:spPr>
        <p:txBody>
          <a:bodyPr wrap="square" lIns="0" rIns="0" tIns="0" bIns="0">
            <a:spAutoFit/>
          </a:bodyPr>
          <a:lstStyle/>
          <a:p>
            <a:pPr>
              <a:spcAft>
                <a:spcPts val="800"/>
              </a:spcAft>
              <a:defRPr sz="1600" b="0">
                <a:solidFill>
                  <a:srgbClr val="182E26"/>
                </a:solidFill>
                <a:latin typeface="DM Sans"/>
              </a:defRPr>
            </a:pPr>
            <a:r>
              <a:t>Same product category</a:t>
            </a:r>
          </a:p>
          <a:p>
            <a:pPr>
              <a:spcAft>
                <a:spcPts val="800"/>
              </a:spcAft>
              <a:defRPr sz="1600" b="0">
                <a:solidFill>
                  <a:srgbClr val="182E26"/>
                </a:solidFill>
                <a:latin typeface="DM Sans"/>
              </a:defRPr>
            </a:pPr>
            <a:r>
              <a:t>Clear feature definitions</a:t>
            </a:r>
          </a:p>
          <a:p>
            <a:pPr>
              <a:spcAft>
                <a:spcPts val="800"/>
              </a:spcAft>
              <a:defRPr sz="1600" b="0">
                <a:solidFill>
                  <a:srgbClr val="182E26"/>
                </a:solidFill>
                <a:latin typeface="DM Sans"/>
              </a:defRPr>
            </a:pPr>
            <a:r>
              <a:t>Explicit sample and language</a:t>
            </a:r>
          </a:p>
        </p:txBody>
      </p:sp>
      <p:sp>
        <p:nvSpPr>
          <p:cNvPr id="10" name="Rounded Rectangle 9"/>
          <p:cNvSpPr/>
          <p:nvPr/>
        </p:nvSpPr>
        <p:spPr>
          <a:xfrm>
            <a:off x="4297680" y="2286000"/>
            <a:ext cx="3566160" cy="324612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7992" y="2468880"/>
            <a:ext cx="3145536" cy="502920"/>
          </a:xfrm>
          <a:prstGeom prst="rect">
            <a:avLst/>
          </a:prstGeom>
          <a:noFill/>
        </p:spPr>
        <p:txBody>
          <a:bodyPr wrap="square" lIns="0" rIns="0" tIns="0" bIns="0">
            <a:spAutoFit/>
          </a:bodyPr>
          <a:lstStyle/>
          <a:p>
            <a:pPr>
              <a:spcAft>
                <a:spcPts val="800"/>
              </a:spcAft>
              <a:defRPr sz="1900" b="1">
                <a:solidFill>
                  <a:srgbClr val="244F41"/>
                </a:solidFill>
                <a:latin typeface="Manrope"/>
              </a:defRPr>
            </a:pPr>
            <a:r>
              <a:t>Explain differences</a:t>
            </a:r>
          </a:p>
        </p:txBody>
      </p:sp>
      <p:sp>
        <p:nvSpPr>
          <p:cNvPr id="12" name="TextBox 11"/>
          <p:cNvSpPr txBox="1"/>
          <p:nvPr/>
        </p:nvSpPr>
        <p:spPr>
          <a:xfrm>
            <a:off x="4507992" y="3108960"/>
            <a:ext cx="3145536" cy="2313432"/>
          </a:xfrm>
          <a:prstGeom prst="rect">
            <a:avLst/>
          </a:prstGeom>
          <a:noFill/>
        </p:spPr>
        <p:txBody>
          <a:bodyPr wrap="square" lIns="0" rIns="0" tIns="0" bIns="0">
            <a:spAutoFit/>
          </a:bodyPr>
          <a:lstStyle/>
          <a:p>
            <a:pPr>
              <a:spcAft>
                <a:spcPts val="800"/>
              </a:spcAft>
              <a:defRPr sz="1600" b="0">
                <a:solidFill>
                  <a:srgbClr val="182E26"/>
                </a:solidFill>
                <a:latin typeface="DM Sans"/>
              </a:defRPr>
            </a:pPr>
            <a:r>
              <a:t>Text and messaging</a:t>
            </a:r>
          </a:p>
          <a:p>
            <a:pPr>
              <a:spcAft>
                <a:spcPts val="800"/>
              </a:spcAft>
              <a:defRPr sz="1600" b="0">
                <a:solidFill>
                  <a:srgbClr val="182E26"/>
                </a:solidFill>
                <a:latin typeface="DM Sans"/>
              </a:defRPr>
            </a:pPr>
            <a:r>
              <a:t>Visual design and structure</a:t>
            </a:r>
          </a:p>
          <a:p>
            <a:pPr>
              <a:spcAft>
                <a:spcPts val="800"/>
              </a:spcAft>
              <a:defRPr sz="1600" b="0">
                <a:solidFill>
                  <a:srgbClr val="182E26"/>
                </a:solidFill>
                <a:latin typeface="DM Sans"/>
              </a:defRPr>
            </a:pPr>
            <a:r>
              <a:t>Calls to action and value</a:t>
            </a:r>
          </a:p>
        </p:txBody>
      </p:sp>
      <p:sp>
        <p:nvSpPr>
          <p:cNvPr id="13" name="Rounded Rectangle 12"/>
          <p:cNvSpPr/>
          <p:nvPr/>
        </p:nvSpPr>
        <p:spPr>
          <a:xfrm>
            <a:off x="8092440" y="2286000"/>
            <a:ext cx="3566160" cy="324612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2468880"/>
            <a:ext cx="3145536" cy="502920"/>
          </a:xfrm>
          <a:prstGeom prst="rect">
            <a:avLst/>
          </a:prstGeom>
          <a:noFill/>
        </p:spPr>
        <p:txBody>
          <a:bodyPr wrap="square" lIns="0" rIns="0" tIns="0" bIns="0">
            <a:spAutoFit/>
          </a:bodyPr>
          <a:lstStyle/>
          <a:p>
            <a:pPr>
              <a:spcAft>
                <a:spcPts val="800"/>
              </a:spcAft>
              <a:defRPr sz="1900" b="1">
                <a:solidFill>
                  <a:srgbClr val="244F41"/>
                </a:solidFill>
                <a:latin typeface="Manrope"/>
              </a:defRPr>
            </a:pPr>
            <a:r>
              <a:t>Make it reusable</a:t>
            </a:r>
          </a:p>
        </p:txBody>
      </p:sp>
      <p:sp>
        <p:nvSpPr>
          <p:cNvPr id="15" name="TextBox 14"/>
          <p:cNvSpPr txBox="1"/>
          <p:nvPr/>
        </p:nvSpPr>
        <p:spPr>
          <a:xfrm>
            <a:off x="8302752" y="3108960"/>
            <a:ext cx="3145536" cy="2313432"/>
          </a:xfrm>
          <a:prstGeom prst="rect">
            <a:avLst/>
          </a:prstGeom>
          <a:noFill/>
        </p:spPr>
        <p:txBody>
          <a:bodyPr wrap="square" lIns="0" rIns="0" tIns="0" bIns="0">
            <a:spAutoFit/>
          </a:bodyPr>
          <a:lstStyle/>
          <a:p>
            <a:pPr>
              <a:spcAft>
                <a:spcPts val="800"/>
              </a:spcAft>
              <a:defRPr sz="1600" b="0">
                <a:solidFill>
                  <a:srgbClr val="182E26"/>
                </a:solidFill>
                <a:latin typeface="DM Sans"/>
              </a:defRPr>
            </a:pPr>
            <a:r>
              <a:t>Preserve original evidence</a:t>
            </a:r>
          </a:p>
          <a:p>
            <a:pPr>
              <a:spcAft>
                <a:spcPts val="800"/>
              </a:spcAft>
              <a:defRPr sz="1600" b="0">
                <a:solidFill>
                  <a:srgbClr val="182E26"/>
                </a:solidFill>
                <a:latin typeface="DM Sans"/>
              </a:defRPr>
            </a:pPr>
            <a:r>
              <a:t>Save structured labels</a:t>
            </a:r>
          </a:p>
          <a:p>
            <a:pPr>
              <a:spcAft>
                <a:spcPts val="800"/>
              </a:spcAft>
              <a:defRPr sz="1600" b="0">
                <a:solidFill>
                  <a:srgbClr val="182E26"/>
                </a:solidFill>
                <a:latin typeface="DM Sans"/>
              </a:defRPr>
            </a:pPr>
            <a:r>
              <a:t>Document limits and assumptions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6"/>
        </a:solidFill>
        <a:effectLst/>
      </p:bgPr>
    </p:bg>
    <p:spTree>
      <p:nvGrpSpPr>
        <p:cNvPr id="1" name=""/>
        <p:cNvGrpSpPr/>
        <p:nvPr/>
      </p:nvGrpSpPr>
      <p:grpSpPr/>
      <p:sp>
        <p:nvSpPr>
          <p:cNvPr id="2" name="TextBox 1"/>
          <p:cNvSpPr txBox="1"/>
          <p:nvPr/>
        </p:nvSpPr>
        <p:spPr>
          <a:xfrm>
            <a:off x="502920" y="256032"/>
            <a:ext cx="10972800" cy="228600"/>
          </a:xfrm>
          <a:prstGeom prst="rect">
            <a:avLst/>
          </a:prstGeom>
          <a:noFill/>
        </p:spPr>
        <p:txBody>
          <a:bodyPr wrap="square" lIns="0" rIns="0" tIns="0" bIns="0">
            <a:spAutoFit/>
          </a:bodyPr>
          <a:lstStyle/>
          <a:p>
            <a:pPr>
              <a:spcAft>
                <a:spcPts val="800"/>
              </a:spcAft>
              <a:defRPr sz="1000" b="1">
                <a:solidFill>
                  <a:srgbClr val="244F41"/>
                </a:solidFill>
                <a:latin typeface="Manrope"/>
              </a:defRPr>
            </a:pPr>
            <a:r>
              <a:t>02 / DELIVERY AGAINST THE BRIEF</a:t>
            </a:r>
          </a:p>
        </p:txBody>
      </p:sp>
      <p:sp>
        <p:nvSpPr>
          <p:cNvPr id="3" name="TextBox 2"/>
          <p:cNvSpPr txBox="1"/>
          <p:nvPr/>
        </p:nvSpPr>
        <p:spPr>
          <a:xfrm>
            <a:off x="502920" y="749808"/>
            <a:ext cx="11155680" cy="662940"/>
          </a:xfrm>
          <a:prstGeom prst="rect">
            <a:avLst/>
          </a:prstGeom>
          <a:noFill/>
        </p:spPr>
        <p:txBody>
          <a:bodyPr wrap="square" lIns="0" rIns="0" tIns="0" bIns="0">
            <a:spAutoFit/>
          </a:bodyPr>
          <a:lstStyle/>
          <a:p>
            <a:pPr>
              <a:spcAft>
                <a:spcPts val="800"/>
              </a:spcAft>
              <a:defRPr sz="2900" b="1">
                <a:solidFill>
                  <a:srgbClr val="182E26"/>
                </a:solidFill>
                <a:latin typeface="Manrope"/>
              </a:defRPr>
            </a:pPr>
            <a:r>
              <a:t>The research workflow is implemented</a:t>
            </a:r>
          </a:p>
        </p:txBody>
      </p:sp>
      <p:sp>
        <p:nvSpPr>
          <p:cNvPr id="4" name="TextBox 3"/>
          <p:cNvSpPr txBox="1"/>
          <p:nvPr/>
        </p:nvSpPr>
        <p:spPr>
          <a:xfrm>
            <a:off x="502920" y="1435608"/>
            <a:ext cx="11064240" cy="548640"/>
          </a:xfrm>
          <a:prstGeom prst="rect">
            <a:avLst/>
          </a:prstGeom>
          <a:noFill/>
        </p:spPr>
        <p:txBody>
          <a:bodyPr wrap="square" lIns="0" rIns="0" tIns="0" bIns="0">
            <a:spAutoFit/>
          </a:bodyPr>
          <a:lstStyle/>
          <a:p>
            <a:pPr>
              <a:spcAft>
                <a:spcPts val="800"/>
              </a:spcAft>
              <a:defRPr sz="1500" b="0">
                <a:solidFill>
                  <a:srgbClr val="63705F"/>
                </a:solidFill>
                <a:latin typeface="DM Sans"/>
              </a:defRPr>
            </a:pPr>
            <a:r>
              <a:t>Business conclusions still depend on a reviewed, comparable sample.</a:t>
            </a:r>
          </a:p>
        </p:txBody>
      </p:sp>
      <p:sp>
        <p:nvSpPr>
          <p:cNvPr id="5" name="TextBox 4"/>
          <p:cNvSpPr txBox="1"/>
          <p:nvPr/>
        </p:nvSpPr>
        <p:spPr>
          <a:xfrm>
            <a:off x="502920" y="6437376"/>
            <a:ext cx="10607040" cy="210312"/>
          </a:xfrm>
          <a:prstGeom prst="rect">
            <a:avLst/>
          </a:prstGeom>
          <a:noFill/>
        </p:spPr>
        <p:txBody>
          <a:bodyPr wrap="square" lIns="0" rIns="0" tIns="0" bIns="0">
            <a:spAutoFit/>
          </a:bodyPr>
          <a:lstStyle/>
          <a:p>
            <a:pPr>
              <a:spcAft>
                <a:spcPts val="800"/>
              </a:spcAft>
              <a:defRPr sz="800" b="0">
                <a:solidFill>
                  <a:srgbClr val="63705F"/>
                </a:solidFill>
                <a:latin typeface="DM Sans"/>
              </a:defRPr>
            </a:pPr>
            <a:r>
              <a:t>Use-case: Feature Extraction, Expected Outputs; code evidence in presentation notes</a:t>
            </a:r>
          </a:p>
        </p:txBody>
      </p:sp>
      <p:sp>
        <p:nvSpPr>
          <p:cNvPr id="6" name="TextBox 5"/>
          <p:cNvSpPr txBox="1"/>
          <p:nvPr/>
        </p:nvSpPr>
        <p:spPr>
          <a:xfrm>
            <a:off x="11064240" y="6419088"/>
            <a:ext cx="640080" cy="228600"/>
          </a:xfrm>
          <a:prstGeom prst="rect">
            <a:avLst/>
          </a:prstGeom>
          <a:noFill/>
        </p:spPr>
        <p:txBody>
          <a:bodyPr wrap="square" lIns="0" rIns="0" tIns="0" bIns="0">
            <a:spAutoFit/>
          </a:bodyPr>
          <a:lstStyle/>
          <a:p>
            <a:pPr>
              <a:spcAft>
                <a:spcPts val="800"/>
              </a:spcAft>
              <a:defRPr sz="1000" b="1">
                <a:solidFill>
                  <a:srgbClr val="244F41"/>
                </a:solidFill>
                <a:latin typeface="Manrope"/>
              </a:defRPr>
            </a:pPr>
            <a:r>
              <a:t>03</a:t>
            </a:r>
          </a:p>
        </p:txBody>
      </p:sp>
      <p:sp>
        <p:nvSpPr>
          <p:cNvPr id="7" name="Rounded Rectangle 6"/>
          <p:cNvSpPr/>
          <p:nvPr/>
        </p:nvSpPr>
        <p:spPr>
          <a:xfrm>
            <a:off x="502920" y="2194560"/>
            <a:ext cx="3566160" cy="356616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2377440"/>
            <a:ext cx="3145536" cy="502920"/>
          </a:xfrm>
          <a:prstGeom prst="rect">
            <a:avLst/>
          </a:prstGeom>
          <a:noFill/>
        </p:spPr>
        <p:txBody>
          <a:bodyPr wrap="square" lIns="0" rIns="0" tIns="0" bIns="0">
            <a:spAutoFit/>
          </a:bodyPr>
          <a:lstStyle/>
          <a:p>
            <a:pPr>
              <a:spcAft>
                <a:spcPts val="800"/>
              </a:spcAft>
              <a:defRPr sz="1900" b="1">
                <a:solidFill>
                  <a:srgbClr val="244F41"/>
                </a:solidFill>
                <a:latin typeface="Manrope"/>
              </a:defRPr>
            </a:pPr>
            <a:r>
              <a:t>Implemented</a:t>
            </a:r>
          </a:p>
        </p:txBody>
      </p:sp>
      <p:sp>
        <p:nvSpPr>
          <p:cNvPr id="9" name="TextBox 8"/>
          <p:cNvSpPr txBox="1"/>
          <p:nvPr/>
        </p:nvSpPr>
        <p:spPr>
          <a:xfrm>
            <a:off x="713232" y="3017520"/>
            <a:ext cx="3145536" cy="2633472"/>
          </a:xfrm>
          <a:prstGeom prst="rect">
            <a:avLst/>
          </a:prstGeom>
          <a:noFill/>
        </p:spPr>
        <p:txBody>
          <a:bodyPr wrap="square" lIns="0" rIns="0" tIns="0" bIns="0">
            <a:spAutoFit/>
          </a:bodyPr>
          <a:lstStyle/>
          <a:p>
            <a:pPr>
              <a:spcAft>
                <a:spcPts val="800"/>
              </a:spcAft>
              <a:defRPr sz="1600" b="0">
                <a:solidFill>
                  <a:srgbClr val="182E26"/>
                </a:solidFill>
                <a:latin typeface="DM Sans"/>
              </a:defRPr>
            </a:pPr>
            <a:r>
              <a:t>Page capture and history</a:t>
            </a:r>
          </a:p>
          <a:p>
            <a:pPr>
              <a:spcAft>
                <a:spcPts val="800"/>
              </a:spcAft>
              <a:defRPr sz="1600" b="0">
                <a:solidFill>
                  <a:srgbClr val="182E26"/>
                </a:solidFill>
                <a:latin typeface="DM Sans"/>
              </a:defRPr>
            </a:pPr>
            <a:r>
              <a:t>Structured feature framework</a:t>
            </a:r>
          </a:p>
          <a:p>
            <a:pPr>
              <a:spcAft>
                <a:spcPts val="800"/>
              </a:spcAft>
              <a:defRPr sz="1600" b="0">
                <a:solidFill>
                  <a:srgbClr val="182E26"/>
                </a:solidFill>
                <a:latin typeface="DM Sans"/>
              </a:defRPr>
            </a:pPr>
            <a:r>
              <a:t>Automatic draft suggestions</a:t>
            </a:r>
          </a:p>
          <a:p>
            <a:pPr>
              <a:spcAft>
                <a:spcPts val="800"/>
              </a:spcAft>
              <a:defRPr sz="1600" b="0">
                <a:solidFill>
                  <a:srgbClr val="182E26"/>
                </a:solidFill>
                <a:latin typeface="DM Sans"/>
              </a:defRPr>
            </a:pPr>
            <a:r>
              <a:t>Manual review and completion</a:t>
            </a:r>
          </a:p>
          <a:p>
            <a:pPr>
              <a:spcAft>
                <a:spcPts val="800"/>
              </a:spcAft>
              <a:defRPr sz="1600" b="0">
                <a:solidFill>
                  <a:srgbClr val="182E26"/>
                </a:solidFill>
                <a:latin typeface="DM Sans"/>
              </a:defRPr>
            </a:pPr>
            <a:r>
              <a:t>Category-based comparison</a:t>
            </a:r>
          </a:p>
        </p:txBody>
      </p:sp>
      <p:sp>
        <p:nvSpPr>
          <p:cNvPr id="10" name="Rounded Rectangle 9"/>
          <p:cNvSpPr/>
          <p:nvPr/>
        </p:nvSpPr>
        <p:spPr>
          <a:xfrm>
            <a:off x="4297680" y="2194560"/>
            <a:ext cx="3566160" cy="356616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7992" y="2377440"/>
            <a:ext cx="3145536" cy="502920"/>
          </a:xfrm>
          <a:prstGeom prst="rect">
            <a:avLst/>
          </a:prstGeom>
          <a:noFill/>
        </p:spPr>
        <p:txBody>
          <a:bodyPr wrap="square" lIns="0" rIns="0" tIns="0" bIns="0">
            <a:spAutoFit/>
          </a:bodyPr>
          <a:lstStyle/>
          <a:p>
            <a:pPr>
              <a:spcAft>
                <a:spcPts val="800"/>
              </a:spcAft>
              <a:defRPr sz="1900" b="1">
                <a:solidFill>
                  <a:srgbClr val="244F41"/>
                </a:solidFill>
                <a:latin typeface="Manrope"/>
              </a:defRPr>
            </a:pPr>
            <a:r>
              <a:t>Partially addressed</a:t>
            </a:r>
          </a:p>
        </p:txBody>
      </p:sp>
      <p:sp>
        <p:nvSpPr>
          <p:cNvPr id="12" name="TextBox 11"/>
          <p:cNvSpPr txBox="1"/>
          <p:nvPr/>
        </p:nvSpPr>
        <p:spPr>
          <a:xfrm>
            <a:off x="4507992" y="3017520"/>
            <a:ext cx="3145536" cy="2633472"/>
          </a:xfrm>
          <a:prstGeom prst="rect">
            <a:avLst/>
          </a:prstGeom>
          <a:noFill/>
        </p:spPr>
        <p:txBody>
          <a:bodyPr wrap="square" lIns="0" rIns="0" tIns="0" bIns="0">
            <a:spAutoFit/>
          </a:bodyPr>
          <a:lstStyle/>
          <a:p>
            <a:pPr>
              <a:spcAft>
                <a:spcPts val="800"/>
              </a:spcAft>
              <a:defRPr sz="1600" b="0">
                <a:solidFill>
                  <a:srgbClr val="182E26"/>
                </a:solidFill>
                <a:latin typeface="DM Sans"/>
              </a:defRPr>
            </a:pPr>
            <a:r>
              <a:t>Limited registered auto cases</a:t>
            </a:r>
          </a:p>
          <a:p>
            <a:pPr>
              <a:spcAft>
                <a:spcPts val="800"/>
              </a:spcAft>
              <a:defRPr sz="1600" b="0">
                <a:solidFill>
                  <a:srgbClr val="182E26"/>
                </a:solidFill>
                <a:latin typeface="DM Sans"/>
              </a:defRPr>
            </a:pPr>
            <a:r>
              <a:t>Visual dimensions: manual</a:t>
            </a:r>
          </a:p>
          <a:p>
            <a:pPr>
              <a:spcAft>
                <a:spcPts val="800"/>
              </a:spcAft>
              <a:defRPr sz="1600" b="0">
                <a:solidFill>
                  <a:srgbClr val="182E26"/>
                </a:solidFill>
                <a:latin typeface="DM Sans"/>
              </a:defRPr>
            </a:pPr>
            <a:r>
              <a:t>Keyword method calibration</a:t>
            </a:r>
          </a:p>
          <a:p>
            <a:pPr>
              <a:spcAft>
                <a:spcPts val="800"/>
              </a:spcAft>
              <a:defRPr sz="1600" b="0">
                <a:solidFill>
                  <a:srgbClr val="182E26"/>
                </a:solidFill>
                <a:latin typeface="DM Sans"/>
              </a:defRPr>
            </a:pPr>
            <a:r>
              <a:t>Sitemap discovery tooling</a:t>
            </a:r>
          </a:p>
          <a:p>
            <a:pPr>
              <a:spcAft>
                <a:spcPts val="800"/>
              </a:spcAft>
              <a:defRPr sz="1600" b="0">
                <a:solidFill>
                  <a:srgbClr val="182E26"/>
                </a:solidFill>
                <a:latin typeface="DM Sans"/>
              </a:defRPr>
            </a:pPr>
            <a:r>
              <a:t>Research sample completion</a:t>
            </a:r>
          </a:p>
        </p:txBody>
      </p:sp>
      <p:sp>
        <p:nvSpPr>
          <p:cNvPr id="13" name="Rounded Rectangle 12"/>
          <p:cNvSpPr/>
          <p:nvPr/>
        </p:nvSpPr>
        <p:spPr>
          <a:xfrm>
            <a:off x="8092440" y="2194560"/>
            <a:ext cx="3566160" cy="356616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2377440"/>
            <a:ext cx="3145536" cy="502920"/>
          </a:xfrm>
          <a:prstGeom prst="rect">
            <a:avLst/>
          </a:prstGeom>
          <a:noFill/>
        </p:spPr>
        <p:txBody>
          <a:bodyPr wrap="square" lIns="0" rIns="0" tIns="0" bIns="0">
            <a:spAutoFit/>
          </a:bodyPr>
          <a:lstStyle/>
          <a:p>
            <a:pPr>
              <a:spcAft>
                <a:spcPts val="800"/>
              </a:spcAft>
              <a:defRPr sz="1900" b="1">
                <a:solidFill>
                  <a:srgbClr val="244F41"/>
                </a:solidFill>
                <a:latin typeface="Manrope"/>
              </a:defRPr>
            </a:pPr>
            <a:r>
              <a:t>Still to demonstrate</a:t>
            </a:r>
          </a:p>
        </p:txBody>
      </p:sp>
      <p:sp>
        <p:nvSpPr>
          <p:cNvPr id="15" name="TextBox 14"/>
          <p:cNvSpPr txBox="1"/>
          <p:nvPr/>
        </p:nvSpPr>
        <p:spPr>
          <a:xfrm>
            <a:off x="8302752" y="3017520"/>
            <a:ext cx="3145536" cy="2633472"/>
          </a:xfrm>
          <a:prstGeom prst="rect">
            <a:avLst/>
          </a:prstGeom>
          <a:noFill/>
        </p:spPr>
        <p:txBody>
          <a:bodyPr wrap="square" lIns="0" rIns="0" tIns="0" bIns="0">
            <a:spAutoFit/>
          </a:bodyPr>
          <a:lstStyle/>
          <a:p>
            <a:pPr>
              <a:spcAft>
                <a:spcPts val="800"/>
              </a:spcAft>
              <a:defRPr sz="1600" b="0">
                <a:solidFill>
                  <a:srgbClr val="182E26"/>
                </a:solidFill>
                <a:latin typeface="DM Sans"/>
              </a:defRPr>
            </a:pPr>
            <a:r>
              <a:t>ING market positioning</a:t>
            </a:r>
          </a:p>
          <a:p>
            <a:pPr>
              <a:spcAft>
                <a:spcPts val="800"/>
              </a:spcAft>
              <a:defRPr sz="1600" b="0">
                <a:solidFill>
                  <a:srgbClr val="182E26"/>
                </a:solidFill>
                <a:latin typeface="DM Sans"/>
              </a:defRPr>
            </a:pPr>
            <a:r>
              <a:t>Traditional vs neobank patterns</a:t>
            </a:r>
          </a:p>
          <a:p>
            <a:pPr>
              <a:spcAft>
                <a:spcPts val="800"/>
              </a:spcAft>
              <a:defRPr sz="1600" b="0">
                <a:solidFill>
                  <a:srgbClr val="182E26"/>
                </a:solidFill>
                <a:latin typeface="DM Sans"/>
              </a:defRPr>
            </a:pPr>
            <a:r>
              <a:t>Evidence-backed improvements</a:t>
            </a:r>
          </a:p>
          <a:p>
            <a:pPr>
              <a:spcAft>
                <a:spcPts val="800"/>
              </a:spcAft>
              <a:defRPr sz="1600" b="0">
                <a:solidFill>
                  <a:srgbClr val="182E26"/>
                </a:solidFill>
                <a:latin typeface="DM Sans"/>
              </a:defRPr>
            </a:pPr>
            <a:r>
              <a:t>Cross-reviewer agreement</a:t>
            </a:r>
          </a:p>
          <a:p>
            <a:pPr>
              <a:spcAft>
                <a:spcPts val="800"/>
              </a:spcAft>
              <a:defRPr sz="1600" b="0">
                <a:solidFill>
                  <a:srgbClr val="182E26"/>
                </a:solidFill>
                <a:latin typeface="DM Sans"/>
              </a:defRPr>
            </a:pPr>
            <a:r>
              <a:t>Business impact validation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6"/>
        </a:solidFill>
        <a:effectLst/>
      </p:bgPr>
    </p:bg>
    <p:spTree>
      <p:nvGrpSpPr>
        <p:cNvPr id="1" name=""/>
        <p:cNvGrpSpPr/>
        <p:nvPr/>
      </p:nvGrpSpPr>
      <p:grpSpPr/>
      <p:sp>
        <p:nvSpPr>
          <p:cNvPr id="2" name="TextBox 1"/>
          <p:cNvSpPr txBox="1"/>
          <p:nvPr/>
        </p:nvSpPr>
        <p:spPr>
          <a:xfrm>
            <a:off x="502920" y="256032"/>
            <a:ext cx="10972800" cy="228600"/>
          </a:xfrm>
          <a:prstGeom prst="rect">
            <a:avLst/>
          </a:prstGeom>
          <a:noFill/>
        </p:spPr>
        <p:txBody>
          <a:bodyPr wrap="square" lIns="0" rIns="0" tIns="0" bIns="0">
            <a:spAutoFit/>
          </a:bodyPr>
          <a:lstStyle/>
          <a:p>
            <a:pPr>
              <a:spcAft>
                <a:spcPts val="800"/>
              </a:spcAft>
              <a:defRPr sz="1000" b="1">
                <a:solidFill>
                  <a:srgbClr val="244F41"/>
                </a:solidFill>
                <a:latin typeface="Manrope"/>
              </a:defRPr>
            </a:pPr>
            <a:r>
              <a:t>03 / PRODUCT WALKTHROUGH</a:t>
            </a:r>
          </a:p>
        </p:txBody>
      </p:sp>
      <p:sp>
        <p:nvSpPr>
          <p:cNvPr id="3" name="TextBox 2"/>
          <p:cNvSpPr txBox="1"/>
          <p:nvPr/>
        </p:nvSpPr>
        <p:spPr>
          <a:xfrm>
            <a:off x="502920" y="749808"/>
            <a:ext cx="11155680" cy="662940"/>
          </a:xfrm>
          <a:prstGeom prst="rect">
            <a:avLst/>
          </a:prstGeom>
          <a:noFill/>
        </p:spPr>
        <p:txBody>
          <a:bodyPr wrap="square" lIns="0" rIns="0" tIns="0" bIns="0">
            <a:spAutoFit/>
          </a:bodyPr>
          <a:lstStyle/>
          <a:p>
            <a:pPr>
              <a:spcAft>
                <a:spcPts val="800"/>
              </a:spcAft>
              <a:defRPr sz="2900" b="1">
                <a:solidFill>
                  <a:srgbClr val="182E26"/>
                </a:solidFill>
                <a:latin typeface="Manrope"/>
              </a:defRPr>
            </a:pPr>
            <a:r>
              <a:t>One workspace for the research team</a:t>
            </a:r>
          </a:p>
        </p:txBody>
      </p:sp>
      <p:sp>
        <p:nvSpPr>
          <p:cNvPr id="4" name="TextBox 3"/>
          <p:cNvSpPr txBox="1"/>
          <p:nvPr/>
        </p:nvSpPr>
        <p:spPr>
          <a:xfrm>
            <a:off x="502920" y="1435608"/>
            <a:ext cx="11064240" cy="548640"/>
          </a:xfrm>
          <a:prstGeom prst="rect">
            <a:avLst/>
          </a:prstGeom>
          <a:noFill/>
        </p:spPr>
        <p:txBody>
          <a:bodyPr wrap="square" lIns="0" rIns="0" tIns="0" bIns="0">
            <a:spAutoFit/>
          </a:bodyPr>
          <a:lstStyle/>
          <a:p>
            <a:pPr>
              <a:spcAft>
                <a:spcPts val="800"/>
              </a:spcAft>
              <a:defRPr sz="1500" b="0">
                <a:solidFill>
                  <a:srgbClr val="63705F"/>
                </a:solidFill>
                <a:latin typeface="DM Sans"/>
              </a:defRPr>
            </a:pPr>
            <a:r>
              <a:t>Actual local app snapshot: 19 campaigns, 2 completed; 17 awaiting completion.</a:t>
            </a:r>
          </a:p>
        </p:txBody>
      </p:sp>
      <p:sp>
        <p:nvSpPr>
          <p:cNvPr id="5" name="TextBox 4"/>
          <p:cNvSpPr txBox="1"/>
          <p:nvPr/>
        </p:nvSpPr>
        <p:spPr>
          <a:xfrm>
            <a:off x="502920" y="6437376"/>
            <a:ext cx="10607040" cy="210312"/>
          </a:xfrm>
          <a:prstGeom prst="rect">
            <a:avLst/>
          </a:prstGeom>
          <a:noFill/>
        </p:spPr>
        <p:txBody>
          <a:bodyPr wrap="square" lIns="0" rIns="0" tIns="0" bIns="0">
            <a:spAutoFit/>
          </a:bodyPr>
          <a:lstStyle/>
          <a:p>
            <a:pPr>
              <a:spcAft>
                <a:spcPts val="800"/>
              </a:spcAft>
              <a:defRPr sz="800" b="0">
                <a:solidFill>
                  <a:srgbClr val="63705F"/>
                </a:solidFill>
                <a:latin typeface="DM Sans"/>
              </a:defRPr>
            </a:pPr>
            <a:r>
              <a:t>Local Dataset UI captured 24 September 2026; frontend/src/pages/Dashboard.tsx</a:t>
            </a:r>
          </a:p>
        </p:txBody>
      </p:sp>
      <p:sp>
        <p:nvSpPr>
          <p:cNvPr id="6" name="TextBox 5"/>
          <p:cNvSpPr txBox="1"/>
          <p:nvPr/>
        </p:nvSpPr>
        <p:spPr>
          <a:xfrm>
            <a:off x="11064240" y="6419088"/>
            <a:ext cx="640080" cy="228600"/>
          </a:xfrm>
          <a:prstGeom prst="rect">
            <a:avLst/>
          </a:prstGeom>
          <a:noFill/>
        </p:spPr>
        <p:txBody>
          <a:bodyPr wrap="square" lIns="0" rIns="0" tIns="0" bIns="0">
            <a:spAutoFit/>
          </a:bodyPr>
          <a:lstStyle/>
          <a:p>
            <a:pPr>
              <a:spcAft>
                <a:spcPts val="800"/>
              </a:spcAft>
              <a:defRPr sz="1000" b="1">
                <a:solidFill>
                  <a:srgbClr val="244F41"/>
                </a:solidFill>
                <a:latin typeface="Manrope"/>
              </a:defRPr>
            </a:pPr>
            <a:r>
              <a:t>04</a:t>
            </a:r>
          </a:p>
        </p:txBody>
      </p:sp>
      <p:pic>
        <p:nvPicPr>
          <p:cNvPr id="7" name="Picture 6" descr="dataset.png"/>
          <p:cNvPicPr>
            <a:picLocks noChangeAspect="1"/>
          </p:cNvPicPr>
          <p:nvPr/>
        </p:nvPicPr>
        <p:blipFill>
          <a:blip r:embed="rId3"/>
          <a:stretch>
            <a:fillRect/>
          </a:stretch>
        </p:blipFill>
        <p:spPr>
          <a:xfrm>
            <a:off x="502920" y="2057400"/>
            <a:ext cx="6122822" cy="4251960"/>
          </a:xfrm>
          <a:prstGeom prst="rect">
            <a:avLst/>
          </a:prstGeom>
        </p:spPr>
      </p:pic>
      <p:sp>
        <p:nvSpPr>
          <p:cNvPr id="8" name="Rounded Rectangle 7"/>
          <p:cNvSpPr/>
          <p:nvPr/>
        </p:nvSpPr>
        <p:spPr>
          <a:xfrm>
            <a:off x="8641080" y="2286000"/>
            <a:ext cx="3017520" cy="352044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51392" y="2468880"/>
            <a:ext cx="2596896" cy="502920"/>
          </a:xfrm>
          <a:prstGeom prst="rect">
            <a:avLst/>
          </a:prstGeom>
          <a:noFill/>
        </p:spPr>
        <p:txBody>
          <a:bodyPr wrap="square" lIns="0" rIns="0" tIns="0" bIns="0">
            <a:spAutoFit/>
          </a:bodyPr>
          <a:lstStyle/>
          <a:p>
            <a:pPr>
              <a:spcAft>
                <a:spcPts val="800"/>
              </a:spcAft>
              <a:defRPr sz="1900" b="1">
                <a:solidFill>
                  <a:srgbClr val="244F41"/>
                </a:solidFill>
                <a:latin typeface="Manrope"/>
              </a:defRPr>
            </a:pPr>
            <a:r>
              <a:t>Four working areas</a:t>
            </a:r>
          </a:p>
        </p:txBody>
      </p:sp>
      <p:sp>
        <p:nvSpPr>
          <p:cNvPr id="10" name="TextBox 9"/>
          <p:cNvSpPr txBox="1"/>
          <p:nvPr/>
        </p:nvSpPr>
        <p:spPr>
          <a:xfrm>
            <a:off x="8851392" y="3108960"/>
            <a:ext cx="2596896" cy="2587752"/>
          </a:xfrm>
          <a:prstGeom prst="rect">
            <a:avLst/>
          </a:prstGeom>
          <a:noFill/>
        </p:spPr>
        <p:txBody>
          <a:bodyPr wrap="square" lIns="0" rIns="0" tIns="0" bIns="0">
            <a:spAutoFit/>
          </a:bodyPr>
          <a:lstStyle/>
          <a:p>
            <a:pPr>
              <a:spcAft>
                <a:spcPts val="800"/>
              </a:spcAft>
              <a:defRPr sz="1600" b="0">
                <a:solidFill>
                  <a:srgbClr val="182E26"/>
                </a:solidFill>
                <a:latin typeface="DM Sans"/>
              </a:defRPr>
            </a:pPr>
            <a:r>
              <a:t>Scraping sources</a:t>
            </a:r>
          </a:p>
          <a:p>
            <a:pPr>
              <a:spcAft>
                <a:spcPts val="800"/>
              </a:spcAft>
              <a:defRPr sz="1600" b="0">
                <a:solidFill>
                  <a:srgbClr val="182E26"/>
                </a:solidFill>
                <a:latin typeface="DM Sans"/>
              </a:defRPr>
            </a:pPr>
            <a:r>
              <a:t>Dataset and filters</a:t>
            </a:r>
          </a:p>
          <a:p>
            <a:pPr>
              <a:spcAft>
                <a:spcPts val="800"/>
              </a:spcAft>
              <a:defRPr sz="1600" b="0">
                <a:solidFill>
                  <a:srgbClr val="182E26"/>
                </a:solidFill>
                <a:latin typeface="DM Sans"/>
              </a:defRPr>
            </a:pPr>
            <a:r>
              <a:t>Product review / labeling</a:t>
            </a:r>
          </a:p>
          <a:p>
            <a:pPr>
              <a:spcAft>
                <a:spcPts val="800"/>
              </a:spcAft>
              <a:defRPr sz="1600" b="0">
                <a:solidFill>
                  <a:srgbClr val="182E26"/>
                </a:solidFill>
                <a:latin typeface="DM Sans"/>
              </a:defRPr>
            </a:pPr>
            <a:r>
              <a:t>Comparison workspace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6"/>
        </a:solidFill>
        <a:effectLst/>
      </p:bgPr>
    </p:bg>
    <p:spTree>
      <p:nvGrpSpPr>
        <p:cNvPr id="1" name=""/>
        <p:cNvGrpSpPr/>
        <p:nvPr/>
      </p:nvGrpSpPr>
      <p:grpSpPr/>
      <p:sp>
        <p:nvSpPr>
          <p:cNvPr id="2" name="Rounded Rectangle 1"/>
          <p:cNvSpPr/>
          <p:nvPr/>
        </p:nvSpPr>
        <p:spPr>
          <a:xfrm>
            <a:off x="603504" y="0"/>
            <a:ext cx="10972526" cy="6705432"/>
          </a:xfrm>
          <a:prstGeom prst="roundRect">
            <a:avLst>
              <a:gd name="adj" fmla="val 8000"/>
            </a:avLst>
          </a:prstGeom>
          <a:solidFill>
            <a:srgbClr val="F6F8F6"/>
          </a:solidFill>
          <a:ln>
            <a:solidFill>
              <a:srgbClr val="F6F8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29" y="134108"/>
            <a:ext cx="8534186" cy="204210"/>
          </a:xfrm>
          <a:prstGeom prst="rect">
            <a:avLst/>
          </a:prstGeom>
          <a:noFill/>
        </p:spPr>
        <p:txBody>
          <a:bodyPr wrap="none" lIns="0" tIns="0" rIns="0" bIns="0">
            <a:spAutoFit/>
          </a:bodyPr>
          <a:lstStyle/>
          <a:p>
            <a:pPr>
              <a:defRPr sz="906" b="1">
                <a:solidFill>
                  <a:srgbClr val="244F41"/>
                </a:solidFill>
                <a:latin typeface="DM Sans"/>
              </a:defRPr>
            </a:pPr>
            <a:r>
              <a:t>BANKING CAMPAIGNS COMPARATOR</a:t>
            </a:r>
          </a:p>
        </p:txBody>
      </p:sp>
      <p:sp>
        <p:nvSpPr>
          <p:cNvPr id="4" name="TextBox 3"/>
          <p:cNvSpPr txBox="1"/>
          <p:nvPr/>
        </p:nvSpPr>
        <p:spPr>
          <a:xfrm>
            <a:off x="859529" y="371847"/>
            <a:ext cx="8534186" cy="377942"/>
          </a:xfrm>
          <a:prstGeom prst="rect">
            <a:avLst/>
          </a:prstGeom>
          <a:noFill/>
        </p:spPr>
        <p:txBody>
          <a:bodyPr wrap="none" lIns="0" tIns="0" rIns="0" bIns="0">
            <a:spAutoFit/>
          </a:bodyPr>
          <a:lstStyle/>
          <a:p>
            <a:pPr>
              <a:defRPr sz="1919" b="1">
                <a:solidFill>
                  <a:srgbClr val="182E26"/>
                </a:solidFill>
                <a:latin typeface="DM Sans"/>
              </a:defRPr>
            </a:pPr>
            <a:r>
              <a:t>Project architecture &amp; data flow</a:t>
            </a:r>
          </a:p>
        </p:txBody>
      </p:sp>
      <p:sp>
        <p:nvSpPr>
          <p:cNvPr id="5" name="TextBox 4"/>
          <p:cNvSpPr txBox="1"/>
          <p:nvPr/>
        </p:nvSpPr>
        <p:spPr>
          <a:xfrm>
            <a:off x="859529" y="676639"/>
            <a:ext cx="10058148" cy="222498"/>
          </a:xfrm>
          <a:prstGeom prst="rect">
            <a:avLst/>
          </a:prstGeom>
          <a:noFill/>
        </p:spPr>
        <p:txBody>
          <a:bodyPr wrap="none" lIns="0" tIns="0" rIns="0" bIns="0">
            <a:spAutoFit/>
          </a:bodyPr>
          <a:lstStyle/>
          <a:p>
            <a:pPr>
              <a:defRPr sz="1013" b="0">
                <a:solidFill>
                  <a:srgbClr val="63705F"/>
                </a:solidFill>
                <a:latin typeface="DM Sans"/>
              </a:defRPr>
            </a:pPr>
            <a:r>
              <a:t>Current implementation • Public webpages • Rule-based assistance • Human review</a:t>
            </a:r>
          </a:p>
        </p:txBody>
      </p:sp>
      <p:sp>
        <p:nvSpPr>
          <p:cNvPr id="6" name="Rounded Rectangle 5"/>
          <p:cNvSpPr/>
          <p:nvPr/>
        </p:nvSpPr>
        <p:spPr>
          <a:xfrm>
            <a:off x="816858" y="1011910"/>
            <a:ext cx="10545816" cy="950952"/>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16858" y="1011910"/>
            <a:ext cx="957047" cy="950952"/>
          </a:xfrm>
          <a:prstGeom prst="roundRect">
            <a:avLst>
              <a:gd name="adj" fmla="val 8000"/>
            </a:avLst>
          </a:prstGeom>
          <a:solidFill>
            <a:srgbClr val="E8EFE8"/>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8296" y="1200882"/>
            <a:ext cx="883897" cy="213354"/>
          </a:xfrm>
          <a:prstGeom prst="rect">
            <a:avLst/>
          </a:prstGeom>
          <a:noFill/>
        </p:spPr>
        <p:txBody>
          <a:bodyPr wrap="none" lIns="0" tIns="0" rIns="0" bIns="0">
            <a:spAutoFit/>
          </a:bodyPr>
          <a:lstStyle/>
          <a:p>
            <a:pPr>
              <a:defRPr sz="959" b="1">
                <a:solidFill>
                  <a:srgbClr val="244F41"/>
                </a:solidFill>
                <a:latin typeface="DM Sans"/>
              </a:defRPr>
            </a:pPr>
            <a:r>
              <a:t>INTERFACE</a:t>
            </a:r>
          </a:p>
        </p:txBody>
      </p:sp>
      <p:sp>
        <p:nvSpPr>
          <p:cNvPr id="9" name="TextBox 8"/>
          <p:cNvSpPr txBox="1"/>
          <p:nvPr/>
        </p:nvSpPr>
        <p:spPr>
          <a:xfrm>
            <a:off x="908296" y="1414237"/>
            <a:ext cx="883897" cy="176779"/>
          </a:xfrm>
          <a:prstGeom prst="rect">
            <a:avLst/>
          </a:prstGeom>
          <a:noFill/>
        </p:spPr>
        <p:txBody>
          <a:bodyPr wrap="none" lIns="0" tIns="0" rIns="0" bIns="0">
            <a:spAutoFit/>
          </a:bodyPr>
          <a:lstStyle/>
          <a:p>
            <a:pPr>
              <a:defRPr sz="746" b="0">
                <a:solidFill>
                  <a:srgbClr val="63705F"/>
                </a:solidFill>
                <a:latin typeface="DM Sans"/>
              </a:defRPr>
            </a:pPr>
            <a:r>
              <a:t>React</a:t>
            </a:r>
          </a:p>
        </p:txBody>
      </p:sp>
      <p:sp>
        <p:nvSpPr>
          <p:cNvPr id="10" name="Rounded Rectangle 9"/>
          <p:cNvSpPr/>
          <p:nvPr/>
        </p:nvSpPr>
        <p:spPr>
          <a:xfrm>
            <a:off x="816858" y="2157930"/>
            <a:ext cx="10545816" cy="1932383"/>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16858" y="2157930"/>
            <a:ext cx="957047" cy="1932383"/>
          </a:xfrm>
          <a:prstGeom prst="roundRect">
            <a:avLst>
              <a:gd name="adj" fmla="val 8000"/>
            </a:avLst>
          </a:prstGeom>
          <a:solidFill>
            <a:srgbClr val="E8EFE8"/>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8296" y="2346901"/>
            <a:ext cx="883897" cy="213354"/>
          </a:xfrm>
          <a:prstGeom prst="rect">
            <a:avLst/>
          </a:prstGeom>
          <a:noFill/>
        </p:spPr>
        <p:txBody>
          <a:bodyPr wrap="none" lIns="0" tIns="0" rIns="0" bIns="0">
            <a:spAutoFit/>
          </a:bodyPr>
          <a:lstStyle/>
          <a:p>
            <a:pPr>
              <a:defRPr sz="959" b="1">
                <a:solidFill>
                  <a:srgbClr val="244F41"/>
                </a:solidFill>
                <a:latin typeface="DM Sans"/>
              </a:defRPr>
            </a:pPr>
            <a:r>
              <a:t>PROCESSING</a:t>
            </a:r>
          </a:p>
        </p:txBody>
      </p:sp>
      <p:sp>
        <p:nvSpPr>
          <p:cNvPr id="13" name="TextBox 12"/>
          <p:cNvSpPr txBox="1"/>
          <p:nvPr/>
        </p:nvSpPr>
        <p:spPr>
          <a:xfrm>
            <a:off x="908296" y="2560255"/>
            <a:ext cx="883897" cy="176779"/>
          </a:xfrm>
          <a:prstGeom prst="rect">
            <a:avLst/>
          </a:prstGeom>
          <a:noFill/>
        </p:spPr>
        <p:txBody>
          <a:bodyPr wrap="none" lIns="0" tIns="0" rIns="0" bIns="0">
            <a:spAutoFit/>
          </a:bodyPr>
          <a:lstStyle/>
          <a:p>
            <a:pPr>
              <a:defRPr sz="746" b="0">
                <a:solidFill>
                  <a:srgbClr val="63705F"/>
                </a:solidFill>
                <a:latin typeface="DM Sans"/>
              </a:defRPr>
            </a:pPr>
            <a:r>
              <a:t>FastAPI / Python</a:t>
            </a:r>
          </a:p>
        </p:txBody>
      </p:sp>
      <p:sp>
        <p:nvSpPr>
          <p:cNvPr id="14" name="Rounded Rectangle 13"/>
          <p:cNvSpPr/>
          <p:nvPr/>
        </p:nvSpPr>
        <p:spPr>
          <a:xfrm>
            <a:off x="816858" y="4285381"/>
            <a:ext cx="10545816" cy="1152114"/>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6858" y="4285381"/>
            <a:ext cx="957047" cy="1152114"/>
          </a:xfrm>
          <a:prstGeom prst="roundRect">
            <a:avLst>
              <a:gd name="adj" fmla="val 8000"/>
            </a:avLst>
          </a:prstGeom>
          <a:solidFill>
            <a:srgbClr val="E8EFE8"/>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8296" y="4474352"/>
            <a:ext cx="883897" cy="213354"/>
          </a:xfrm>
          <a:prstGeom prst="rect">
            <a:avLst/>
          </a:prstGeom>
          <a:noFill/>
        </p:spPr>
        <p:txBody>
          <a:bodyPr wrap="none" lIns="0" tIns="0" rIns="0" bIns="0">
            <a:spAutoFit/>
          </a:bodyPr>
          <a:lstStyle/>
          <a:p>
            <a:pPr>
              <a:defRPr sz="959" b="1">
                <a:solidFill>
                  <a:srgbClr val="244F41"/>
                </a:solidFill>
                <a:latin typeface="DM Sans"/>
              </a:defRPr>
            </a:pPr>
            <a:r>
              <a:t>DATA</a:t>
            </a:r>
          </a:p>
        </p:txBody>
      </p:sp>
      <p:sp>
        <p:nvSpPr>
          <p:cNvPr id="17" name="TextBox 16"/>
          <p:cNvSpPr txBox="1"/>
          <p:nvPr/>
        </p:nvSpPr>
        <p:spPr>
          <a:xfrm>
            <a:off x="908296" y="4687707"/>
            <a:ext cx="883897" cy="176779"/>
          </a:xfrm>
          <a:prstGeom prst="rect">
            <a:avLst/>
          </a:prstGeom>
          <a:noFill/>
        </p:spPr>
        <p:txBody>
          <a:bodyPr wrap="none" lIns="0" tIns="0" rIns="0" bIns="0">
            <a:spAutoFit/>
          </a:bodyPr>
          <a:lstStyle/>
          <a:p>
            <a:pPr>
              <a:defRPr sz="746" b="0">
                <a:solidFill>
                  <a:srgbClr val="63705F"/>
                </a:solidFill>
                <a:latin typeface="DM Sans"/>
              </a:defRPr>
            </a:pPr>
            <a:r>
              <a:t>PostgreSQL + files</a:t>
            </a:r>
          </a:p>
        </p:txBody>
      </p:sp>
      <p:sp>
        <p:nvSpPr>
          <p:cNvPr id="18" name="Rounded Rectangle 17"/>
          <p:cNvSpPr/>
          <p:nvPr/>
        </p:nvSpPr>
        <p:spPr>
          <a:xfrm>
            <a:off x="1975069" y="1176498"/>
            <a:ext cx="1493482" cy="621776"/>
          </a:xfrm>
          <a:prstGeom prst="roundRect">
            <a:avLst>
              <a:gd name="adj" fmla="val 8000"/>
            </a:avLst>
          </a:prstGeom>
          <a:solidFill>
            <a:srgbClr val="FFFFFF"/>
          </a:solidFill>
          <a:ln>
            <a:solidFill>
              <a:srgbClr val="244F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072603" y="1225264"/>
            <a:ext cx="1322798" cy="240785"/>
          </a:xfrm>
          <a:prstGeom prst="rect">
            <a:avLst/>
          </a:prstGeom>
          <a:noFill/>
        </p:spPr>
        <p:txBody>
          <a:bodyPr wrap="none" lIns="0" tIns="0" rIns="0" bIns="0">
            <a:spAutoFit/>
          </a:bodyPr>
          <a:lstStyle/>
          <a:p>
            <a:pPr>
              <a:defRPr sz="1119" b="1">
                <a:solidFill>
                  <a:srgbClr val="244F41"/>
                </a:solidFill>
                <a:latin typeface="DM Sans"/>
              </a:defRPr>
            </a:pPr>
            <a:r>
              <a:t>Scraping Sources</a:t>
            </a:r>
          </a:p>
        </p:txBody>
      </p:sp>
      <p:sp>
        <p:nvSpPr>
          <p:cNvPr id="20" name="TextBox 19"/>
          <p:cNvSpPr txBox="1"/>
          <p:nvPr/>
        </p:nvSpPr>
        <p:spPr>
          <a:xfrm>
            <a:off x="2072603" y="1432524"/>
            <a:ext cx="1341086" cy="204210"/>
          </a:xfrm>
          <a:prstGeom prst="rect">
            <a:avLst/>
          </a:prstGeom>
          <a:noFill/>
        </p:spPr>
        <p:txBody>
          <a:bodyPr wrap="none" lIns="0" tIns="0" rIns="0" bIns="0">
            <a:spAutoFit/>
          </a:bodyPr>
          <a:lstStyle/>
          <a:p>
            <a:pPr>
              <a:defRPr sz="906" b="0">
                <a:solidFill>
                  <a:srgbClr val="182E26"/>
                </a:solidFill>
                <a:latin typeface="DM Sans"/>
              </a:defRPr>
            </a:pPr>
            <a:r>
              <a:t>Add URL / choose action</a:t>
            </a:r>
          </a:p>
        </p:txBody>
      </p:sp>
      <p:sp>
        <p:nvSpPr>
          <p:cNvPr id="21" name="Rounded Rectangle 20"/>
          <p:cNvSpPr/>
          <p:nvPr/>
        </p:nvSpPr>
        <p:spPr>
          <a:xfrm>
            <a:off x="6821268" y="1176498"/>
            <a:ext cx="1798275" cy="621776"/>
          </a:xfrm>
          <a:prstGeom prst="roundRect">
            <a:avLst>
              <a:gd name="adj" fmla="val 8000"/>
            </a:avLst>
          </a:prstGeom>
          <a:solidFill>
            <a:srgbClr val="FFFFFF"/>
          </a:solidFill>
          <a:ln>
            <a:solidFill>
              <a:srgbClr val="244F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18801" y="1225264"/>
            <a:ext cx="1627591" cy="240785"/>
          </a:xfrm>
          <a:prstGeom prst="rect">
            <a:avLst/>
          </a:prstGeom>
          <a:noFill/>
        </p:spPr>
        <p:txBody>
          <a:bodyPr wrap="none" lIns="0" tIns="0" rIns="0" bIns="0">
            <a:spAutoFit/>
          </a:bodyPr>
          <a:lstStyle/>
          <a:p>
            <a:pPr>
              <a:defRPr sz="1119" b="1">
                <a:solidFill>
                  <a:srgbClr val="244F41"/>
                </a:solidFill>
                <a:latin typeface="DM Sans"/>
              </a:defRPr>
            </a:pPr>
            <a:r>
              <a:t>Dataset &amp; Labeling</a:t>
            </a:r>
          </a:p>
        </p:txBody>
      </p:sp>
      <p:sp>
        <p:nvSpPr>
          <p:cNvPr id="23" name="TextBox 22"/>
          <p:cNvSpPr txBox="1"/>
          <p:nvPr/>
        </p:nvSpPr>
        <p:spPr>
          <a:xfrm>
            <a:off x="6918801" y="1432524"/>
            <a:ext cx="1645879" cy="204210"/>
          </a:xfrm>
          <a:prstGeom prst="rect">
            <a:avLst/>
          </a:prstGeom>
          <a:noFill/>
        </p:spPr>
        <p:txBody>
          <a:bodyPr wrap="none" lIns="0" tIns="0" rIns="0" bIns="0">
            <a:spAutoFit/>
          </a:bodyPr>
          <a:lstStyle/>
          <a:p>
            <a:pPr>
              <a:defRPr sz="906" b="0">
                <a:solidFill>
                  <a:srgbClr val="182E26"/>
                </a:solidFill>
                <a:latin typeface="DM Sans"/>
              </a:defRPr>
            </a:pPr>
            <a:r>
              <a:t>Review evidence and labels</a:t>
            </a:r>
          </a:p>
        </p:txBody>
      </p:sp>
      <p:sp>
        <p:nvSpPr>
          <p:cNvPr id="24" name="Rounded Rectangle 23"/>
          <p:cNvSpPr/>
          <p:nvPr/>
        </p:nvSpPr>
        <p:spPr>
          <a:xfrm>
            <a:off x="9442482" y="1176498"/>
            <a:ext cx="1645879" cy="621776"/>
          </a:xfrm>
          <a:prstGeom prst="roundRect">
            <a:avLst>
              <a:gd name="adj" fmla="val 8000"/>
            </a:avLst>
          </a:prstGeom>
          <a:solidFill>
            <a:srgbClr val="FFFFFF"/>
          </a:solidFill>
          <a:ln>
            <a:solidFill>
              <a:srgbClr val="244F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540016" y="1225264"/>
            <a:ext cx="1475194" cy="240785"/>
          </a:xfrm>
          <a:prstGeom prst="rect">
            <a:avLst/>
          </a:prstGeom>
          <a:noFill/>
        </p:spPr>
        <p:txBody>
          <a:bodyPr wrap="none" lIns="0" tIns="0" rIns="0" bIns="0">
            <a:spAutoFit/>
          </a:bodyPr>
          <a:lstStyle/>
          <a:p>
            <a:pPr>
              <a:defRPr sz="1119" b="1">
                <a:solidFill>
                  <a:srgbClr val="244F41"/>
                </a:solidFill>
                <a:latin typeface="DM Sans"/>
              </a:defRPr>
            </a:pPr>
            <a:r>
              <a:t>Compare workspace</a:t>
            </a:r>
          </a:p>
        </p:txBody>
      </p:sp>
      <p:sp>
        <p:nvSpPr>
          <p:cNvPr id="26" name="TextBox 25"/>
          <p:cNvSpPr txBox="1"/>
          <p:nvPr/>
        </p:nvSpPr>
        <p:spPr>
          <a:xfrm>
            <a:off x="9540016" y="1432524"/>
            <a:ext cx="1493482" cy="204210"/>
          </a:xfrm>
          <a:prstGeom prst="rect">
            <a:avLst/>
          </a:prstGeom>
          <a:noFill/>
        </p:spPr>
        <p:txBody>
          <a:bodyPr wrap="none" lIns="0" tIns="0" rIns="0" bIns="0">
            <a:spAutoFit/>
          </a:bodyPr>
          <a:lstStyle/>
          <a:p>
            <a:pPr>
              <a:defRPr sz="906" b="0">
                <a:solidFill>
                  <a:srgbClr val="182E26"/>
                </a:solidFill>
                <a:latin typeface="DM Sans"/>
              </a:defRPr>
            </a:pPr>
            <a:r>
              <a:t>Charts, tables, observations</a:t>
            </a:r>
          </a:p>
        </p:txBody>
      </p:sp>
      <p:sp>
        <p:nvSpPr>
          <p:cNvPr id="27" name="Rounded Rectangle 26"/>
          <p:cNvSpPr/>
          <p:nvPr/>
        </p:nvSpPr>
        <p:spPr>
          <a:xfrm>
            <a:off x="1975069" y="2462722"/>
            <a:ext cx="1493482" cy="621776"/>
          </a:xfrm>
          <a:prstGeom prst="roundRect">
            <a:avLst>
              <a:gd name="adj" fmla="val 8000"/>
            </a:avLst>
          </a:prstGeom>
          <a:solidFill>
            <a:srgbClr val="FFFFFF"/>
          </a:solidFill>
          <a:ln>
            <a:solidFill>
              <a:srgbClr val="244F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072603" y="2511489"/>
            <a:ext cx="1322798" cy="240785"/>
          </a:xfrm>
          <a:prstGeom prst="rect">
            <a:avLst/>
          </a:prstGeom>
          <a:noFill/>
        </p:spPr>
        <p:txBody>
          <a:bodyPr wrap="none" lIns="0" tIns="0" rIns="0" bIns="0">
            <a:spAutoFit/>
          </a:bodyPr>
          <a:lstStyle/>
          <a:p>
            <a:pPr>
              <a:defRPr sz="1119" b="1">
                <a:solidFill>
                  <a:srgbClr val="244F41"/>
                </a:solidFill>
                <a:latin typeface="DM Sans"/>
              </a:defRPr>
            </a:pPr>
            <a:r>
              <a:t>Source API</a:t>
            </a:r>
          </a:p>
        </p:txBody>
      </p:sp>
      <p:sp>
        <p:nvSpPr>
          <p:cNvPr id="29" name="TextBox 28"/>
          <p:cNvSpPr txBox="1"/>
          <p:nvPr/>
        </p:nvSpPr>
        <p:spPr>
          <a:xfrm>
            <a:off x="2072603" y="2718748"/>
            <a:ext cx="1341086" cy="359654"/>
          </a:xfrm>
          <a:prstGeom prst="rect">
            <a:avLst/>
          </a:prstGeom>
          <a:noFill/>
        </p:spPr>
        <p:txBody>
          <a:bodyPr wrap="none" lIns="0" tIns="0" rIns="0" bIns="0">
            <a:spAutoFit/>
          </a:bodyPr>
          <a:lstStyle/>
          <a:p>
            <a:pPr>
              <a:defRPr sz="906" b="0">
                <a:solidFill>
                  <a:srgbClr val="182E26"/>
                </a:solidFill>
                <a:latin typeface="DM Sans"/>
              </a:defRPr>
            </a:pPr>
            <a:r>
              <a:t>Import / add sources</a:t>
            </a:r>
          </a:p>
          <a:p>
            <a:pPr>
              <a:defRPr sz="906" b="0">
                <a:solidFill>
                  <a:srgbClr val="182E26"/>
                </a:solidFill>
                <a:latin typeface="DM Sans"/>
              </a:defRPr>
            </a:pPr>
            <a:r>
              <a:t>Select capture mode</a:t>
            </a:r>
          </a:p>
        </p:txBody>
      </p:sp>
      <p:sp>
        <p:nvSpPr>
          <p:cNvPr id="30" name="Rounded Rectangle 29"/>
          <p:cNvSpPr/>
          <p:nvPr/>
        </p:nvSpPr>
        <p:spPr>
          <a:xfrm>
            <a:off x="3803824" y="2462722"/>
            <a:ext cx="1371565" cy="621776"/>
          </a:xfrm>
          <a:prstGeom prst="roundRect">
            <a:avLst>
              <a:gd name="adj" fmla="val 8000"/>
            </a:avLst>
          </a:prstGeom>
          <a:solidFill>
            <a:srgbClr val="FFFFFF"/>
          </a:solidFill>
          <a:ln>
            <a:solidFill>
              <a:srgbClr val="244F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01357" y="2511489"/>
            <a:ext cx="1200882" cy="240785"/>
          </a:xfrm>
          <a:prstGeom prst="rect">
            <a:avLst/>
          </a:prstGeom>
          <a:noFill/>
        </p:spPr>
        <p:txBody>
          <a:bodyPr wrap="none" lIns="0" tIns="0" rIns="0" bIns="0">
            <a:spAutoFit/>
          </a:bodyPr>
          <a:lstStyle/>
          <a:p>
            <a:pPr>
              <a:defRPr sz="1119" b="1">
                <a:solidFill>
                  <a:srgbClr val="244F41"/>
                </a:solidFill>
                <a:latin typeface="DM Sans"/>
              </a:defRPr>
            </a:pPr>
            <a:r>
              <a:t>Support registry</a:t>
            </a:r>
          </a:p>
        </p:txBody>
      </p:sp>
      <p:sp>
        <p:nvSpPr>
          <p:cNvPr id="32" name="TextBox 31"/>
          <p:cNvSpPr txBox="1"/>
          <p:nvPr/>
        </p:nvSpPr>
        <p:spPr>
          <a:xfrm>
            <a:off x="3901357" y="2718748"/>
            <a:ext cx="1219169" cy="359654"/>
          </a:xfrm>
          <a:prstGeom prst="rect">
            <a:avLst/>
          </a:prstGeom>
          <a:noFill/>
        </p:spPr>
        <p:txBody>
          <a:bodyPr wrap="none" lIns="0" tIns="0" rIns="0" bIns="0">
            <a:spAutoFit/>
          </a:bodyPr>
          <a:lstStyle/>
          <a:p>
            <a:pPr>
              <a:defRPr sz="906" b="0">
                <a:solidFill>
                  <a:srgbClr val="182E26"/>
                </a:solidFill>
                <a:latin typeface="DM Sans"/>
              </a:defRPr>
            </a:pPr>
            <a:r>
              <a:t>Exact bank / category</a:t>
            </a:r>
          </a:p>
          <a:p>
            <a:pPr>
              <a:defRPr sz="906" b="0">
                <a:solidFill>
                  <a:srgbClr val="182E26"/>
                </a:solidFill>
                <a:latin typeface="DM Sans"/>
              </a:defRPr>
            </a:pPr>
            <a:r>
              <a:t>product / language</a:t>
            </a:r>
          </a:p>
        </p:txBody>
      </p:sp>
      <p:sp>
        <p:nvSpPr>
          <p:cNvPr id="33" name="Rounded Rectangle 32"/>
          <p:cNvSpPr/>
          <p:nvPr/>
        </p:nvSpPr>
        <p:spPr>
          <a:xfrm>
            <a:off x="5510661" y="2462722"/>
            <a:ext cx="1432524" cy="621776"/>
          </a:xfrm>
          <a:prstGeom prst="roundRect">
            <a:avLst>
              <a:gd name="adj" fmla="val 8000"/>
            </a:avLst>
          </a:prstGeom>
          <a:solidFill>
            <a:srgbClr val="FFFFFF"/>
          </a:solidFill>
          <a:ln>
            <a:solidFill>
              <a:srgbClr val="244F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08194" y="2511489"/>
            <a:ext cx="1261840" cy="240785"/>
          </a:xfrm>
          <a:prstGeom prst="rect">
            <a:avLst/>
          </a:prstGeom>
          <a:noFill/>
        </p:spPr>
        <p:txBody>
          <a:bodyPr wrap="none" lIns="0" tIns="0" rIns="0" bIns="0">
            <a:spAutoFit/>
          </a:bodyPr>
          <a:lstStyle/>
          <a:p>
            <a:pPr>
              <a:defRPr sz="1119" b="1">
                <a:solidFill>
                  <a:srgbClr val="244F41"/>
                </a:solidFill>
                <a:latin typeface="DM Sans"/>
              </a:defRPr>
            </a:pPr>
            <a:r>
              <a:t>Playwright capture</a:t>
            </a:r>
          </a:p>
        </p:txBody>
      </p:sp>
      <p:sp>
        <p:nvSpPr>
          <p:cNvPr id="35" name="TextBox 34"/>
          <p:cNvSpPr txBox="1"/>
          <p:nvPr/>
        </p:nvSpPr>
        <p:spPr>
          <a:xfrm>
            <a:off x="5608194" y="2718748"/>
            <a:ext cx="1280128" cy="359654"/>
          </a:xfrm>
          <a:prstGeom prst="rect">
            <a:avLst/>
          </a:prstGeom>
          <a:noFill/>
        </p:spPr>
        <p:txBody>
          <a:bodyPr wrap="none" lIns="0" tIns="0" rIns="0" bIns="0">
            <a:spAutoFit/>
          </a:bodyPr>
          <a:lstStyle/>
          <a:p>
            <a:pPr>
              <a:defRPr sz="906" b="0">
                <a:solidFill>
                  <a:srgbClr val="182E26"/>
                </a:solidFill>
                <a:latin typeface="DM Sans"/>
              </a:defRPr>
            </a:pPr>
            <a:r>
              <a:t>Render public page</a:t>
            </a:r>
          </a:p>
          <a:p>
            <a:pPr>
              <a:defRPr sz="906" b="0">
                <a:solidFill>
                  <a:srgbClr val="182E26"/>
                </a:solidFill>
                <a:latin typeface="DM Sans"/>
              </a:defRPr>
            </a:pPr>
            <a:r>
              <a:t>Save original evidence</a:t>
            </a:r>
          </a:p>
        </p:txBody>
      </p:sp>
      <p:sp>
        <p:nvSpPr>
          <p:cNvPr id="36" name="Rounded Rectangle 35"/>
          <p:cNvSpPr/>
          <p:nvPr/>
        </p:nvSpPr>
        <p:spPr>
          <a:xfrm>
            <a:off x="7308936" y="2462722"/>
            <a:ext cx="1432524" cy="621776"/>
          </a:xfrm>
          <a:prstGeom prst="roundRect">
            <a:avLst>
              <a:gd name="adj" fmla="val 8000"/>
            </a:avLst>
          </a:prstGeom>
          <a:solidFill>
            <a:srgbClr val="FFFFFF"/>
          </a:solidFill>
          <a:ln>
            <a:solidFill>
              <a:srgbClr val="AA78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406470" y="2511489"/>
            <a:ext cx="1261840" cy="240785"/>
          </a:xfrm>
          <a:prstGeom prst="rect">
            <a:avLst/>
          </a:prstGeom>
          <a:noFill/>
        </p:spPr>
        <p:txBody>
          <a:bodyPr wrap="none" lIns="0" tIns="0" rIns="0" bIns="0">
            <a:spAutoFit/>
          </a:bodyPr>
          <a:lstStyle/>
          <a:p>
            <a:pPr>
              <a:defRPr sz="1119" b="1">
                <a:solidFill>
                  <a:srgbClr val="AA783D"/>
                </a:solidFill>
                <a:latin typeface="DM Sans"/>
              </a:defRPr>
            </a:pPr>
            <a:r>
              <a:t>Feature extraction</a:t>
            </a:r>
          </a:p>
        </p:txBody>
      </p:sp>
      <p:sp>
        <p:nvSpPr>
          <p:cNvPr id="38" name="TextBox 37"/>
          <p:cNvSpPr txBox="1"/>
          <p:nvPr/>
        </p:nvSpPr>
        <p:spPr>
          <a:xfrm>
            <a:off x="7406470" y="2718748"/>
            <a:ext cx="1280128" cy="359654"/>
          </a:xfrm>
          <a:prstGeom prst="rect">
            <a:avLst/>
          </a:prstGeom>
          <a:noFill/>
        </p:spPr>
        <p:txBody>
          <a:bodyPr wrap="none" lIns="0" tIns="0" rIns="0" bIns="0">
            <a:spAutoFit/>
          </a:bodyPr>
          <a:lstStyle/>
          <a:p>
            <a:pPr>
              <a:defRPr sz="906" b="0">
                <a:solidFill>
                  <a:srgbClr val="182E26"/>
                </a:solidFill>
                <a:latin typeface="DM Sans"/>
              </a:defRPr>
            </a:pPr>
            <a:r>
              <a:t>Text / message / CTA</a:t>
            </a:r>
          </a:p>
          <a:p>
            <a:pPr>
              <a:defRPr sz="906" b="0">
                <a:solidFill>
                  <a:srgbClr val="182E26"/>
                </a:solidFill>
                <a:latin typeface="DM Sans"/>
              </a:defRPr>
            </a:pPr>
            <a:r>
              <a:t>Registered auto cases</a:t>
            </a:r>
          </a:p>
        </p:txBody>
      </p:sp>
      <p:sp>
        <p:nvSpPr>
          <p:cNvPr id="39" name="Rounded Rectangle 38"/>
          <p:cNvSpPr/>
          <p:nvPr/>
        </p:nvSpPr>
        <p:spPr>
          <a:xfrm>
            <a:off x="9442482" y="2462722"/>
            <a:ext cx="1645879" cy="621776"/>
          </a:xfrm>
          <a:prstGeom prst="roundRect">
            <a:avLst>
              <a:gd name="adj" fmla="val 8000"/>
            </a:avLst>
          </a:prstGeom>
          <a:solidFill>
            <a:srgbClr val="FFFFFF"/>
          </a:solidFill>
          <a:ln>
            <a:solidFill>
              <a:srgbClr val="244F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540016" y="2511489"/>
            <a:ext cx="1475194" cy="240785"/>
          </a:xfrm>
          <a:prstGeom prst="rect">
            <a:avLst/>
          </a:prstGeom>
          <a:noFill/>
        </p:spPr>
        <p:txBody>
          <a:bodyPr wrap="none" lIns="0" tIns="0" rIns="0" bIns="0">
            <a:spAutoFit/>
          </a:bodyPr>
          <a:lstStyle/>
          <a:p>
            <a:pPr>
              <a:defRPr sz="1119" b="1">
                <a:solidFill>
                  <a:srgbClr val="244F41"/>
                </a:solidFill>
                <a:latin typeface="DM Sans"/>
              </a:defRPr>
            </a:pPr>
            <a:r>
              <a:t>Comparison API</a:t>
            </a:r>
          </a:p>
        </p:txBody>
      </p:sp>
      <p:sp>
        <p:nvSpPr>
          <p:cNvPr id="41" name="TextBox 40"/>
          <p:cNvSpPr txBox="1"/>
          <p:nvPr/>
        </p:nvSpPr>
        <p:spPr>
          <a:xfrm>
            <a:off x="9540016" y="2718748"/>
            <a:ext cx="1493482" cy="359654"/>
          </a:xfrm>
          <a:prstGeom prst="rect">
            <a:avLst/>
          </a:prstGeom>
          <a:noFill/>
        </p:spPr>
        <p:txBody>
          <a:bodyPr wrap="none" lIns="0" tIns="0" rIns="0" bIns="0">
            <a:spAutoFit/>
          </a:bodyPr>
          <a:lstStyle/>
          <a:p>
            <a:pPr>
              <a:defRPr sz="906" b="0">
                <a:solidFill>
                  <a:srgbClr val="182E26"/>
                </a:solidFill>
                <a:latin typeface="DM Sans"/>
              </a:defRPr>
            </a:pPr>
            <a:r>
              <a:t>Same product category</a:t>
            </a:r>
          </a:p>
          <a:p>
            <a:pPr>
              <a:defRPr sz="906" b="0">
                <a:solidFill>
                  <a:srgbClr val="182E26"/>
                </a:solidFill>
                <a:latin typeface="DM Sans"/>
              </a:defRPr>
            </a:pPr>
            <a:r>
              <a:t>Saved feature values</a:t>
            </a:r>
          </a:p>
        </p:txBody>
      </p:sp>
      <p:sp>
        <p:nvSpPr>
          <p:cNvPr id="42" name="Rounded Rectangle 41"/>
          <p:cNvSpPr/>
          <p:nvPr/>
        </p:nvSpPr>
        <p:spPr>
          <a:xfrm>
            <a:off x="1975069" y="5577700"/>
            <a:ext cx="9113292" cy="518146"/>
          </a:xfrm>
          <a:prstGeom prst="roundRect">
            <a:avLst>
              <a:gd name="adj" fmla="val 8000"/>
            </a:avLst>
          </a:prstGeom>
          <a:solidFill>
            <a:srgbClr val="F6F8F6"/>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096986" y="5614276"/>
            <a:ext cx="1219169" cy="176779"/>
          </a:xfrm>
          <a:prstGeom prst="rect">
            <a:avLst/>
          </a:prstGeom>
          <a:noFill/>
        </p:spPr>
        <p:txBody>
          <a:bodyPr wrap="none" lIns="0" tIns="0" rIns="0" bIns="0">
            <a:spAutoFit/>
          </a:bodyPr>
          <a:lstStyle/>
          <a:p>
            <a:pPr>
              <a:defRPr sz="746" b="1">
                <a:solidFill>
                  <a:srgbClr val="244F41"/>
                </a:solidFill>
                <a:latin typeface="DM Sans"/>
              </a:defRPr>
            </a:pPr>
            <a:r>
              <a:t>ACTION RULES</a:t>
            </a:r>
          </a:p>
        </p:txBody>
      </p:sp>
      <p:sp>
        <p:nvSpPr>
          <p:cNvPr id="44" name="TextBox 43"/>
          <p:cNvSpPr txBox="1"/>
          <p:nvPr/>
        </p:nvSpPr>
        <p:spPr>
          <a:xfrm>
            <a:off x="2096986" y="5803247"/>
            <a:ext cx="8808499" cy="195067"/>
          </a:xfrm>
          <a:prstGeom prst="rect">
            <a:avLst/>
          </a:prstGeom>
          <a:noFill/>
        </p:spPr>
        <p:txBody>
          <a:bodyPr wrap="none" lIns="0" tIns="0" rIns="0" bIns="0">
            <a:spAutoFit/>
          </a:bodyPr>
          <a:lstStyle/>
          <a:p>
            <a:pPr>
              <a:defRPr sz="853" b="0">
                <a:solidFill>
                  <a:srgbClr val="182E26"/>
                </a:solidFill>
                <a:latin typeface="DM Sans"/>
              </a:defRPr>
            </a:pPr>
            <a:r>
              <a:t>First + supported: Scrape &amp; Auto-label   |   First + unsupported: Capture page   |   Already captured: Capture only</a:t>
            </a:r>
          </a:p>
        </p:txBody>
      </p:sp>
      <p:sp>
        <p:nvSpPr>
          <p:cNvPr id="45" name="Rounded Rectangle 44"/>
          <p:cNvSpPr/>
          <p:nvPr/>
        </p:nvSpPr>
        <p:spPr>
          <a:xfrm>
            <a:off x="1975069" y="4535311"/>
            <a:ext cx="1493482" cy="621776"/>
          </a:xfrm>
          <a:prstGeom prst="roundRect">
            <a:avLst>
              <a:gd name="adj" fmla="val 8000"/>
            </a:avLst>
          </a:prstGeom>
          <a:solidFill>
            <a:srgbClr val="FFFFFF"/>
          </a:solidFill>
          <a:ln>
            <a:solidFill>
              <a:srgbClr val="244F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072603" y="4584077"/>
            <a:ext cx="1322798" cy="240785"/>
          </a:xfrm>
          <a:prstGeom prst="rect">
            <a:avLst/>
          </a:prstGeom>
          <a:noFill/>
        </p:spPr>
        <p:txBody>
          <a:bodyPr wrap="none" lIns="0" tIns="0" rIns="0" bIns="0">
            <a:spAutoFit/>
          </a:bodyPr>
          <a:lstStyle/>
          <a:p>
            <a:pPr>
              <a:defRPr sz="1119" b="1">
                <a:solidFill>
                  <a:srgbClr val="244F41"/>
                </a:solidFill>
                <a:latin typeface="DM Sans"/>
              </a:defRPr>
            </a:pPr>
            <a:r>
              <a:t>Sources</a:t>
            </a:r>
          </a:p>
        </p:txBody>
      </p:sp>
      <p:sp>
        <p:nvSpPr>
          <p:cNvPr id="47" name="TextBox 46"/>
          <p:cNvSpPr txBox="1"/>
          <p:nvPr/>
        </p:nvSpPr>
        <p:spPr>
          <a:xfrm>
            <a:off x="2072603" y="4791335"/>
            <a:ext cx="1341086" cy="359654"/>
          </a:xfrm>
          <a:prstGeom prst="rect">
            <a:avLst/>
          </a:prstGeom>
          <a:noFill/>
        </p:spPr>
        <p:txBody>
          <a:bodyPr wrap="none" lIns="0" tIns="0" rIns="0" bIns="0">
            <a:spAutoFit/>
          </a:bodyPr>
          <a:lstStyle/>
          <a:p>
            <a:pPr>
              <a:defRPr sz="906" b="0">
                <a:solidFill>
                  <a:srgbClr val="182E26"/>
                </a:solidFill>
                <a:latin typeface="DM Sans"/>
              </a:defRPr>
            </a:pPr>
            <a:r>
              <a:t>user_sources / imports</a:t>
            </a:r>
          </a:p>
          <a:p>
            <a:pPr>
              <a:defRPr sz="906" b="0">
                <a:solidFill>
                  <a:srgbClr val="182E26"/>
                </a:solidFill>
                <a:latin typeface="DM Sans"/>
              </a:defRPr>
            </a:pPr>
            <a:r>
              <a:t>Configured JSON input</a:t>
            </a:r>
          </a:p>
        </p:txBody>
      </p:sp>
      <p:sp>
        <p:nvSpPr>
          <p:cNvPr id="48" name="Rounded Rectangle 47"/>
          <p:cNvSpPr/>
          <p:nvPr/>
        </p:nvSpPr>
        <p:spPr>
          <a:xfrm>
            <a:off x="5205868" y="4535311"/>
            <a:ext cx="1737316" cy="621776"/>
          </a:xfrm>
          <a:prstGeom prst="roundRect">
            <a:avLst>
              <a:gd name="adj" fmla="val 8000"/>
            </a:avLst>
          </a:prstGeom>
          <a:solidFill>
            <a:srgbClr val="FFFFFF"/>
          </a:solidFill>
          <a:ln>
            <a:solidFill>
              <a:srgbClr val="244F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303402" y="4584077"/>
            <a:ext cx="1566633" cy="240785"/>
          </a:xfrm>
          <a:prstGeom prst="rect">
            <a:avLst/>
          </a:prstGeom>
          <a:noFill/>
        </p:spPr>
        <p:txBody>
          <a:bodyPr wrap="none" lIns="0" tIns="0" rIns="0" bIns="0">
            <a:spAutoFit/>
          </a:bodyPr>
          <a:lstStyle/>
          <a:p>
            <a:pPr>
              <a:defRPr sz="1119" b="1">
                <a:solidFill>
                  <a:srgbClr val="244F41"/>
                </a:solidFill>
                <a:latin typeface="DM Sans"/>
              </a:defRPr>
            </a:pPr>
            <a:r>
              <a:t>Capture history</a:t>
            </a:r>
          </a:p>
        </p:txBody>
      </p:sp>
      <p:sp>
        <p:nvSpPr>
          <p:cNvPr id="50" name="TextBox 49"/>
          <p:cNvSpPr txBox="1"/>
          <p:nvPr/>
        </p:nvSpPr>
        <p:spPr>
          <a:xfrm>
            <a:off x="5303402" y="4791335"/>
            <a:ext cx="1584920" cy="359654"/>
          </a:xfrm>
          <a:prstGeom prst="rect">
            <a:avLst/>
          </a:prstGeom>
          <a:noFill/>
        </p:spPr>
        <p:txBody>
          <a:bodyPr wrap="none" lIns="0" tIns="0" rIns="0" bIns="0">
            <a:spAutoFit/>
          </a:bodyPr>
          <a:lstStyle/>
          <a:p>
            <a:pPr>
              <a:defRPr sz="906" b="0">
                <a:solidFill>
                  <a:srgbClr val="182E26"/>
                </a:solidFill>
                <a:latin typeface="DM Sans"/>
              </a:defRPr>
            </a:pPr>
            <a:r>
              <a:t>PageCapture in database</a:t>
            </a:r>
          </a:p>
          <a:p>
            <a:pPr>
              <a:defRPr sz="906" b="0">
                <a:solidFill>
                  <a:srgbClr val="182E26"/>
                </a:solidFill>
                <a:latin typeface="DM Sans"/>
              </a:defRPr>
            </a:pPr>
            <a:r>
              <a:t>Screenshot + dom.json files</a:t>
            </a:r>
          </a:p>
        </p:txBody>
      </p:sp>
      <p:sp>
        <p:nvSpPr>
          <p:cNvPr id="51" name="Rounded Rectangle 50"/>
          <p:cNvSpPr/>
          <p:nvPr/>
        </p:nvSpPr>
        <p:spPr>
          <a:xfrm>
            <a:off x="7308936" y="4535311"/>
            <a:ext cx="1432524" cy="621776"/>
          </a:xfrm>
          <a:prstGeom prst="roundRect">
            <a:avLst>
              <a:gd name="adj" fmla="val 8000"/>
            </a:avLst>
          </a:prstGeom>
          <a:solidFill>
            <a:srgbClr val="FFFFFF"/>
          </a:solidFill>
          <a:ln>
            <a:solidFill>
              <a:srgbClr val="244F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406470" y="4584077"/>
            <a:ext cx="1261840" cy="240785"/>
          </a:xfrm>
          <a:prstGeom prst="rect">
            <a:avLst/>
          </a:prstGeom>
          <a:noFill/>
        </p:spPr>
        <p:txBody>
          <a:bodyPr wrap="none" lIns="0" tIns="0" rIns="0" bIns="0">
            <a:spAutoFit/>
          </a:bodyPr>
          <a:lstStyle/>
          <a:p>
            <a:pPr>
              <a:defRPr sz="1119" b="1">
                <a:solidFill>
                  <a:srgbClr val="244F41"/>
                </a:solidFill>
                <a:latin typeface="DM Sans"/>
              </a:defRPr>
            </a:pPr>
            <a:r>
              <a:t>Feature records</a:t>
            </a:r>
          </a:p>
        </p:txBody>
      </p:sp>
      <p:sp>
        <p:nvSpPr>
          <p:cNvPr id="53" name="TextBox 52"/>
          <p:cNvSpPr txBox="1"/>
          <p:nvPr/>
        </p:nvSpPr>
        <p:spPr>
          <a:xfrm>
            <a:off x="7406470" y="4791335"/>
            <a:ext cx="1280128" cy="359654"/>
          </a:xfrm>
          <a:prstGeom prst="rect">
            <a:avLst/>
          </a:prstGeom>
          <a:noFill/>
        </p:spPr>
        <p:txBody>
          <a:bodyPr wrap="none" lIns="0" tIns="0" rIns="0" bIns="0">
            <a:spAutoFit/>
          </a:bodyPr>
          <a:lstStyle/>
          <a:p>
            <a:pPr>
              <a:defRPr sz="906" b="0">
                <a:solidFill>
                  <a:srgbClr val="182E26"/>
                </a:solidFill>
                <a:latin typeface="DM Sans"/>
              </a:defRPr>
            </a:pPr>
            <a:r>
              <a:t>CampaignFeature</a:t>
            </a:r>
          </a:p>
          <a:p>
            <a:pPr>
              <a:defRPr sz="906" b="0">
                <a:solidFill>
                  <a:srgbClr val="182E26"/>
                </a:solidFill>
                <a:latin typeface="DM Sans"/>
              </a:defRPr>
            </a:pPr>
            <a:r>
              <a:t>Notes and review status</a:t>
            </a:r>
          </a:p>
        </p:txBody>
      </p:sp>
      <p:sp>
        <p:nvSpPr>
          <p:cNvPr id="54" name="Rounded Rectangle 53"/>
          <p:cNvSpPr/>
          <p:nvPr/>
        </p:nvSpPr>
        <p:spPr>
          <a:xfrm>
            <a:off x="9442482" y="4535311"/>
            <a:ext cx="1645879" cy="621776"/>
          </a:xfrm>
          <a:prstGeom prst="roundRect">
            <a:avLst>
              <a:gd name="adj" fmla="val 8000"/>
            </a:avLst>
          </a:prstGeom>
          <a:solidFill>
            <a:srgbClr val="FFFFFF"/>
          </a:solidFill>
          <a:ln>
            <a:solidFill>
              <a:srgbClr val="244F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540016" y="4584077"/>
            <a:ext cx="1475194" cy="240785"/>
          </a:xfrm>
          <a:prstGeom prst="rect">
            <a:avLst/>
          </a:prstGeom>
          <a:noFill/>
        </p:spPr>
        <p:txBody>
          <a:bodyPr wrap="none" lIns="0" tIns="0" rIns="0" bIns="0">
            <a:spAutoFit/>
          </a:bodyPr>
          <a:lstStyle/>
          <a:p>
            <a:pPr>
              <a:defRPr sz="1119" b="1">
                <a:solidFill>
                  <a:srgbClr val="244F41"/>
                </a:solidFill>
                <a:latin typeface="DM Sans"/>
              </a:defRPr>
            </a:pPr>
            <a:r>
              <a:t>Research context</a:t>
            </a:r>
          </a:p>
        </p:txBody>
      </p:sp>
      <p:sp>
        <p:nvSpPr>
          <p:cNvPr id="56" name="TextBox 55"/>
          <p:cNvSpPr txBox="1"/>
          <p:nvPr/>
        </p:nvSpPr>
        <p:spPr>
          <a:xfrm>
            <a:off x="9540016" y="4791335"/>
            <a:ext cx="1493482" cy="359654"/>
          </a:xfrm>
          <a:prstGeom prst="rect">
            <a:avLst/>
          </a:prstGeom>
          <a:noFill/>
        </p:spPr>
        <p:txBody>
          <a:bodyPr wrap="none" lIns="0" tIns="0" rIns="0" bIns="0">
            <a:spAutoFit/>
          </a:bodyPr>
          <a:lstStyle/>
          <a:p>
            <a:pPr>
              <a:defRPr sz="906" b="0">
                <a:solidFill>
                  <a:srgbClr val="182E26"/>
                </a:solidFill>
                <a:latin typeface="DM Sans"/>
              </a:defRPr>
            </a:pPr>
            <a:r>
              <a:t>Campaign / bank / category</a:t>
            </a:r>
          </a:p>
          <a:p>
            <a:pPr>
              <a:defRPr sz="906" b="0">
                <a:solidFill>
                  <a:srgbClr val="182E26"/>
                </a:solidFill>
                <a:latin typeface="DM Sans"/>
              </a:defRPr>
            </a:pPr>
            <a:r>
              <a:t>Stored in PostgreSQL</a:t>
            </a:r>
          </a:p>
        </p:txBody>
      </p:sp>
      <p:cxnSp>
        <p:nvCxnSpPr>
          <p:cNvPr id="57" name="Connector 56"/>
          <p:cNvCxnSpPr/>
          <p:nvPr/>
        </p:nvCxnSpPr>
        <p:spPr>
          <a:xfrm>
            <a:off x="2706571" y="1798275"/>
            <a:ext cx="0" cy="664448"/>
          </a:xfrm>
          <a:prstGeom prst="line">
            <a:avLst/>
          </a:prstGeom>
          <a:ln w="15875">
            <a:solidFill>
              <a:srgbClr val="244F4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3468552" y="2773610"/>
            <a:ext cx="335272" cy="0"/>
          </a:xfrm>
          <a:prstGeom prst="line">
            <a:avLst/>
          </a:prstGeom>
          <a:ln w="15875">
            <a:solidFill>
              <a:srgbClr val="244F4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5175390" y="2773610"/>
            <a:ext cx="335272" cy="0"/>
          </a:xfrm>
          <a:prstGeom prst="line">
            <a:avLst/>
          </a:prstGeom>
          <a:ln w="15875">
            <a:solidFill>
              <a:srgbClr val="244F4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6943185" y="2773610"/>
            <a:ext cx="365751" cy="0"/>
          </a:xfrm>
          <a:prstGeom prst="line">
            <a:avLst/>
          </a:prstGeom>
          <a:ln w="15875">
            <a:solidFill>
              <a:srgbClr val="244F41"/>
            </a:solidFill>
            <a:tailEnd type="triangle"/>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973664" y="2212792"/>
            <a:ext cx="731501" cy="304792"/>
          </a:xfrm>
          <a:prstGeom prst="rect">
            <a:avLst/>
          </a:prstGeom>
          <a:noFill/>
        </p:spPr>
        <p:txBody>
          <a:bodyPr wrap="none" lIns="0" tIns="0" rIns="0" bIns="0">
            <a:spAutoFit/>
          </a:bodyPr>
          <a:lstStyle/>
          <a:p>
            <a:pPr>
              <a:defRPr sz="746" b="0">
                <a:solidFill>
                  <a:srgbClr val="AA783D"/>
                </a:solidFill>
                <a:latin typeface="DM Sans"/>
              </a:defRPr>
            </a:pPr>
            <a:r>
              <a:t>Auto-label</a:t>
            </a:r>
          </a:p>
          <a:p>
            <a:pPr>
              <a:defRPr sz="746" b="0">
                <a:solidFill>
                  <a:srgbClr val="AA783D"/>
                </a:solidFill>
                <a:latin typeface="DM Sans"/>
              </a:defRPr>
            </a:pPr>
            <a:r>
              <a:t>path only</a:t>
            </a:r>
          </a:p>
        </p:txBody>
      </p:sp>
      <p:cxnSp>
        <p:nvCxnSpPr>
          <p:cNvPr id="62" name="Connector 61"/>
          <p:cNvCxnSpPr/>
          <p:nvPr/>
        </p:nvCxnSpPr>
        <p:spPr>
          <a:xfrm>
            <a:off x="6223875" y="3084498"/>
            <a:ext cx="0" cy="1450813"/>
          </a:xfrm>
          <a:prstGeom prst="line">
            <a:avLst/>
          </a:prstGeom>
          <a:ln w="15875">
            <a:solidFill>
              <a:srgbClr val="244F41"/>
            </a:solidFill>
            <a:tailEnd type="triangle"/>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6321408" y="4053739"/>
            <a:ext cx="1402044" cy="176779"/>
          </a:xfrm>
          <a:prstGeom prst="rect">
            <a:avLst/>
          </a:prstGeom>
          <a:noFill/>
        </p:spPr>
        <p:txBody>
          <a:bodyPr wrap="none" lIns="0" tIns="0" rIns="0" bIns="0">
            <a:spAutoFit/>
          </a:bodyPr>
          <a:lstStyle/>
          <a:p>
            <a:pPr>
              <a:defRPr sz="746" b="0">
                <a:solidFill>
                  <a:srgbClr val="63705F"/>
                </a:solidFill>
                <a:latin typeface="DM Sans"/>
              </a:defRPr>
            </a:pPr>
            <a:r>
              <a:t>Every successful capture</a:t>
            </a:r>
          </a:p>
        </p:txBody>
      </p:sp>
      <p:cxnSp>
        <p:nvCxnSpPr>
          <p:cNvPr id="64" name="Connector 63"/>
          <p:cNvCxnSpPr/>
          <p:nvPr/>
        </p:nvCxnSpPr>
        <p:spPr>
          <a:xfrm>
            <a:off x="2706571" y="3084498"/>
            <a:ext cx="0" cy="1450813"/>
          </a:xfrm>
          <a:prstGeom prst="line">
            <a:avLst/>
          </a:prstGeom>
          <a:ln w="15875">
            <a:solidFill>
              <a:srgbClr val="244F41"/>
            </a:solidFill>
            <a:tailEnd type="triangle"/>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8009959" y="3084498"/>
            <a:ext cx="0" cy="1450813"/>
          </a:xfrm>
          <a:prstGeom prst="line">
            <a:avLst/>
          </a:prstGeom>
          <a:ln w="15875">
            <a:solidFill>
              <a:srgbClr val="244F41"/>
            </a:solidFill>
            <a:tailEnd type="triangle"/>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8101396" y="4084217"/>
            <a:ext cx="914377" cy="176779"/>
          </a:xfrm>
          <a:prstGeom prst="rect">
            <a:avLst/>
          </a:prstGeom>
          <a:noFill/>
        </p:spPr>
        <p:txBody>
          <a:bodyPr wrap="none" lIns="0" tIns="0" rIns="0" bIns="0">
            <a:spAutoFit/>
          </a:bodyPr>
          <a:lstStyle/>
          <a:p>
            <a:pPr>
              <a:defRPr sz="746" b="0">
                <a:solidFill>
                  <a:srgbClr val="63705F"/>
                </a:solidFill>
                <a:latin typeface="DM Sans"/>
              </a:defRPr>
            </a:pPr>
            <a:r>
              <a:t>First auto draft</a:t>
            </a:r>
          </a:p>
        </p:txBody>
      </p:sp>
      <p:cxnSp>
        <p:nvCxnSpPr>
          <p:cNvPr id="67" name="Connector 66"/>
          <p:cNvCxnSpPr/>
          <p:nvPr/>
        </p:nvCxnSpPr>
        <p:spPr>
          <a:xfrm flipV="1">
            <a:off x="7126060" y="1853137"/>
            <a:ext cx="0" cy="2974774"/>
          </a:xfrm>
          <a:prstGeom prst="line">
            <a:avLst/>
          </a:prstGeom>
          <a:ln w="15875">
            <a:solidFill>
              <a:srgbClr val="244F41"/>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7126060" y="1853137"/>
            <a:ext cx="304792" cy="0"/>
          </a:xfrm>
          <a:prstGeom prst="line">
            <a:avLst/>
          </a:prstGeom>
          <a:ln w="15875">
            <a:solidFill>
              <a:srgbClr val="244F41"/>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7430853" y="1798275"/>
            <a:ext cx="0" cy="54862"/>
          </a:xfrm>
          <a:prstGeom prst="line">
            <a:avLst/>
          </a:prstGeom>
          <a:ln w="15875">
            <a:solidFill>
              <a:srgbClr val="244F41"/>
            </a:solidFill>
            <a:tailEnd type="triangle"/>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6943185" y="4827910"/>
            <a:ext cx="182876" cy="0"/>
          </a:xfrm>
          <a:prstGeom prst="line">
            <a:avLst/>
          </a:prstGeom>
          <a:ln w="15875">
            <a:solidFill>
              <a:srgbClr val="244F41"/>
            </a:solidFill>
            <a:tailEnd type="triangle"/>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7199211" y="2017725"/>
            <a:ext cx="792460" cy="176779"/>
          </a:xfrm>
          <a:prstGeom prst="rect">
            <a:avLst/>
          </a:prstGeom>
          <a:noFill/>
        </p:spPr>
        <p:txBody>
          <a:bodyPr wrap="none" lIns="0" tIns="0" rIns="0" bIns="0">
            <a:spAutoFit/>
          </a:bodyPr>
          <a:lstStyle/>
          <a:p>
            <a:pPr>
              <a:defRPr sz="746" b="0">
                <a:solidFill>
                  <a:srgbClr val="63705F"/>
                </a:solidFill>
                <a:latin typeface="DM Sans"/>
              </a:defRPr>
            </a:pPr>
            <a:r>
              <a:t>Evidence</a:t>
            </a:r>
          </a:p>
        </p:txBody>
      </p:sp>
      <p:cxnSp>
        <p:nvCxnSpPr>
          <p:cNvPr id="72" name="Connector 71"/>
          <p:cNvCxnSpPr/>
          <p:nvPr/>
        </p:nvCxnSpPr>
        <p:spPr>
          <a:xfrm>
            <a:off x="8345230" y="1798275"/>
            <a:ext cx="640064" cy="0"/>
          </a:xfrm>
          <a:prstGeom prst="line">
            <a:avLst/>
          </a:prstGeom>
          <a:ln w="15875">
            <a:solidFill>
              <a:srgbClr val="244F41"/>
            </a:solidFill>
            <a:prstDash val="dash"/>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8985294" y="1798275"/>
            <a:ext cx="0" cy="3047924"/>
          </a:xfrm>
          <a:prstGeom prst="line">
            <a:avLst/>
          </a:prstGeom>
          <a:ln w="15875">
            <a:solidFill>
              <a:srgbClr val="244F41"/>
            </a:solidFill>
            <a:prstDash val="dash"/>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8741460" y="4846198"/>
            <a:ext cx="243834" cy="0"/>
          </a:xfrm>
          <a:prstGeom prst="line">
            <a:avLst/>
          </a:prstGeom>
          <a:ln w="15875">
            <a:solidFill>
              <a:srgbClr val="244F4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9058444" y="3511208"/>
            <a:ext cx="487668" cy="304792"/>
          </a:xfrm>
          <a:prstGeom prst="rect">
            <a:avLst/>
          </a:prstGeom>
          <a:noFill/>
        </p:spPr>
        <p:txBody>
          <a:bodyPr wrap="none" lIns="0" tIns="0" rIns="0" bIns="0">
            <a:spAutoFit/>
          </a:bodyPr>
          <a:lstStyle/>
          <a:p>
            <a:pPr>
              <a:defRPr sz="746" b="0">
                <a:solidFill>
                  <a:srgbClr val="63705F"/>
                </a:solidFill>
                <a:latin typeface="DM Sans"/>
              </a:defRPr>
            </a:pPr>
            <a:r>
              <a:t>Review</a:t>
            </a:r>
          </a:p>
          <a:p>
            <a:pPr>
              <a:defRPr sz="746" b="0">
                <a:solidFill>
                  <a:srgbClr val="63705F"/>
                </a:solidFill>
                <a:latin typeface="DM Sans"/>
              </a:defRPr>
            </a:pPr>
            <a:r>
              <a:t>&amp; save</a:t>
            </a:r>
          </a:p>
        </p:txBody>
      </p:sp>
      <p:cxnSp>
        <p:nvCxnSpPr>
          <p:cNvPr id="76" name="Connector 75"/>
          <p:cNvCxnSpPr/>
          <p:nvPr/>
        </p:nvCxnSpPr>
        <p:spPr>
          <a:xfrm>
            <a:off x="8741460" y="4669419"/>
            <a:ext cx="487669" cy="0"/>
          </a:xfrm>
          <a:prstGeom prst="line">
            <a:avLst/>
          </a:prstGeom>
          <a:ln w="15875">
            <a:solidFill>
              <a:srgbClr val="244F41"/>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9229128" y="2956486"/>
            <a:ext cx="0" cy="1712933"/>
          </a:xfrm>
          <a:prstGeom prst="line">
            <a:avLst/>
          </a:prstGeom>
          <a:ln w="15875">
            <a:solidFill>
              <a:srgbClr val="244F41"/>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229128" y="2956486"/>
            <a:ext cx="213354" cy="0"/>
          </a:xfrm>
          <a:prstGeom prst="line">
            <a:avLst/>
          </a:prstGeom>
          <a:ln w="15875">
            <a:solidFill>
              <a:srgbClr val="244F41"/>
            </a:solidFill>
            <a:tailEnd type="triangle"/>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10265422" y="3084498"/>
            <a:ext cx="0" cy="1450813"/>
          </a:xfrm>
          <a:prstGeom prst="line">
            <a:avLst/>
          </a:prstGeom>
          <a:ln w="15875">
            <a:solidFill>
              <a:srgbClr val="244F41"/>
            </a:solidFill>
            <a:tailEnd type="triangle"/>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10265422" y="1798275"/>
            <a:ext cx="0" cy="664448"/>
          </a:xfrm>
          <a:prstGeom prst="line">
            <a:avLst/>
          </a:prstGeom>
          <a:ln w="15875">
            <a:solidFill>
              <a:srgbClr val="244F41"/>
            </a:solidFill>
            <a:tailEnd type="triangle"/>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908296" y="6193381"/>
            <a:ext cx="2438338" cy="204210"/>
          </a:xfrm>
          <a:prstGeom prst="rect">
            <a:avLst/>
          </a:prstGeom>
          <a:noFill/>
        </p:spPr>
        <p:txBody>
          <a:bodyPr wrap="none" lIns="0" tIns="0" rIns="0" bIns="0">
            <a:spAutoFit/>
          </a:bodyPr>
          <a:lstStyle/>
          <a:p>
            <a:pPr>
              <a:defRPr sz="906" b="1">
                <a:solidFill>
                  <a:srgbClr val="244F41"/>
                </a:solidFill>
                <a:latin typeface="DM Sans"/>
              </a:defRPr>
            </a:pPr>
            <a:r>
              <a:t>Solid arrows: data flow</a:t>
            </a:r>
          </a:p>
        </p:txBody>
      </p:sp>
      <p:sp>
        <p:nvSpPr>
          <p:cNvPr id="82" name="TextBox 81"/>
          <p:cNvSpPr txBox="1"/>
          <p:nvPr/>
        </p:nvSpPr>
        <p:spPr>
          <a:xfrm>
            <a:off x="3285677" y="6193381"/>
            <a:ext cx="2926006" cy="204210"/>
          </a:xfrm>
          <a:prstGeom prst="rect">
            <a:avLst/>
          </a:prstGeom>
          <a:noFill/>
        </p:spPr>
        <p:txBody>
          <a:bodyPr wrap="none" lIns="0" tIns="0" rIns="0" bIns="0">
            <a:spAutoFit/>
          </a:bodyPr>
          <a:lstStyle/>
          <a:p>
            <a:pPr>
              <a:defRPr sz="906" b="1">
                <a:solidFill>
                  <a:srgbClr val="244F41"/>
                </a:solidFill>
                <a:latin typeface="DM Sans"/>
              </a:defRPr>
            </a:pPr>
            <a:r>
              <a:t>Dashed arrows: user / control trigger</a:t>
            </a:r>
          </a:p>
        </p:txBody>
      </p:sp>
      <p:sp>
        <p:nvSpPr>
          <p:cNvPr id="83" name="TextBox 82"/>
          <p:cNvSpPr txBox="1"/>
          <p:nvPr/>
        </p:nvSpPr>
        <p:spPr>
          <a:xfrm>
            <a:off x="6638393" y="6193381"/>
            <a:ext cx="4754760" cy="204210"/>
          </a:xfrm>
          <a:prstGeom prst="rect">
            <a:avLst/>
          </a:prstGeom>
          <a:noFill/>
        </p:spPr>
        <p:txBody>
          <a:bodyPr wrap="none" lIns="0" tIns="0" rIns="0" bIns="0">
            <a:spAutoFit/>
          </a:bodyPr>
          <a:lstStyle/>
          <a:p>
            <a:pPr>
              <a:defRPr sz="906" b="1">
                <a:solidFill>
                  <a:srgbClr val="244F41"/>
                </a:solidFill>
                <a:latin typeface="DM Sans"/>
              </a:defRPr>
            </a:pPr>
            <a:r>
              <a:t>Recapture adds evidence and preserves saved labels.</a:t>
            </a:r>
          </a:p>
        </p:txBody>
      </p:sp>
      <p:sp>
        <p:nvSpPr>
          <p:cNvPr id="84" name="TextBox 83"/>
          <p:cNvSpPr txBox="1"/>
          <p:nvPr/>
        </p:nvSpPr>
        <p:spPr>
          <a:xfrm>
            <a:off x="908296" y="6437215"/>
            <a:ext cx="10362940" cy="176779"/>
          </a:xfrm>
          <a:prstGeom prst="rect">
            <a:avLst/>
          </a:prstGeom>
          <a:noFill/>
        </p:spPr>
        <p:txBody>
          <a:bodyPr wrap="none" lIns="0" tIns="0" rIns="0" bIns="0">
            <a:spAutoFit/>
          </a:bodyPr>
          <a:lstStyle/>
          <a:p>
            <a:pPr>
              <a:defRPr sz="746" b="0">
                <a:solidFill>
                  <a:srgbClr val="63705F"/>
                </a:solidFill>
                <a:latin typeface="DM Sans"/>
              </a:defRPr>
            </a:pPr>
            <a:r>
              <a:t>Code: api/scraping.py · services/collection.py · scraping/* · services/compare.py     |     24 September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6"/>
        </a:solidFill>
        <a:effectLst/>
      </p:bgPr>
    </p:bg>
    <p:spTree>
      <p:nvGrpSpPr>
        <p:cNvPr id="1" name=""/>
        <p:cNvGrpSpPr/>
        <p:nvPr/>
      </p:nvGrpSpPr>
      <p:grpSpPr/>
      <p:sp>
        <p:nvSpPr>
          <p:cNvPr id="2" name="TextBox 1"/>
          <p:cNvSpPr txBox="1"/>
          <p:nvPr/>
        </p:nvSpPr>
        <p:spPr>
          <a:xfrm>
            <a:off x="502920" y="256032"/>
            <a:ext cx="10972800" cy="228600"/>
          </a:xfrm>
          <a:prstGeom prst="rect">
            <a:avLst/>
          </a:prstGeom>
          <a:noFill/>
        </p:spPr>
        <p:txBody>
          <a:bodyPr wrap="square" lIns="0" rIns="0" tIns="0" bIns="0">
            <a:spAutoFit/>
          </a:bodyPr>
          <a:lstStyle/>
          <a:p>
            <a:pPr>
              <a:spcAft>
                <a:spcPts val="800"/>
              </a:spcAft>
              <a:defRPr sz="1000" b="1">
                <a:solidFill>
                  <a:srgbClr val="244F41"/>
                </a:solidFill>
                <a:latin typeface="Manrope"/>
              </a:defRPr>
            </a:pPr>
            <a:r>
              <a:t>05 / PIPELINE</a:t>
            </a:r>
          </a:p>
        </p:txBody>
      </p:sp>
      <p:sp>
        <p:nvSpPr>
          <p:cNvPr id="3" name="TextBox 2"/>
          <p:cNvSpPr txBox="1"/>
          <p:nvPr/>
        </p:nvSpPr>
        <p:spPr>
          <a:xfrm>
            <a:off x="502920" y="749808"/>
            <a:ext cx="11155680" cy="662940"/>
          </a:xfrm>
          <a:prstGeom prst="rect">
            <a:avLst/>
          </a:prstGeom>
          <a:noFill/>
        </p:spPr>
        <p:txBody>
          <a:bodyPr wrap="square" lIns="0" rIns="0" tIns="0" bIns="0">
            <a:spAutoFit/>
          </a:bodyPr>
          <a:lstStyle/>
          <a:p>
            <a:pPr>
              <a:spcAft>
                <a:spcPts val="800"/>
              </a:spcAft>
              <a:defRPr sz="2900" b="1">
                <a:solidFill>
                  <a:srgbClr val="182E26"/>
                </a:solidFill>
                <a:latin typeface="Manrope"/>
              </a:defRPr>
            </a:pPr>
            <a:r>
              <a:t>Three actions, chosen by source state</a:t>
            </a:r>
          </a:p>
        </p:txBody>
      </p:sp>
      <p:sp>
        <p:nvSpPr>
          <p:cNvPr id="4" name="TextBox 3"/>
          <p:cNvSpPr txBox="1"/>
          <p:nvPr/>
        </p:nvSpPr>
        <p:spPr>
          <a:xfrm>
            <a:off x="502920" y="1435608"/>
            <a:ext cx="11064240" cy="548640"/>
          </a:xfrm>
          <a:prstGeom prst="rect">
            <a:avLst/>
          </a:prstGeom>
          <a:noFill/>
        </p:spPr>
        <p:txBody>
          <a:bodyPr wrap="square" lIns="0" rIns="0" tIns="0" bIns="0">
            <a:spAutoFit/>
          </a:bodyPr>
          <a:lstStyle/>
          <a:p>
            <a:pPr>
              <a:spcAft>
                <a:spcPts val="800"/>
              </a:spcAft>
              <a:defRPr sz="1500" b="0">
                <a:solidFill>
                  <a:srgbClr val="63705F"/>
                </a:solidFill>
                <a:latin typeface="DM Sans"/>
              </a:defRPr>
            </a:pPr>
            <a:r>
              <a:t>Exact automatic support: bank + category + product + language.</a:t>
            </a:r>
          </a:p>
        </p:txBody>
      </p:sp>
      <p:sp>
        <p:nvSpPr>
          <p:cNvPr id="5" name="TextBox 4"/>
          <p:cNvSpPr txBox="1"/>
          <p:nvPr/>
        </p:nvSpPr>
        <p:spPr>
          <a:xfrm>
            <a:off x="502920" y="6437376"/>
            <a:ext cx="10607040" cy="210312"/>
          </a:xfrm>
          <a:prstGeom prst="rect">
            <a:avLst/>
          </a:prstGeom>
          <a:noFill/>
        </p:spPr>
        <p:txBody>
          <a:bodyPr wrap="square" lIns="0" rIns="0" tIns="0" bIns="0">
            <a:spAutoFit/>
          </a:bodyPr>
          <a:lstStyle/>
          <a:p>
            <a:pPr>
              <a:spcAft>
                <a:spcPts val="800"/>
              </a:spcAft>
              <a:defRPr sz="800" b="0">
                <a:solidFill>
                  <a:srgbClr val="63705F"/>
                </a:solidFill>
                <a:latin typeface="DM Sans"/>
              </a:defRPr>
            </a:pPr>
            <a:r>
              <a:t>scraping/dispatcher.py; scraping_config.py; services/collection.py; pages/Scraping.tsx</a:t>
            </a:r>
          </a:p>
        </p:txBody>
      </p:sp>
      <p:sp>
        <p:nvSpPr>
          <p:cNvPr id="6" name="TextBox 5"/>
          <p:cNvSpPr txBox="1"/>
          <p:nvPr/>
        </p:nvSpPr>
        <p:spPr>
          <a:xfrm>
            <a:off x="11064240" y="6419088"/>
            <a:ext cx="640080" cy="228600"/>
          </a:xfrm>
          <a:prstGeom prst="rect">
            <a:avLst/>
          </a:prstGeom>
          <a:noFill/>
        </p:spPr>
        <p:txBody>
          <a:bodyPr wrap="square" lIns="0" rIns="0" tIns="0" bIns="0">
            <a:spAutoFit/>
          </a:bodyPr>
          <a:lstStyle/>
          <a:p>
            <a:pPr>
              <a:spcAft>
                <a:spcPts val="800"/>
              </a:spcAft>
              <a:defRPr sz="1000" b="1">
                <a:solidFill>
                  <a:srgbClr val="244F41"/>
                </a:solidFill>
                <a:latin typeface="Manrope"/>
              </a:defRPr>
            </a:pPr>
            <a:r>
              <a:t>06</a:t>
            </a:r>
          </a:p>
        </p:txBody>
      </p:sp>
      <p:sp>
        <p:nvSpPr>
          <p:cNvPr id="7" name="Rounded Rectangle 6"/>
          <p:cNvSpPr/>
          <p:nvPr/>
        </p:nvSpPr>
        <p:spPr>
          <a:xfrm>
            <a:off x="502920" y="2057400"/>
            <a:ext cx="11155680" cy="594360"/>
          </a:xfrm>
          <a:prstGeom prst="roundRect">
            <a:avLst>
              <a:gd name="adj" fmla="val 8000"/>
            </a:avLst>
          </a:prstGeom>
          <a:solidFill>
            <a:srgbClr val="E8EFE8"/>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194560"/>
            <a:ext cx="10698480" cy="411479"/>
          </a:xfrm>
          <a:prstGeom prst="rect">
            <a:avLst/>
          </a:prstGeom>
          <a:noFill/>
        </p:spPr>
        <p:txBody>
          <a:bodyPr wrap="square" lIns="0" rIns="0" tIns="0" bIns="0">
            <a:spAutoFit/>
          </a:bodyPr>
          <a:lstStyle/>
          <a:p>
            <a:pPr>
              <a:spcAft>
                <a:spcPts val="800"/>
              </a:spcAft>
              <a:defRPr sz="1800" b="1">
                <a:solidFill>
                  <a:srgbClr val="244F41"/>
                </a:solidFill>
                <a:latin typeface="Manrope"/>
              </a:defRPr>
            </a:pPr>
            <a:r>
              <a:t>Product URL  →  Source in database  →  Successful capture already exists?</a:t>
            </a:r>
          </a:p>
        </p:txBody>
      </p:sp>
      <p:sp>
        <p:nvSpPr>
          <p:cNvPr id="9" name="Rounded Rectangle 8"/>
          <p:cNvSpPr/>
          <p:nvPr/>
        </p:nvSpPr>
        <p:spPr>
          <a:xfrm>
            <a:off x="502920" y="2971800"/>
            <a:ext cx="3566160" cy="164592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154680"/>
            <a:ext cx="3145536" cy="502920"/>
          </a:xfrm>
          <a:prstGeom prst="rect">
            <a:avLst/>
          </a:prstGeom>
          <a:noFill/>
        </p:spPr>
        <p:txBody>
          <a:bodyPr wrap="square" lIns="0" rIns="0" tIns="0" bIns="0">
            <a:spAutoFit/>
          </a:bodyPr>
          <a:lstStyle/>
          <a:p>
            <a:pPr>
              <a:spcAft>
                <a:spcPts val="800"/>
              </a:spcAft>
              <a:defRPr sz="1900" b="1">
                <a:solidFill>
                  <a:srgbClr val="244F41"/>
                </a:solidFill>
                <a:latin typeface="Manrope"/>
              </a:defRPr>
            </a:pPr>
            <a:r>
              <a:t>No + auto supported</a:t>
            </a:r>
          </a:p>
        </p:txBody>
      </p:sp>
      <p:sp>
        <p:nvSpPr>
          <p:cNvPr id="11" name="TextBox 10"/>
          <p:cNvSpPr txBox="1"/>
          <p:nvPr/>
        </p:nvSpPr>
        <p:spPr>
          <a:xfrm>
            <a:off x="713232" y="3794760"/>
            <a:ext cx="3145536" cy="713232"/>
          </a:xfrm>
          <a:prstGeom prst="rect">
            <a:avLst/>
          </a:prstGeom>
          <a:noFill/>
        </p:spPr>
        <p:txBody>
          <a:bodyPr wrap="square" lIns="0" rIns="0" tIns="0" bIns="0">
            <a:spAutoFit/>
          </a:bodyPr>
          <a:lstStyle/>
          <a:p>
            <a:pPr>
              <a:spcAft>
                <a:spcPts val="800"/>
              </a:spcAft>
              <a:defRPr sz="1600" b="0">
                <a:solidFill>
                  <a:srgbClr val="182E26"/>
                </a:solidFill>
                <a:latin typeface="DM Sans"/>
              </a:defRPr>
            </a:pPr>
            <a:r>
              <a:t>Scrape &amp; Auto-label</a:t>
            </a:r>
          </a:p>
          <a:p>
            <a:pPr>
              <a:spcAft>
                <a:spcPts val="800"/>
              </a:spcAft>
              <a:defRPr sz="1600" b="0">
                <a:solidFill>
                  <a:srgbClr val="182E26"/>
                </a:solidFill>
                <a:latin typeface="DM Sans"/>
              </a:defRPr>
            </a:pPr>
            <a:r>
              <a:t>Evidence + automatic draft</a:t>
            </a:r>
          </a:p>
        </p:txBody>
      </p:sp>
      <p:sp>
        <p:nvSpPr>
          <p:cNvPr id="12" name="Rounded Rectangle 11"/>
          <p:cNvSpPr/>
          <p:nvPr/>
        </p:nvSpPr>
        <p:spPr>
          <a:xfrm>
            <a:off x="4297680" y="2971800"/>
            <a:ext cx="3566160" cy="164592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07992" y="3154680"/>
            <a:ext cx="3145536" cy="502920"/>
          </a:xfrm>
          <a:prstGeom prst="rect">
            <a:avLst/>
          </a:prstGeom>
          <a:noFill/>
        </p:spPr>
        <p:txBody>
          <a:bodyPr wrap="square" lIns="0" rIns="0" tIns="0" bIns="0">
            <a:spAutoFit/>
          </a:bodyPr>
          <a:lstStyle/>
          <a:p>
            <a:pPr>
              <a:spcAft>
                <a:spcPts val="800"/>
              </a:spcAft>
              <a:defRPr sz="1900" b="1">
                <a:solidFill>
                  <a:srgbClr val="244F41"/>
                </a:solidFill>
                <a:latin typeface="Manrope"/>
              </a:defRPr>
            </a:pPr>
            <a:r>
              <a:t>No + no auto support</a:t>
            </a:r>
          </a:p>
        </p:txBody>
      </p:sp>
      <p:sp>
        <p:nvSpPr>
          <p:cNvPr id="14" name="TextBox 13"/>
          <p:cNvSpPr txBox="1"/>
          <p:nvPr/>
        </p:nvSpPr>
        <p:spPr>
          <a:xfrm>
            <a:off x="4507992" y="3794760"/>
            <a:ext cx="3145536" cy="713232"/>
          </a:xfrm>
          <a:prstGeom prst="rect">
            <a:avLst/>
          </a:prstGeom>
          <a:noFill/>
        </p:spPr>
        <p:txBody>
          <a:bodyPr wrap="square" lIns="0" rIns="0" tIns="0" bIns="0">
            <a:spAutoFit/>
          </a:bodyPr>
          <a:lstStyle/>
          <a:p>
            <a:pPr>
              <a:spcAft>
                <a:spcPts val="800"/>
              </a:spcAft>
              <a:defRPr sz="1600" b="0">
                <a:solidFill>
                  <a:srgbClr val="182E26"/>
                </a:solidFill>
                <a:latin typeface="DM Sans"/>
              </a:defRPr>
            </a:pPr>
            <a:r>
              <a:t>Capture page</a:t>
            </a:r>
          </a:p>
          <a:p>
            <a:pPr>
              <a:spcAft>
                <a:spcPts val="800"/>
              </a:spcAft>
              <a:defRPr sz="1600" b="0">
                <a:solidFill>
                  <a:srgbClr val="182E26"/>
                </a:solidFill>
                <a:latin typeface="DM Sans"/>
              </a:defRPr>
            </a:pPr>
            <a:r>
              <a:t>Evidence; labels stay manual</a:t>
            </a:r>
          </a:p>
        </p:txBody>
      </p:sp>
      <p:sp>
        <p:nvSpPr>
          <p:cNvPr id="15" name="Rounded Rectangle 14"/>
          <p:cNvSpPr/>
          <p:nvPr/>
        </p:nvSpPr>
        <p:spPr>
          <a:xfrm>
            <a:off x="8092440" y="2971800"/>
            <a:ext cx="3566160" cy="164592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2752" y="3154680"/>
            <a:ext cx="3145536" cy="502920"/>
          </a:xfrm>
          <a:prstGeom prst="rect">
            <a:avLst/>
          </a:prstGeom>
          <a:noFill/>
        </p:spPr>
        <p:txBody>
          <a:bodyPr wrap="square" lIns="0" rIns="0" tIns="0" bIns="0">
            <a:spAutoFit/>
          </a:bodyPr>
          <a:lstStyle/>
          <a:p>
            <a:pPr>
              <a:spcAft>
                <a:spcPts val="800"/>
              </a:spcAft>
              <a:defRPr sz="1900" b="1">
                <a:solidFill>
                  <a:srgbClr val="244F41"/>
                </a:solidFill>
                <a:latin typeface="Manrope"/>
              </a:defRPr>
            </a:pPr>
            <a:r>
              <a:t>Yes: already captured</a:t>
            </a:r>
          </a:p>
        </p:txBody>
      </p:sp>
      <p:sp>
        <p:nvSpPr>
          <p:cNvPr id="17" name="TextBox 16"/>
          <p:cNvSpPr txBox="1"/>
          <p:nvPr/>
        </p:nvSpPr>
        <p:spPr>
          <a:xfrm>
            <a:off x="8302752" y="3794760"/>
            <a:ext cx="3145536" cy="713232"/>
          </a:xfrm>
          <a:prstGeom prst="rect">
            <a:avLst/>
          </a:prstGeom>
          <a:noFill/>
        </p:spPr>
        <p:txBody>
          <a:bodyPr wrap="square" lIns="0" rIns="0" tIns="0" bIns="0">
            <a:spAutoFit/>
          </a:bodyPr>
          <a:lstStyle/>
          <a:p>
            <a:pPr>
              <a:spcAft>
                <a:spcPts val="800"/>
              </a:spcAft>
              <a:defRPr sz="1600" b="0">
                <a:solidFill>
                  <a:srgbClr val="182E26"/>
                </a:solidFill>
                <a:latin typeface="DM Sans"/>
              </a:defRPr>
            </a:pPr>
            <a:r>
              <a:t>Capture only</a:t>
            </a:r>
          </a:p>
          <a:p>
            <a:pPr>
              <a:spcAft>
                <a:spcPts val="800"/>
              </a:spcAft>
              <a:defRPr sz="1600" b="0">
                <a:solidFill>
                  <a:srgbClr val="182E26"/>
                </a:solidFill>
                <a:latin typeface="DM Sans"/>
              </a:defRPr>
            </a:pPr>
            <a:r>
              <a:t>New evidence; labels preserved</a:t>
            </a:r>
          </a:p>
        </p:txBody>
      </p:sp>
      <p:sp>
        <p:nvSpPr>
          <p:cNvPr id="18" name="TextBox 17"/>
          <p:cNvSpPr txBox="1"/>
          <p:nvPr/>
        </p:nvSpPr>
        <p:spPr>
          <a:xfrm>
            <a:off x="1965960" y="4727448"/>
            <a:ext cx="731520" cy="548640"/>
          </a:xfrm>
          <a:prstGeom prst="rect">
            <a:avLst/>
          </a:prstGeom>
          <a:noFill/>
        </p:spPr>
        <p:txBody>
          <a:bodyPr wrap="square" lIns="0" rIns="0" tIns="0" bIns="0">
            <a:spAutoFit/>
          </a:bodyPr>
          <a:lstStyle/>
          <a:p>
            <a:pPr>
              <a:spcAft>
                <a:spcPts val="800"/>
              </a:spcAft>
              <a:defRPr sz="2400" b="1">
                <a:solidFill>
                  <a:srgbClr val="244F41"/>
                </a:solidFill>
                <a:latin typeface="Manrope"/>
              </a:defRPr>
            </a:pPr>
            <a:r>
              <a:t>↓</a:t>
            </a:r>
          </a:p>
        </p:txBody>
      </p:sp>
      <p:sp>
        <p:nvSpPr>
          <p:cNvPr id="19" name="TextBox 18"/>
          <p:cNvSpPr txBox="1"/>
          <p:nvPr/>
        </p:nvSpPr>
        <p:spPr>
          <a:xfrm>
            <a:off x="5760720" y="4727448"/>
            <a:ext cx="731520" cy="548640"/>
          </a:xfrm>
          <a:prstGeom prst="rect">
            <a:avLst/>
          </a:prstGeom>
          <a:noFill/>
        </p:spPr>
        <p:txBody>
          <a:bodyPr wrap="square" lIns="0" rIns="0" tIns="0" bIns="0">
            <a:spAutoFit/>
          </a:bodyPr>
          <a:lstStyle/>
          <a:p>
            <a:pPr>
              <a:spcAft>
                <a:spcPts val="800"/>
              </a:spcAft>
              <a:defRPr sz="2400" b="1">
                <a:solidFill>
                  <a:srgbClr val="244F41"/>
                </a:solidFill>
                <a:latin typeface="Manrope"/>
              </a:defRPr>
            </a:pPr>
            <a:r>
              <a:t>↓</a:t>
            </a:r>
          </a:p>
        </p:txBody>
      </p:sp>
      <p:sp>
        <p:nvSpPr>
          <p:cNvPr id="20" name="TextBox 19"/>
          <p:cNvSpPr txBox="1"/>
          <p:nvPr/>
        </p:nvSpPr>
        <p:spPr>
          <a:xfrm>
            <a:off x="9601200" y="4727448"/>
            <a:ext cx="731520" cy="548640"/>
          </a:xfrm>
          <a:prstGeom prst="rect">
            <a:avLst/>
          </a:prstGeom>
          <a:noFill/>
        </p:spPr>
        <p:txBody>
          <a:bodyPr wrap="square" lIns="0" rIns="0" tIns="0" bIns="0">
            <a:spAutoFit/>
          </a:bodyPr>
          <a:lstStyle/>
          <a:p>
            <a:pPr>
              <a:spcAft>
                <a:spcPts val="800"/>
              </a:spcAft>
              <a:defRPr sz="2400" b="1">
                <a:solidFill>
                  <a:srgbClr val="244F41"/>
                </a:solidFill>
                <a:latin typeface="Manrope"/>
              </a:defRPr>
            </a:pPr>
            <a:r>
              <a:t>↓</a:t>
            </a:r>
          </a:p>
        </p:txBody>
      </p:sp>
      <p:sp>
        <p:nvSpPr>
          <p:cNvPr id="21" name="Rounded Rectangle 20"/>
          <p:cNvSpPr/>
          <p:nvPr/>
        </p:nvSpPr>
        <p:spPr>
          <a:xfrm>
            <a:off x="502920" y="5303520"/>
            <a:ext cx="11155680" cy="621792"/>
          </a:xfrm>
          <a:prstGeom prst="roundRect">
            <a:avLst>
              <a:gd name="adj" fmla="val 8000"/>
            </a:avLst>
          </a:prstGeom>
          <a:solidFill>
            <a:srgbClr val="244F41"/>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440680"/>
            <a:ext cx="10698480" cy="457200"/>
          </a:xfrm>
          <a:prstGeom prst="rect">
            <a:avLst/>
          </a:prstGeom>
          <a:noFill/>
        </p:spPr>
        <p:txBody>
          <a:bodyPr wrap="square" lIns="0" rIns="0" tIns="0" bIns="0">
            <a:spAutoFit/>
          </a:bodyPr>
          <a:lstStyle/>
          <a:p>
            <a:pPr>
              <a:spcAft>
                <a:spcPts val="800"/>
              </a:spcAft>
              <a:defRPr sz="2000" b="1">
                <a:solidFill>
                  <a:srgbClr val="FFFFFF"/>
                </a:solidFill>
                <a:latin typeface="Manrope"/>
              </a:defRPr>
            </a:pPr>
            <a:r>
              <a:t>PageCapture history  →  Human review  →  Saved features  →  Compare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6"/>
        </a:solidFill>
        <a:effectLst/>
      </p:bgPr>
    </p:bg>
    <p:spTree>
      <p:nvGrpSpPr>
        <p:cNvPr id="1" name=""/>
        <p:cNvGrpSpPr/>
        <p:nvPr/>
      </p:nvGrpSpPr>
      <p:grpSpPr/>
      <p:sp>
        <p:nvSpPr>
          <p:cNvPr id="2" name="TextBox 1"/>
          <p:cNvSpPr txBox="1"/>
          <p:nvPr/>
        </p:nvSpPr>
        <p:spPr>
          <a:xfrm>
            <a:off x="502920" y="256032"/>
            <a:ext cx="10972800" cy="228600"/>
          </a:xfrm>
          <a:prstGeom prst="rect">
            <a:avLst/>
          </a:prstGeom>
          <a:noFill/>
        </p:spPr>
        <p:txBody>
          <a:bodyPr wrap="square" lIns="0" rIns="0" tIns="0" bIns="0">
            <a:spAutoFit/>
          </a:bodyPr>
          <a:lstStyle/>
          <a:p>
            <a:pPr>
              <a:spcAft>
                <a:spcPts val="800"/>
              </a:spcAft>
              <a:defRPr sz="1000" b="1">
                <a:solidFill>
                  <a:srgbClr val="244F41"/>
                </a:solidFill>
                <a:latin typeface="Manrope"/>
              </a:defRPr>
            </a:pPr>
            <a:r>
              <a:t>06 / EVIDENCE COLLECTION</a:t>
            </a:r>
          </a:p>
        </p:txBody>
      </p:sp>
      <p:sp>
        <p:nvSpPr>
          <p:cNvPr id="3" name="TextBox 2"/>
          <p:cNvSpPr txBox="1"/>
          <p:nvPr/>
        </p:nvSpPr>
        <p:spPr>
          <a:xfrm>
            <a:off x="502920" y="749808"/>
            <a:ext cx="11155680" cy="662940"/>
          </a:xfrm>
          <a:prstGeom prst="rect">
            <a:avLst/>
          </a:prstGeom>
          <a:noFill/>
        </p:spPr>
        <p:txBody>
          <a:bodyPr wrap="square" lIns="0" rIns="0" tIns="0" bIns="0">
            <a:spAutoFit/>
          </a:bodyPr>
          <a:lstStyle/>
          <a:p>
            <a:pPr>
              <a:spcAft>
                <a:spcPts val="800"/>
              </a:spcAft>
              <a:defRPr sz="2900" b="1">
                <a:solidFill>
                  <a:srgbClr val="182E26"/>
                </a:solidFill>
                <a:latin typeface="Manrope"/>
              </a:defRPr>
            </a:pPr>
            <a:r>
              <a:t>Capture the page before analysing it</a:t>
            </a:r>
          </a:p>
        </p:txBody>
      </p:sp>
      <p:sp>
        <p:nvSpPr>
          <p:cNvPr id="4" name="TextBox 3"/>
          <p:cNvSpPr txBox="1"/>
          <p:nvPr/>
        </p:nvSpPr>
        <p:spPr>
          <a:xfrm>
            <a:off x="502920" y="1435608"/>
            <a:ext cx="11064240" cy="548640"/>
          </a:xfrm>
          <a:prstGeom prst="rect">
            <a:avLst/>
          </a:prstGeom>
          <a:noFill/>
        </p:spPr>
        <p:txBody>
          <a:bodyPr wrap="square" lIns="0" rIns="0" tIns="0" bIns="0">
            <a:spAutoFit/>
          </a:bodyPr>
          <a:lstStyle/>
          <a:p>
            <a:pPr>
              <a:spcAft>
                <a:spcPts val="800"/>
              </a:spcAft>
              <a:defRPr sz="1500" b="0">
                <a:solidFill>
                  <a:srgbClr val="63705F"/>
                </a:solidFill>
                <a:latin typeface="DM Sans"/>
              </a:defRPr>
            </a:pPr>
            <a:r>
              <a:t>Screenshot, DOM and extracted content stay available for review.</a:t>
            </a:r>
          </a:p>
        </p:txBody>
      </p:sp>
      <p:sp>
        <p:nvSpPr>
          <p:cNvPr id="5" name="TextBox 4"/>
          <p:cNvSpPr txBox="1"/>
          <p:nvPr/>
        </p:nvSpPr>
        <p:spPr>
          <a:xfrm>
            <a:off x="502920" y="6437376"/>
            <a:ext cx="10607040" cy="210312"/>
          </a:xfrm>
          <a:prstGeom prst="rect">
            <a:avLst/>
          </a:prstGeom>
          <a:noFill/>
        </p:spPr>
        <p:txBody>
          <a:bodyPr wrap="square" lIns="0" rIns="0" tIns="0" bIns="0">
            <a:spAutoFit/>
          </a:bodyPr>
          <a:lstStyle/>
          <a:p>
            <a:pPr>
              <a:spcAft>
                <a:spcPts val="800"/>
              </a:spcAft>
              <a:defRPr sz="800" b="0">
                <a:solidFill>
                  <a:srgbClr val="63705F"/>
                </a:solidFill>
                <a:latin typeface="DM Sans"/>
              </a:defRPr>
            </a:pPr>
            <a:r>
              <a:t>scraping/capture.py; page_scrapers.py; message_scraper.py; components/CaptureViewer.tsx</a:t>
            </a:r>
          </a:p>
        </p:txBody>
      </p:sp>
      <p:sp>
        <p:nvSpPr>
          <p:cNvPr id="6" name="TextBox 5"/>
          <p:cNvSpPr txBox="1"/>
          <p:nvPr/>
        </p:nvSpPr>
        <p:spPr>
          <a:xfrm>
            <a:off x="11064240" y="6419088"/>
            <a:ext cx="640080" cy="228600"/>
          </a:xfrm>
          <a:prstGeom prst="rect">
            <a:avLst/>
          </a:prstGeom>
          <a:noFill/>
        </p:spPr>
        <p:txBody>
          <a:bodyPr wrap="square" lIns="0" rIns="0" tIns="0" bIns="0">
            <a:spAutoFit/>
          </a:bodyPr>
          <a:lstStyle/>
          <a:p>
            <a:pPr>
              <a:spcAft>
                <a:spcPts val="800"/>
              </a:spcAft>
              <a:defRPr sz="1000" b="1">
                <a:solidFill>
                  <a:srgbClr val="244F41"/>
                </a:solidFill>
                <a:latin typeface="Manrope"/>
              </a:defRPr>
            </a:pPr>
            <a:r>
              <a:t>07</a:t>
            </a:r>
          </a:p>
        </p:txBody>
      </p:sp>
      <p:pic>
        <p:nvPicPr>
          <p:cNvPr id="7" name="Picture 6" descr="scraping.png"/>
          <p:cNvPicPr>
            <a:picLocks noChangeAspect="1"/>
          </p:cNvPicPr>
          <p:nvPr/>
        </p:nvPicPr>
        <p:blipFill>
          <a:blip r:embed="rId3"/>
          <a:stretch>
            <a:fillRect/>
          </a:stretch>
        </p:blipFill>
        <p:spPr>
          <a:xfrm>
            <a:off x="502920" y="2057400"/>
            <a:ext cx="6122822" cy="4251960"/>
          </a:xfrm>
          <a:prstGeom prst="rect">
            <a:avLst/>
          </a:prstGeom>
        </p:spPr>
      </p:pic>
      <p:sp>
        <p:nvSpPr>
          <p:cNvPr id="8" name="Rounded Rectangle 7"/>
          <p:cNvSpPr/>
          <p:nvPr/>
        </p:nvSpPr>
        <p:spPr>
          <a:xfrm>
            <a:off x="8641080" y="2286000"/>
            <a:ext cx="3017520" cy="361188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51392" y="2468880"/>
            <a:ext cx="2596896" cy="502920"/>
          </a:xfrm>
          <a:prstGeom prst="rect">
            <a:avLst/>
          </a:prstGeom>
          <a:noFill/>
        </p:spPr>
        <p:txBody>
          <a:bodyPr wrap="square" lIns="0" rIns="0" tIns="0" bIns="0">
            <a:spAutoFit/>
          </a:bodyPr>
          <a:lstStyle/>
          <a:p>
            <a:pPr>
              <a:spcAft>
                <a:spcPts val="800"/>
              </a:spcAft>
              <a:defRPr sz="1900" b="1">
                <a:solidFill>
                  <a:srgbClr val="244F41"/>
                </a:solidFill>
                <a:latin typeface="Manrope"/>
              </a:defRPr>
            </a:pPr>
            <a:r>
              <a:t>Evidence saved</a:t>
            </a:r>
          </a:p>
        </p:txBody>
      </p:sp>
      <p:sp>
        <p:nvSpPr>
          <p:cNvPr id="10" name="TextBox 9"/>
          <p:cNvSpPr txBox="1"/>
          <p:nvPr/>
        </p:nvSpPr>
        <p:spPr>
          <a:xfrm>
            <a:off x="8851392" y="3108960"/>
            <a:ext cx="2596896" cy="2679192"/>
          </a:xfrm>
          <a:prstGeom prst="rect">
            <a:avLst/>
          </a:prstGeom>
          <a:noFill/>
        </p:spPr>
        <p:txBody>
          <a:bodyPr wrap="square" lIns="0" rIns="0" tIns="0" bIns="0">
            <a:spAutoFit/>
          </a:bodyPr>
          <a:lstStyle/>
          <a:p>
            <a:pPr>
              <a:spcAft>
                <a:spcPts val="800"/>
              </a:spcAft>
              <a:defRPr sz="1600" b="0">
                <a:solidFill>
                  <a:srgbClr val="182E26"/>
                </a:solidFill>
                <a:latin typeface="DM Sans"/>
              </a:defRPr>
            </a:pPr>
            <a:r>
              <a:t>Full-page screenshot</a:t>
            </a:r>
          </a:p>
          <a:p>
            <a:pPr>
              <a:spcAft>
                <a:spcPts val="800"/>
              </a:spcAft>
              <a:defRPr sz="1600" b="0">
                <a:solidFill>
                  <a:srgbClr val="182E26"/>
                </a:solidFill>
                <a:latin typeface="DM Sans"/>
              </a:defRPr>
            </a:pPr>
            <a:r>
              <a:t>DOM / shadow-root data</a:t>
            </a:r>
          </a:p>
          <a:p>
            <a:pPr>
              <a:spcAft>
                <a:spcPts val="800"/>
              </a:spcAft>
              <a:defRPr sz="1600" b="0">
                <a:solidFill>
                  <a:srgbClr val="182E26"/>
                </a:solidFill>
                <a:latin typeface="DM Sans"/>
              </a:defRPr>
            </a:pPr>
            <a:r>
              <a:t>Text and headings</a:t>
            </a:r>
          </a:p>
          <a:p>
            <a:pPr>
              <a:spcAft>
                <a:spcPts val="800"/>
              </a:spcAft>
              <a:defRPr sz="1600" b="0">
                <a:solidFill>
                  <a:srgbClr val="182E26"/>
                </a:solidFill>
                <a:latin typeface="DM Sans"/>
              </a:defRPr>
            </a:pPr>
            <a:r>
              <a:t>Paragraphs, lists, tables</a:t>
            </a:r>
          </a:p>
          <a:p>
            <a:pPr>
              <a:spcAft>
                <a:spcPts val="800"/>
              </a:spcAft>
              <a:defRPr sz="1600" b="0">
                <a:solidFill>
                  <a:srgbClr val="182E26"/>
                </a:solidFill>
                <a:latin typeface="DM Sans"/>
              </a:defRPr>
            </a:pPr>
            <a:r>
              <a:t>Timestamp and warnings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6"/>
        </a:solidFill>
        <a:effectLst/>
      </p:bgPr>
    </p:bg>
    <p:spTree>
      <p:nvGrpSpPr>
        <p:cNvPr id="1" name=""/>
        <p:cNvGrpSpPr/>
        <p:nvPr/>
      </p:nvGrpSpPr>
      <p:grpSpPr/>
      <p:sp>
        <p:nvSpPr>
          <p:cNvPr id="2" name="TextBox 1"/>
          <p:cNvSpPr txBox="1"/>
          <p:nvPr/>
        </p:nvSpPr>
        <p:spPr>
          <a:xfrm>
            <a:off x="502920" y="256032"/>
            <a:ext cx="10972800" cy="228600"/>
          </a:xfrm>
          <a:prstGeom prst="rect">
            <a:avLst/>
          </a:prstGeom>
          <a:noFill/>
        </p:spPr>
        <p:txBody>
          <a:bodyPr wrap="square" lIns="0" rIns="0" tIns="0" bIns="0">
            <a:spAutoFit/>
          </a:bodyPr>
          <a:lstStyle/>
          <a:p>
            <a:pPr>
              <a:spcAft>
                <a:spcPts val="800"/>
              </a:spcAft>
              <a:defRPr sz="1000" b="1">
                <a:solidFill>
                  <a:srgbClr val="244F41"/>
                </a:solidFill>
                <a:latin typeface="Manrope"/>
              </a:defRPr>
            </a:pPr>
            <a:r>
              <a:t>07 / FEATURE FRAMEWORK</a:t>
            </a:r>
          </a:p>
        </p:txBody>
      </p:sp>
      <p:sp>
        <p:nvSpPr>
          <p:cNvPr id="3" name="TextBox 2"/>
          <p:cNvSpPr txBox="1"/>
          <p:nvPr/>
        </p:nvSpPr>
        <p:spPr>
          <a:xfrm>
            <a:off x="502920" y="749808"/>
            <a:ext cx="11155680" cy="662940"/>
          </a:xfrm>
          <a:prstGeom prst="rect">
            <a:avLst/>
          </a:prstGeom>
          <a:noFill/>
        </p:spPr>
        <p:txBody>
          <a:bodyPr wrap="square" lIns="0" rIns="0" tIns="0" bIns="0">
            <a:spAutoFit/>
          </a:bodyPr>
          <a:lstStyle/>
          <a:p>
            <a:pPr>
              <a:spcAft>
                <a:spcPts val="800"/>
              </a:spcAft>
              <a:defRPr sz="2900" b="1">
                <a:solidFill>
                  <a:srgbClr val="182E26"/>
                </a:solidFill>
                <a:latin typeface="Manrope"/>
              </a:defRPr>
            </a:pPr>
            <a:r>
              <a:t>68 fields across 8 analytical sections</a:t>
            </a:r>
          </a:p>
        </p:txBody>
      </p:sp>
      <p:sp>
        <p:nvSpPr>
          <p:cNvPr id="4" name="TextBox 3"/>
          <p:cNvSpPr txBox="1"/>
          <p:nvPr/>
        </p:nvSpPr>
        <p:spPr>
          <a:xfrm>
            <a:off x="502920" y="1435608"/>
            <a:ext cx="11064240" cy="548640"/>
          </a:xfrm>
          <a:prstGeom prst="rect">
            <a:avLst/>
          </a:prstGeom>
          <a:noFill/>
        </p:spPr>
        <p:txBody>
          <a:bodyPr wrap="square" lIns="0" rIns="0" tIns="0" bIns="0">
            <a:spAutoFit/>
          </a:bodyPr>
          <a:lstStyle/>
          <a:p>
            <a:pPr>
              <a:spcAft>
                <a:spcPts val="800"/>
              </a:spcAft>
              <a:defRPr sz="1500" b="0">
                <a:solidFill>
                  <a:srgbClr val="63705F"/>
                </a:solidFill>
                <a:latin typeface="DM Sans"/>
              </a:defRPr>
            </a:pPr>
            <a:r>
              <a:t>Plus campaign observations and labeling notes for research context.</a:t>
            </a:r>
          </a:p>
        </p:txBody>
      </p:sp>
      <p:sp>
        <p:nvSpPr>
          <p:cNvPr id="5" name="TextBox 4"/>
          <p:cNvSpPr txBox="1"/>
          <p:nvPr/>
        </p:nvSpPr>
        <p:spPr>
          <a:xfrm>
            <a:off x="502920" y="6437376"/>
            <a:ext cx="10607040" cy="210312"/>
          </a:xfrm>
          <a:prstGeom prst="rect">
            <a:avLst/>
          </a:prstGeom>
          <a:noFill/>
        </p:spPr>
        <p:txBody>
          <a:bodyPr wrap="square" lIns="0" rIns="0" tIns="0" bIns="0">
            <a:spAutoFit/>
          </a:bodyPr>
          <a:lstStyle/>
          <a:p>
            <a:pPr>
              <a:spcAft>
                <a:spcPts val="800"/>
              </a:spcAft>
              <a:defRPr sz="800" b="0">
                <a:solidFill>
                  <a:srgbClr val="63705F"/>
                </a:solidFill>
                <a:latin typeface="DM Sans"/>
              </a:defRPr>
            </a:pPr>
            <a:r>
              <a:t>frontend/src/api/features.ts; backend/app/schemas/features.py; pages/Label.tsx</a:t>
            </a:r>
          </a:p>
        </p:txBody>
      </p:sp>
      <p:sp>
        <p:nvSpPr>
          <p:cNvPr id="6" name="TextBox 5"/>
          <p:cNvSpPr txBox="1"/>
          <p:nvPr/>
        </p:nvSpPr>
        <p:spPr>
          <a:xfrm>
            <a:off x="11064240" y="6419088"/>
            <a:ext cx="640080" cy="228600"/>
          </a:xfrm>
          <a:prstGeom prst="rect">
            <a:avLst/>
          </a:prstGeom>
          <a:noFill/>
        </p:spPr>
        <p:txBody>
          <a:bodyPr wrap="square" lIns="0" rIns="0" tIns="0" bIns="0">
            <a:spAutoFit/>
          </a:bodyPr>
          <a:lstStyle/>
          <a:p>
            <a:pPr>
              <a:spcAft>
                <a:spcPts val="800"/>
              </a:spcAft>
              <a:defRPr sz="1000" b="1">
                <a:solidFill>
                  <a:srgbClr val="244F41"/>
                </a:solidFill>
                <a:latin typeface="Manrope"/>
              </a:defRPr>
            </a:pPr>
            <a:r>
              <a:t>08</a:t>
            </a:r>
          </a:p>
        </p:txBody>
      </p:sp>
      <p:sp>
        <p:nvSpPr>
          <p:cNvPr id="7" name="Rounded Rectangle 6"/>
          <p:cNvSpPr/>
          <p:nvPr/>
        </p:nvSpPr>
        <p:spPr>
          <a:xfrm>
            <a:off x="502920" y="2286000"/>
            <a:ext cx="2697480" cy="150876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414016"/>
            <a:ext cx="2377440" cy="251460"/>
          </a:xfrm>
          <a:prstGeom prst="rect">
            <a:avLst/>
          </a:prstGeom>
          <a:noFill/>
        </p:spPr>
        <p:txBody>
          <a:bodyPr wrap="square" lIns="0" rIns="0" tIns="0" bIns="0">
            <a:spAutoFit/>
          </a:bodyPr>
          <a:lstStyle/>
          <a:p>
            <a:pPr>
              <a:spcAft>
                <a:spcPts val="800"/>
              </a:spcAft>
              <a:defRPr sz="1100" b="1">
                <a:solidFill>
                  <a:srgbClr val="63705F"/>
                </a:solidFill>
                <a:latin typeface="Manrope"/>
              </a:defRPr>
            </a:pPr>
            <a:r>
              <a:t>01  /  4 fields</a:t>
            </a:r>
          </a:p>
        </p:txBody>
      </p:sp>
      <p:sp>
        <p:nvSpPr>
          <p:cNvPr id="9" name="TextBox 8"/>
          <p:cNvSpPr txBox="1"/>
          <p:nvPr/>
        </p:nvSpPr>
        <p:spPr>
          <a:xfrm>
            <a:off x="658368" y="2852928"/>
            <a:ext cx="2377440" cy="731520"/>
          </a:xfrm>
          <a:prstGeom prst="rect">
            <a:avLst/>
          </a:prstGeom>
          <a:noFill/>
        </p:spPr>
        <p:txBody>
          <a:bodyPr wrap="square" lIns="0" rIns="0" tIns="0" bIns="0">
            <a:spAutoFit/>
          </a:bodyPr>
          <a:lstStyle/>
          <a:p>
            <a:pPr>
              <a:spcAft>
                <a:spcPts val="800"/>
              </a:spcAft>
              <a:defRPr sz="1800" b="1">
                <a:solidFill>
                  <a:srgbClr val="244F41"/>
                </a:solidFill>
                <a:latin typeface="Manrope"/>
              </a:defRPr>
            </a:pPr>
            <a:r>
              <a:t>Identification &amp; Metadata</a:t>
            </a:r>
          </a:p>
        </p:txBody>
      </p:sp>
      <p:sp>
        <p:nvSpPr>
          <p:cNvPr id="10" name="Rounded Rectangle 9"/>
          <p:cNvSpPr/>
          <p:nvPr/>
        </p:nvSpPr>
        <p:spPr>
          <a:xfrm>
            <a:off x="3355848" y="2286000"/>
            <a:ext cx="2697480" cy="150876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11296" y="2414016"/>
            <a:ext cx="2377440" cy="251460"/>
          </a:xfrm>
          <a:prstGeom prst="rect">
            <a:avLst/>
          </a:prstGeom>
          <a:noFill/>
        </p:spPr>
        <p:txBody>
          <a:bodyPr wrap="square" lIns="0" rIns="0" tIns="0" bIns="0">
            <a:spAutoFit/>
          </a:bodyPr>
          <a:lstStyle/>
          <a:p>
            <a:pPr>
              <a:spcAft>
                <a:spcPts val="800"/>
              </a:spcAft>
              <a:defRPr sz="1100" b="1">
                <a:solidFill>
                  <a:srgbClr val="63705F"/>
                </a:solidFill>
                <a:latin typeface="Manrope"/>
              </a:defRPr>
            </a:pPr>
            <a:r>
              <a:t>02  /  9 fields</a:t>
            </a:r>
          </a:p>
        </p:txBody>
      </p:sp>
      <p:sp>
        <p:nvSpPr>
          <p:cNvPr id="12" name="TextBox 11"/>
          <p:cNvSpPr txBox="1"/>
          <p:nvPr/>
        </p:nvSpPr>
        <p:spPr>
          <a:xfrm>
            <a:off x="3511296" y="2852928"/>
            <a:ext cx="2377440" cy="731520"/>
          </a:xfrm>
          <a:prstGeom prst="rect">
            <a:avLst/>
          </a:prstGeom>
          <a:noFill/>
        </p:spPr>
        <p:txBody>
          <a:bodyPr wrap="square" lIns="0" rIns="0" tIns="0" bIns="0">
            <a:spAutoFit/>
          </a:bodyPr>
          <a:lstStyle/>
          <a:p>
            <a:pPr>
              <a:spcAft>
                <a:spcPts val="800"/>
              </a:spcAft>
              <a:defRPr sz="1800" b="1">
                <a:solidFill>
                  <a:srgbClr val="244F41"/>
                </a:solidFill>
                <a:latin typeface="Manrope"/>
              </a:defRPr>
            </a:pPr>
            <a:r>
              <a:t>Text &amp; Content</a:t>
            </a:r>
          </a:p>
        </p:txBody>
      </p:sp>
      <p:sp>
        <p:nvSpPr>
          <p:cNvPr id="13" name="Rounded Rectangle 12"/>
          <p:cNvSpPr/>
          <p:nvPr/>
        </p:nvSpPr>
        <p:spPr>
          <a:xfrm>
            <a:off x="6208776" y="2286000"/>
            <a:ext cx="2697480" cy="150876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4224" y="2414016"/>
            <a:ext cx="2377440" cy="251460"/>
          </a:xfrm>
          <a:prstGeom prst="rect">
            <a:avLst/>
          </a:prstGeom>
          <a:noFill/>
        </p:spPr>
        <p:txBody>
          <a:bodyPr wrap="square" lIns="0" rIns="0" tIns="0" bIns="0">
            <a:spAutoFit/>
          </a:bodyPr>
          <a:lstStyle/>
          <a:p>
            <a:pPr>
              <a:spcAft>
                <a:spcPts val="800"/>
              </a:spcAft>
              <a:defRPr sz="1100" b="1">
                <a:solidFill>
                  <a:srgbClr val="63705F"/>
                </a:solidFill>
                <a:latin typeface="Manrope"/>
              </a:defRPr>
            </a:pPr>
            <a:r>
              <a:t>03  /  9 fields</a:t>
            </a:r>
          </a:p>
        </p:txBody>
      </p:sp>
      <p:sp>
        <p:nvSpPr>
          <p:cNvPr id="15" name="TextBox 14"/>
          <p:cNvSpPr txBox="1"/>
          <p:nvPr/>
        </p:nvSpPr>
        <p:spPr>
          <a:xfrm>
            <a:off x="6364224" y="2852928"/>
            <a:ext cx="2377440" cy="731520"/>
          </a:xfrm>
          <a:prstGeom prst="rect">
            <a:avLst/>
          </a:prstGeom>
          <a:noFill/>
        </p:spPr>
        <p:txBody>
          <a:bodyPr wrap="square" lIns="0" rIns="0" tIns="0" bIns="0">
            <a:spAutoFit/>
          </a:bodyPr>
          <a:lstStyle/>
          <a:p>
            <a:pPr>
              <a:spcAft>
                <a:spcPts val="800"/>
              </a:spcAft>
              <a:defRPr sz="1800" b="1">
                <a:solidFill>
                  <a:srgbClr val="244F41"/>
                </a:solidFill>
                <a:latin typeface="Manrope"/>
              </a:defRPr>
            </a:pPr>
            <a:r>
              <a:t>Messaging &amp; Tone</a:t>
            </a:r>
          </a:p>
        </p:txBody>
      </p:sp>
      <p:sp>
        <p:nvSpPr>
          <p:cNvPr id="16" name="Rounded Rectangle 15"/>
          <p:cNvSpPr/>
          <p:nvPr/>
        </p:nvSpPr>
        <p:spPr>
          <a:xfrm>
            <a:off x="9061704" y="2286000"/>
            <a:ext cx="2697480" cy="150876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17152" y="2414016"/>
            <a:ext cx="2377440" cy="251460"/>
          </a:xfrm>
          <a:prstGeom prst="rect">
            <a:avLst/>
          </a:prstGeom>
          <a:noFill/>
        </p:spPr>
        <p:txBody>
          <a:bodyPr wrap="square" lIns="0" rIns="0" tIns="0" bIns="0">
            <a:spAutoFit/>
          </a:bodyPr>
          <a:lstStyle/>
          <a:p>
            <a:pPr>
              <a:spcAft>
                <a:spcPts val="800"/>
              </a:spcAft>
              <a:defRPr sz="1100" b="1">
                <a:solidFill>
                  <a:srgbClr val="63705F"/>
                </a:solidFill>
                <a:latin typeface="Manrope"/>
              </a:defRPr>
            </a:pPr>
            <a:r>
              <a:t>04  /  12 fields</a:t>
            </a:r>
          </a:p>
        </p:txBody>
      </p:sp>
      <p:sp>
        <p:nvSpPr>
          <p:cNvPr id="18" name="TextBox 17"/>
          <p:cNvSpPr txBox="1"/>
          <p:nvPr/>
        </p:nvSpPr>
        <p:spPr>
          <a:xfrm>
            <a:off x="9217152" y="2852928"/>
            <a:ext cx="2377440" cy="731520"/>
          </a:xfrm>
          <a:prstGeom prst="rect">
            <a:avLst/>
          </a:prstGeom>
          <a:noFill/>
        </p:spPr>
        <p:txBody>
          <a:bodyPr wrap="square" lIns="0" rIns="0" tIns="0" bIns="0">
            <a:spAutoFit/>
          </a:bodyPr>
          <a:lstStyle/>
          <a:p>
            <a:pPr>
              <a:spcAft>
                <a:spcPts val="800"/>
              </a:spcAft>
              <a:defRPr sz="1800" b="1">
                <a:solidFill>
                  <a:srgbClr val="244F41"/>
                </a:solidFill>
                <a:latin typeface="Manrope"/>
              </a:defRPr>
            </a:pPr>
            <a:r>
              <a:t>Images &amp; Visuals</a:t>
            </a:r>
          </a:p>
        </p:txBody>
      </p:sp>
      <p:sp>
        <p:nvSpPr>
          <p:cNvPr id="19" name="Rounded Rectangle 18"/>
          <p:cNvSpPr/>
          <p:nvPr/>
        </p:nvSpPr>
        <p:spPr>
          <a:xfrm>
            <a:off x="502920" y="4023360"/>
            <a:ext cx="2697480" cy="150876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4151376"/>
            <a:ext cx="2377440" cy="251460"/>
          </a:xfrm>
          <a:prstGeom prst="rect">
            <a:avLst/>
          </a:prstGeom>
          <a:noFill/>
        </p:spPr>
        <p:txBody>
          <a:bodyPr wrap="square" lIns="0" rIns="0" tIns="0" bIns="0">
            <a:spAutoFit/>
          </a:bodyPr>
          <a:lstStyle/>
          <a:p>
            <a:pPr>
              <a:spcAft>
                <a:spcPts val="800"/>
              </a:spcAft>
              <a:defRPr sz="1100" b="1">
                <a:solidFill>
                  <a:srgbClr val="63705F"/>
                </a:solidFill>
                <a:latin typeface="Manrope"/>
              </a:defRPr>
            </a:pPr>
            <a:r>
              <a:t>05  /  7 fields</a:t>
            </a:r>
          </a:p>
        </p:txBody>
      </p:sp>
      <p:sp>
        <p:nvSpPr>
          <p:cNvPr id="21" name="TextBox 20"/>
          <p:cNvSpPr txBox="1"/>
          <p:nvPr/>
        </p:nvSpPr>
        <p:spPr>
          <a:xfrm>
            <a:off x="658368" y="4590288"/>
            <a:ext cx="2377440" cy="731520"/>
          </a:xfrm>
          <a:prstGeom prst="rect">
            <a:avLst/>
          </a:prstGeom>
          <a:noFill/>
        </p:spPr>
        <p:txBody>
          <a:bodyPr wrap="square" lIns="0" rIns="0" tIns="0" bIns="0">
            <a:spAutoFit/>
          </a:bodyPr>
          <a:lstStyle/>
          <a:p>
            <a:pPr>
              <a:spcAft>
                <a:spcPts val="800"/>
              </a:spcAft>
              <a:defRPr sz="1800" b="1">
                <a:solidFill>
                  <a:srgbClr val="244F41"/>
                </a:solidFill>
                <a:latin typeface="Manrope"/>
              </a:defRPr>
            </a:pPr>
            <a:r>
              <a:t>Colour &amp; Design</a:t>
            </a:r>
          </a:p>
        </p:txBody>
      </p:sp>
      <p:sp>
        <p:nvSpPr>
          <p:cNvPr id="22" name="Rounded Rectangle 21"/>
          <p:cNvSpPr/>
          <p:nvPr/>
        </p:nvSpPr>
        <p:spPr>
          <a:xfrm>
            <a:off x="3355848" y="4023360"/>
            <a:ext cx="2697480" cy="150876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11296" y="4151376"/>
            <a:ext cx="2377440" cy="251460"/>
          </a:xfrm>
          <a:prstGeom prst="rect">
            <a:avLst/>
          </a:prstGeom>
          <a:noFill/>
        </p:spPr>
        <p:txBody>
          <a:bodyPr wrap="square" lIns="0" rIns="0" tIns="0" bIns="0">
            <a:spAutoFit/>
          </a:bodyPr>
          <a:lstStyle/>
          <a:p>
            <a:pPr>
              <a:spcAft>
                <a:spcPts val="800"/>
              </a:spcAft>
              <a:defRPr sz="1100" b="1">
                <a:solidFill>
                  <a:srgbClr val="63705F"/>
                </a:solidFill>
                <a:latin typeface="Manrope"/>
              </a:defRPr>
            </a:pPr>
            <a:r>
              <a:t>06  /  10 fields</a:t>
            </a:r>
          </a:p>
        </p:txBody>
      </p:sp>
      <p:sp>
        <p:nvSpPr>
          <p:cNvPr id="24" name="TextBox 23"/>
          <p:cNvSpPr txBox="1"/>
          <p:nvPr/>
        </p:nvSpPr>
        <p:spPr>
          <a:xfrm>
            <a:off x="3511296" y="4590288"/>
            <a:ext cx="2377440" cy="731520"/>
          </a:xfrm>
          <a:prstGeom prst="rect">
            <a:avLst/>
          </a:prstGeom>
          <a:noFill/>
        </p:spPr>
        <p:txBody>
          <a:bodyPr wrap="square" lIns="0" rIns="0" tIns="0" bIns="0">
            <a:spAutoFit/>
          </a:bodyPr>
          <a:lstStyle/>
          <a:p>
            <a:pPr>
              <a:spcAft>
                <a:spcPts val="800"/>
              </a:spcAft>
              <a:defRPr sz="1800" b="1">
                <a:solidFill>
                  <a:srgbClr val="244F41"/>
                </a:solidFill>
                <a:latin typeface="Manrope"/>
              </a:defRPr>
            </a:pPr>
            <a:r>
              <a:t>Layout &amp; Page Structure</a:t>
            </a:r>
          </a:p>
        </p:txBody>
      </p:sp>
      <p:sp>
        <p:nvSpPr>
          <p:cNvPr id="25" name="Rounded Rectangle 24"/>
          <p:cNvSpPr/>
          <p:nvPr/>
        </p:nvSpPr>
        <p:spPr>
          <a:xfrm>
            <a:off x="6208776" y="4023360"/>
            <a:ext cx="2697480" cy="150876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4151376"/>
            <a:ext cx="2377440" cy="251460"/>
          </a:xfrm>
          <a:prstGeom prst="rect">
            <a:avLst/>
          </a:prstGeom>
          <a:noFill/>
        </p:spPr>
        <p:txBody>
          <a:bodyPr wrap="square" lIns="0" rIns="0" tIns="0" bIns="0">
            <a:spAutoFit/>
          </a:bodyPr>
          <a:lstStyle/>
          <a:p>
            <a:pPr>
              <a:spcAft>
                <a:spcPts val="800"/>
              </a:spcAft>
              <a:defRPr sz="1100" b="1">
                <a:solidFill>
                  <a:srgbClr val="63705F"/>
                </a:solidFill>
                <a:latin typeface="Manrope"/>
              </a:defRPr>
            </a:pPr>
            <a:r>
              <a:t>07  /  6 fields</a:t>
            </a:r>
          </a:p>
        </p:txBody>
      </p:sp>
      <p:sp>
        <p:nvSpPr>
          <p:cNvPr id="27" name="TextBox 26"/>
          <p:cNvSpPr txBox="1"/>
          <p:nvPr/>
        </p:nvSpPr>
        <p:spPr>
          <a:xfrm>
            <a:off x="6364224" y="4590288"/>
            <a:ext cx="2377440" cy="731520"/>
          </a:xfrm>
          <a:prstGeom prst="rect">
            <a:avLst/>
          </a:prstGeom>
          <a:noFill/>
        </p:spPr>
        <p:txBody>
          <a:bodyPr wrap="square" lIns="0" rIns="0" tIns="0" bIns="0">
            <a:spAutoFit/>
          </a:bodyPr>
          <a:lstStyle/>
          <a:p>
            <a:pPr>
              <a:spcAft>
                <a:spcPts val="800"/>
              </a:spcAft>
              <a:defRPr sz="1800" b="1">
                <a:solidFill>
                  <a:srgbClr val="244F41"/>
                </a:solidFill>
                <a:latin typeface="Manrope"/>
              </a:defRPr>
            </a:pPr>
            <a:r>
              <a:t>Call to Action</a:t>
            </a:r>
          </a:p>
        </p:txBody>
      </p:sp>
      <p:sp>
        <p:nvSpPr>
          <p:cNvPr id="28" name="Rounded Rectangle 27"/>
          <p:cNvSpPr/>
          <p:nvPr/>
        </p:nvSpPr>
        <p:spPr>
          <a:xfrm>
            <a:off x="9061704" y="4023360"/>
            <a:ext cx="2697480" cy="150876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17152" y="4151376"/>
            <a:ext cx="2377440" cy="251460"/>
          </a:xfrm>
          <a:prstGeom prst="rect">
            <a:avLst/>
          </a:prstGeom>
          <a:noFill/>
        </p:spPr>
        <p:txBody>
          <a:bodyPr wrap="square" lIns="0" rIns="0" tIns="0" bIns="0">
            <a:spAutoFit/>
          </a:bodyPr>
          <a:lstStyle/>
          <a:p>
            <a:pPr>
              <a:spcAft>
                <a:spcPts val="800"/>
              </a:spcAft>
              <a:defRPr sz="1100" b="1">
                <a:solidFill>
                  <a:srgbClr val="63705F"/>
                </a:solidFill>
                <a:latin typeface="Manrope"/>
              </a:defRPr>
            </a:pPr>
            <a:r>
              <a:t>08  /  11 fields</a:t>
            </a:r>
          </a:p>
        </p:txBody>
      </p:sp>
      <p:sp>
        <p:nvSpPr>
          <p:cNvPr id="30" name="TextBox 29"/>
          <p:cNvSpPr txBox="1"/>
          <p:nvPr/>
        </p:nvSpPr>
        <p:spPr>
          <a:xfrm>
            <a:off x="9217152" y="4590288"/>
            <a:ext cx="2377440" cy="731520"/>
          </a:xfrm>
          <a:prstGeom prst="rect">
            <a:avLst/>
          </a:prstGeom>
          <a:noFill/>
        </p:spPr>
        <p:txBody>
          <a:bodyPr wrap="square" lIns="0" rIns="0" tIns="0" bIns="0">
            <a:spAutoFit/>
          </a:bodyPr>
          <a:lstStyle/>
          <a:p>
            <a:pPr>
              <a:spcAft>
                <a:spcPts val="800"/>
              </a:spcAft>
              <a:defRPr sz="1800" b="1">
                <a:solidFill>
                  <a:srgbClr val="244F41"/>
                </a:solidFill>
                <a:latin typeface="Manrope"/>
              </a:defRPr>
            </a:pPr>
            <a:r>
              <a:t>Product &amp; Value Proposition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6"/>
        </a:solidFill>
        <a:effectLst/>
      </p:bgPr>
    </p:bg>
    <p:spTree>
      <p:nvGrpSpPr>
        <p:cNvPr id="1" name=""/>
        <p:cNvGrpSpPr/>
        <p:nvPr/>
      </p:nvGrpSpPr>
      <p:grpSpPr/>
      <p:sp>
        <p:nvSpPr>
          <p:cNvPr id="2" name="TextBox 1"/>
          <p:cNvSpPr txBox="1"/>
          <p:nvPr/>
        </p:nvSpPr>
        <p:spPr>
          <a:xfrm>
            <a:off x="502920" y="256032"/>
            <a:ext cx="10972800" cy="228600"/>
          </a:xfrm>
          <a:prstGeom prst="rect">
            <a:avLst/>
          </a:prstGeom>
          <a:noFill/>
        </p:spPr>
        <p:txBody>
          <a:bodyPr wrap="square" lIns="0" rIns="0" tIns="0" bIns="0">
            <a:spAutoFit/>
          </a:bodyPr>
          <a:lstStyle/>
          <a:p>
            <a:pPr>
              <a:spcAft>
                <a:spcPts val="800"/>
              </a:spcAft>
              <a:defRPr sz="1000" b="1">
                <a:solidFill>
                  <a:srgbClr val="244F41"/>
                </a:solidFill>
                <a:latin typeface="Manrope"/>
              </a:defRPr>
            </a:pPr>
            <a:r>
              <a:t>08 / AUTOMATED ASSISTANCE</a:t>
            </a:r>
          </a:p>
        </p:txBody>
      </p:sp>
      <p:sp>
        <p:nvSpPr>
          <p:cNvPr id="3" name="TextBox 2"/>
          <p:cNvSpPr txBox="1"/>
          <p:nvPr/>
        </p:nvSpPr>
        <p:spPr>
          <a:xfrm>
            <a:off x="502920" y="749808"/>
            <a:ext cx="11155680" cy="662940"/>
          </a:xfrm>
          <a:prstGeom prst="rect">
            <a:avLst/>
          </a:prstGeom>
          <a:noFill/>
        </p:spPr>
        <p:txBody>
          <a:bodyPr wrap="square" lIns="0" rIns="0" tIns="0" bIns="0">
            <a:spAutoFit/>
          </a:bodyPr>
          <a:lstStyle/>
          <a:p>
            <a:pPr>
              <a:spcAft>
                <a:spcPts val="800"/>
              </a:spcAft>
              <a:defRPr sz="2900" b="1">
                <a:solidFill>
                  <a:srgbClr val="182E26"/>
                </a:solidFill>
                <a:latin typeface="Manrope"/>
              </a:defRPr>
            </a:pPr>
            <a:r>
              <a:t>Measurements and heuristics produce a draft</a:t>
            </a:r>
          </a:p>
        </p:txBody>
      </p:sp>
      <p:sp>
        <p:nvSpPr>
          <p:cNvPr id="4" name="TextBox 3"/>
          <p:cNvSpPr txBox="1"/>
          <p:nvPr/>
        </p:nvSpPr>
        <p:spPr>
          <a:xfrm>
            <a:off x="502920" y="1435608"/>
            <a:ext cx="11064240" cy="548640"/>
          </a:xfrm>
          <a:prstGeom prst="rect">
            <a:avLst/>
          </a:prstGeom>
          <a:noFill/>
        </p:spPr>
        <p:txBody>
          <a:bodyPr wrap="square" lIns="0" rIns="0" tIns="0" bIns="0">
            <a:spAutoFit/>
          </a:bodyPr>
          <a:lstStyle/>
          <a:p>
            <a:pPr>
              <a:spcAft>
                <a:spcPts val="800"/>
              </a:spcAft>
              <a:defRPr sz="1500" b="0">
                <a:solidFill>
                  <a:srgbClr val="63705F"/>
                </a:solidFill>
                <a:latin typeface="DM Sans"/>
              </a:defRPr>
            </a:pPr>
            <a:r>
              <a:t>Automation supports reviewers; it does not determine effectiveness.</a:t>
            </a:r>
          </a:p>
        </p:txBody>
      </p:sp>
      <p:sp>
        <p:nvSpPr>
          <p:cNvPr id="5" name="TextBox 4"/>
          <p:cNvSpPr txBox="1"/>
          <p:nvPr/>
        </p:nvSpPr>
        <p:spPr>
          <a:xfrm>
            <a:off x="502920" y="6437376"/>
            <a:ext cx="10607040" cy="210312"/>
          </a:xfrm>
          <a:prstGeom prst="rect">
            <a:avLst/>
          </a:prstGeom>
          <a:noFill/>
        </p:spPr>
        <p:txBody>
          <a:bodyPr wrap="square" lIns="0" rIns="0" tIns="0" bIns="0">
            <a:spAutoFit/>
          </a:bodyPr>
          <a:lstStyle/>
          <a:p>
            <a:pPr>
              <a:spcAft>
                <a:spcPts val="800"/>
              </a:spcAft>
              <a:defRPr sz="800" b="0">
                <a:solidFill>
                  <a:srgbClr val="63705F"/>
                </a:solidFill>
                <a:latin typeface="DM Sans"/>
              </a:defRPr>
            </a:pPr>
            <a:r>
              <a:t>feature_labels.py; message_analysis.py; message_analysis_config.py; cta_analysis.py</a:t>
            </a:r>
          </a:p>
        </p:txBody>
      </p:sp>
      <p:sp>
        <p:nvSpPr>
          <p:cNvPr id="6" name="TextBox 5"/>
          <p:cNvSpPr txBox="1"/>
          <p:nvPr/>
        </p:nvSpPr>
        <p:spPr>
          <a:xfrm>
            <a:off x="11064240" y="6419088"/>
            <a:ext cx="640080" cy="228600"/>
          </a:xfrm>
          <a:prstGeom prst="rect">
            <a:avLst/>
          </a:prstGeom>
          <a:noFill/>
        </p:spPr>
        <p:txBody>
          <a:bodyPr wrap="square" lIns="0" rIns="0" tIns="0" bIns="0">
            <a:spAutoFit/>
          </a:bodyPr>
          <a:lstStyle/>
          <a:p>
            <a:pPr>
              <a:spcAft>
                <a:spcPts val="800"/>
              </a:spcAft>
              <a:defRPr sz="1000" b="1">
                <a:solidFill>
                  <a:srgbClr val="244F41"/>
                </a:solidFill>
                <a:latin typeface="Manrope"/>
              </a:defRPr>
            </a:pPr>
            <a:r>
              <a:t>09</a:t>
            </a:r>
          </a:p>
        </p:txBody>
      </p:sp>
      <p:sp>
        <p:nvSpPr>
          <p:cNvPr id="7" name="Rounded Rectangle 6"/>
          <p:cNvSpPr/>
          <p:nvPr/>
        </p:nvSpPr>
        <p:spPr>
          <a:xfrm>
            <a:off x="502920" y="2286000"/>
            <a:ext cx="3566160" cy="347472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2468880"/>
            <a:ext cx="3145536" cy="502920"/>
          </a:xfrm>
          <a:prstGeom prst="rect">
            <a:avLst/>
          </a:prstGeom>
          <a:noFill/>
        </p:spPr>
        <p:txBody>
          <a:bodyPr wrap="square" lIns="0" rIns="0" tIns="0" bIns="0">
            <a:spAutoFit/>
          </a:bodyPr>
          <a:lstStyle/>
          <a:p>
            <a:pPr>
              <a:spcAft>
                <a:spcPts val="800"/>
              </a:spcAft>
              <a:defRPr sz="1900" b="1">
                <a:solidFill>
                  <a:srgbClr val="244F41"/>
                </a:solidFill>
                <a:latin typeface="Manrope"/>
              </a:defRPr>
            </a:pPr>
            <a:r>
              <a:t>Text measurements</a:t>
            </a:r>
          </a:p>
        </p:txBody>
      </p:sp>
      <p:sp>
        <p:nvSpPr>
          <p:cNvPr id="9" name="TextBox 8"/>
          <p:cNvSpPr txBox="1"/>
          <p:nvPr/>
        </p:nvSpPr>
        <p:spPr>
          <a:xfrm>
            <a:off x="713232" y="3108960"/>
            <a:ext cx="3145536" cy="2542032"/>
          </a:xfrm>
          <a:prstGeom prst="rect">
            <a:avLst/>
          </a:prstGeom>
          <a:noFill/>
        </p:spPr>
        <p:txBody>
          <a:bodyPr wrap="square" lIns="0" rIns="0" tIns="0" bIns="0">
            <a:spAutoFit/>
          </a:bodyPr>
          <a:lstStyle/>
          <a:p>
            <a:pPr>
              <a:spcAft>
                <a:spcPts val="800"/>
              </a:spcAft>
              <a:defRPr sz="1600" b="0">
                <a:solidFill>
                  <a:srgbClr val="182E26"/>
                </a:solidFill>
                <a:latin typeface="DM Sans"/>
              </a:defRPr>
            </a:pPr>
            <a:r>
              <a:t>Word and heading counts</a:t>
            </a:r>
          </a:p>
          <a:p>
            <a:pPr>
              <a:spcAft>
                <a:spcPts val="800"/>
              </a:spcAft>
              <a:defRPr sz="1600" b="0">
                <a:solidFill>
                  <a:srgbClr val="182E26"/>
                </a:solidFill>
                <a:latin typeface="DM Sans"/>
              </a:defRPr>
            </a:pPr>
            <a:r>
              <a:t>Paragraph and bullet counts</a:t>
            </a:r>
          </a:p>
          <a:p>
            <a:pPr>
              <a:spcAft>
                <a:spcPts val="800"/>
              </a:spcAft>
              <a:defRPr sz="1600" b="0">
                <a:solidFill>
                  <a:srgbClr val="182E26"/>
                </a:solidFill>
                <a:latin typeface="DM Sans"/>
              </a:defRPr>
            </a:pPr>
            <a:r>
              <a:t>Headline length</a:t>
            </a:r>
          </a:p>
          <a:p>
            <a:pPr>
              <a:spcAft>
                <a:spcPts val="800"/>
              </a:spcAft>
              <a:defRPr sz="1600" b="0">
                <a:solidFill>
                  <a:srgbClr val="182E26"/>
                </a:solidFill>
                <a:latin typeface="DM Sans"/>
              </a:defRPr>
            </a:pPr>
            <a:r>
              <a:t>Case-specific text heuristics</a:t>
            </a:r>
          </a:p>
        </p:txBody>
      </p:sp>
      <p:sp>
        <p:nvSpPr>
          <p:cNvPr id="10" name="Rounded Rectangle 9"/>
          <p:cNvSpPr/>
          <p:nvPr/>
        </p:nvSpPr>
        <p:spPr>
          <a:xfrm>
            <a:off x="4297680" y="2286000"/>
            <a:ext cx="3566160" cy="347472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7992" y="2468880"/>
            <a:ext cx="3145536" cy="502920"/>
          </a:xfrm>
          <a:prstGeom prst="rect">
            <a:avLst/>
          </a:prstGeom>
          <a:noFill/>
        </p:spPr>
        <p:txBody>
          <a:bodyPr wrap="square" lIns="0" rIns="0" tIns="0" bIns="0">
            <a:spAutoFit/>
          </a:bodyPr>
          <a:lstStyle/>
          <a:p>
            <a:pPr>
              <a:spcAft>
                <a:spcPts val="800"/>
              </a:spcAft>
              <a:defRPr sz="1900" b="1">
                <a:solidFill>
                  <a:srgbClr val="244F41"/>
                </a:solidFill>
                <a:latin typeface="Manrope"/>
              </a:defRPr>
            </a:pPr>
            <a:r>
              <a:t>Message and tone</a:t>
            </a:r>
          </a:p>
        </p:txBody>
      </p:sp>
      <p:sp>
        <p:nvSpPr>
          <p:cNvPr id="12" name="TextBox 11"/>
          <p:cNvSpPr txBox="1"/>
          <p:nvPr/>
        </p:nvSpPr>
        <p:spPr>
          <a:xfrm>
            <a:off x="4507992" y="3108960"/>
            <a:ext cx="3145536" cy="2542032"/>
          </a:xfrm>
          <a:prstGeom prst="rect">
            <a:avLst/>
          </a:prstGeom>
          <a:noFill/>
        </p:spPr>
        <p:txBody>
          <a:bodyPr wrap="square" lIns="0" rIns="0" tIns="0" bIns="0">
            <a:spAutoFit/>
          </a:bodyPr>
          <a:lstStyle/>
          <a:p>
            <a:pPr>
              <a:spcAft>
                <a:spcPts val="800"/>
              </a:spcAft>
              <a:defRPr sz="1600" b="0">
                <a:solidFill>
                  <a:srgbClr val="182E26"/>
                </a:solidFill>
                <a:latin typeface="DM Sans"/>
              </a:defRPr>
            </a:pPr>
            <a:r>
              <a:t>Feature vs benefit focus</a:t>
            </a:r>
          </a:p>
          <a:p>
            <a:pPr>
              <a:spcAft>
                <a:spcPts val="800"/>
              </a:spcAft>
              <a:defRPr sz="1600" b="0">
                <a:solidFill>
                  <a:srgbClr val="182E26"/>
                </a:solidFill>
                <a:latin typeface="DM Sans"/>
              </a:defRPr>
            </a:pPr>
            <a:r>
              <a:t>Emotional vs rational</a:t>
            </a:r>
          </a:p>
          <a:p>
            <a:pPr>
              <a:spcAft>
                <a:spcPts val="800"/>
              </a:spcAft>
              <a:defRPr sz="1600" b="0">
                <a:solidFill>
                  <a:srgbClr val="182E26"/>
                </a:solidFill>
                <a:latin typeface="DM Sans"/>
              </a:defRPr>
            </a:pPr>
            <a:r>
              <a:t>Formality and friendliness</a:t>
            </a:r>
          </a:p>
          <a:p>
            <a:pPr>
              <a:spcAft>
                <a:spcPts val="800"/>
              </a:spcAft>
              <a:defRPr sz="1600" b="0">
                <a:solidFill>
                  <a:srgbClr val="182E26"/>
                </a:solidFill>
                <a:latin typeface="DM Sans"/>
              </a:defRPr>
            </a:pPr>
            <a:r>
              <a:t>Keyword-based scale scores</a:t>
            </a:r>
          </a:p>
        </p:txBody>
      </p:sp>
      <p:sp>
        <p:nvSpPr>
          <p:cNvPr id="13" name="Rounded Rectangle 12"/>
          <p:cNvSpPr/>
          <p:nvPr/>
        </p:nvSpPr>
        <p:spPr>
          <a:xfrm>
            <a:off x="8092440" y="2286000"/>
            <a:ext cx="3566160" cy="347472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2468880"/>
            <a:ext cx="3145536" cy="502920"/>
          </a:xfrm>
          <a:prstGeom prst="rect">
            <a:avLst/>
          </a:prstGeom>
          <a:noFill/>
        </p:spPr>
        <p:txBody>
          <a:bodyPr wrap="square" lIns="0" rIns="0" tIns="0" bIns="0">
            <a:spAutoFit/>
          </a:bodyPr>
          <a:lstStyle/>
          <a:p>
            <a:pPr>
              <a:spcAft>
                <a:spcPts val="800"/>
              </a:spcAft>
              <a:defRPr sz="1900" b="1">
                <a:solidFill>
                  <a:srgbClr val="244F41"/>
                </a:solidFill>
                <a:latin typeface="Manrope"/>
              </a:defRPr>
            </a:pPr>
            <a:r>
              <a:t>CTA analysis</a:t>
            </a:r>
          </a:p>
        </p:txBody>
      </p:sp>
      <p:sp>
        <p:nvSpPr>
          <p:cNvPr id="15" name="TextBox 14"/>
          <p:cNvSpPr txBox="1"/>
          <p:nvPr/>
        </p:nvSpPr>
        <p:spPr>
          <a:xfrm>
            <a:off x="8302752" y="3108960"/>
            <a:ext cx="3145536" cy="2542032"/>
          </a:xfrm>
          <a:prstGeom prst="rect">
            <a:avLst/>
          </a:prstGeom>
          <a:noFill/>
        </p:spPr>
        <p:txBody>
          <a:bodyPr wrap="square" lIns="0" rIns="0" tIns="0" bIns="0">
            <a:spAutoFit/>
          </a:bodyPr>
          <a:lstStyle/>
          <a:p>
            <a:pPr>
              <a:spcAft>
                <a:spcPts val="800"/>
              </a:spcAft>
              <a:defRPr sz="1600" b="0">
                <a:solidFill>
                  <a:srgbClr val="182E26"/>
                </a:solidFill>
                <a:latin typeface="DM Sans"/>
              </a:defRPr>
            </a:pPr>
            <a:r>
              <a:t>Count and primary text</a:t>
            </a:r>
          </a:p>
          <a:p>
            <a:pPr>
              <a:spcAft>
                <a:spcPts val="800"/>
              </a:spcAft>
              <a:defRPr sz="1600" b="0">
                <a:solidFill>
                  <a:srgbClr val="182E26"/>
                </a:solidFill>
                <a:latin typeface="DM Sans"/>
              </a:defRPr>
            </a:pPr>
            <a:r>
              <a:t>Above-fold placement</a:t>
            </a:r>
          </a:p>
          <a:p>
            <a:pPr>
              <a:spcAft>
                <a:spcPts val="800"/>
              </a:spcAft>
              <a:defRPr sz="1600" b="0">
                <a:solidFill>
                  <a:srgbClr val="182E26"/>
                </a:solidFill>
                <a:latin typeface="DM Sans"/>
              </a:defRPr>
            </a:pPr>
            <a:r>
              <a:t>Repeated primary CTA</a:t>
            </a:r>
          </a:p>
          <a:p>
            <a:pPr>
              <a:spcAft>
                <a:spcPts val="800"/>
              </a:spcAft>
              <a:defRPr sz="1600" b="0">
                <a:solidFill>
                  <a:srgbClr val="182E26"/>
                </a:solidFill>
                <a:latin typeface="DM Sans"/>
              </a:defRPr>
            </a:pPr>
            <a:r>
              <a:t>Prominence (1–5) and type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8F6"/>
        </a:solidFill>
        <a:effectLst/>
      </p:bgPr>
    </p:bg>
    <p:spTree>
      <p:nvGrpSpPr>
        <p:cNvPr id="1" name=""/>
        <p:cNvGrpSpPr/>
        <p:nvPr/>
      </p:nvGrpSpPr>
      <p:grpSpPr/>
      <p:sp>
        <p:nvSpPr>
          <p:cNvPr id="2" name="TextBox 1"/>
          <p:cNvSpPr txBox="1"/>
          <p:nvPr/>
        </p:nvSpPr>
        <p:spPr>
          <a:xfrm>
            <a:off x="502920" y="256032"/>
            <a:ext cx="10972800" cy="228600"/>
          </a:xfrm>
          <a:prstGeom prst="rect">
            <a:avLst/>
          </a:prstGeom>
          <a:noFill/>
        </p:spPr>
        <p:txBody>
          <a:bodyPr wrap="square" lIns="0" rIns="0" tIns="0" bIns="0">
            <a:spAutoFit/>
          </a:bodyPr>
          <a:lstStyle/>
          <a:p>
            <a:pPr>
              <a:spcAft>
                <a:spcPts val="800"/>
              </a:spcAft>
              <a:defRPr sz="1000" b="1">
                <a:solidFill>
                  <a:srgbClr val="244F41"/>
                </a:solidFill>
                <a:latin typeface="Manrope"/>
              </a:defRPr>
            </a:pPr>
            <a:r>
              <a:t>09 / HUMAN REVIEW</a:t>
            </a:r>
          </a:p>
        </p:txBody>
      </p:sp>
      <p:sp>
        <p:nvSpPr>
          <p:cNvPr id="3" name="TextBox 2"/>
          <p:cNvSpPr txBox="1"/>
          <p:nvPr/>
        </p:nvSpPr>
        <p:spPr>
          <a:xfrm>
            <a:off x="502920" y="749808"/>
            <a:ext cx="11155680" cy="662940"/>
          </a:xfrm>
          <a:prstGeom prst="rect">
            <a:avLst/>
          </a:prstGeom>
          <a:noFill/>
        </p:spPr>
        <p:txBody>
          <a:bodyPr wrap="square" lIns="0" rIns="0" tIns="0" bIns="0">
            <a:spAutoFit/>
          </a:bodyPr>
          <a:lstStyle/>
          <a:p>
            <a:pPr>
              <a:spcAft>
                <a:spcPts val="800"/>
              </a:spcAft>
              <a:defRPr sz="2900" b="1">
                <a:solidFill>
                  <a:srgbClr val="182E26"/>
                </a:solidFill>
                <a:latin typeface="Manrope"/>
              </a:defRPr>
            </a:pPr>
            <a:r>
              <a:t>Keep the analyst in control</a:t>
            </a:r>
          </a:p>
        </p:txBody>
      </p:sp>
      <p:sp>
        <p:nvSpPr>
          <p:cNvPr id="4" name="TextBox 3"/>
          <p:cNvSpPr txBox="1"/>
          <p:nvPr/>
        </p:nvSpPr>
        <p:spPr>
          <a:xfrm>
            <a:off x="502920" y="1435608"/>
            <a:ext cx="11064240" cy="548640"/>
          </a:xfrm>
          <a:prstGeom prst="rect">
            <a:avLst/>
          </a:prstGeom>
          <a:noFill/>
        </p:spPr>
        <p:txBody>
          <a:bodyPr wrap="square" lIns="0" rIns="0" tIns="0" bIns="0">
            <a:spAutoFit/>
          </a:bodyPr>
          <a:lstStyle/>
          <a:p>
            <a:pPr>
              <a:spcAft>
                <a:spcPts val="800"/>
              </a:spcAft>
              <a:defRPr sz="1500" b="0">
                <a:solidFill>
                  <a:srgbClr val="63705F"/>
                </a:solidFill>
                <a:latin typeface="DM Sans"/>
              </a:defRPr>
            </a:pPr>
            <a:r>
              <a:t>Not Started → In Progress → Completed</a:t>
            </a:r>
          </a:p>
        </p:txBody>
      </p:sp>
      <p:sp>
        <p:nvSpPr>
          <p:cNvPr id="5" name="TextBox 4"/>
          <p:cNvSpPr txBox="1"/>
          <p:nvPr/>
        </p:nvSpPr>
        <p:spPr>
          <a:xfrm>
            <a:off x="502920" y="6437376"/>
            <a:ext cx="10607040" cy="210312"/>
          </a:xfrm>
          <a:prstGeom prst="rect">
            <a:avLst/>
          </a:prstGeom>
          <a:noFill/>
        </p:spPr>
        <p:txBody>
          <a:bodyPr wrap="square" lIns="0" rIns="0" tIns="0" bIns="0">
            <a:spAutoFit/>
          </a:bodyPr>
          <a:lstStyle/>
          <a:p>
            <a:pPr>
              <a:spcAft>
                <a:spcPts val="800"/>
              </a:spcAft>
              <a:defRPr sz="800" b="0">
                <a:solidFill>
                  <a:srgbClr val="63705F"/>
                </a:solidFill>
                <a:latin typeface="DM Sans"/>
              </a:defRPr>
            </a:pPr>
            <a:r>
              <a:t>pages/Label.tsx; api/features.py; components/FeatureControls.tsx</a:t>
            </a:r>
          </a:p>
        </p:txBody>
      </p:sp>
      <p:sp>
        <p:nvSpPr>
          <p:cNvPr id="6" name="TextBox 5"/>
          <p:cNvSpPr txBox="1"/>
          <p:nvPr/>
        </p:nvSpPr>
        <p:spPr>
          <a:xfrm>
            <a:off x="11064240" y="6419088"/>
            <a:ext cx="640080" cy="228600"/>
          </a:xfrm>
          <a:prstGeom prst="rect">
            <a:avLst/>
          </a:prstGeom>
          <a:noFill/>
        </p:spPr>
        <p:txBody>
          <a:bodyPr wrap="square" lIns="0" rIns="0" tIns="0" bIns="0">
            <a:spAutoFit/>
          </a:bodyPr>
          <a:lstStyle/>
          <a:p>
            <a:pPr>
              <a:spcAft>
                <a:spcPts val="800"/>
              </a:spcAft>
              <a:defRPr sz="1000" b="1">
                <a:solidFill>
                  <a:srgbClr val="244F41"/>
                </a:solidFill>
                <a:latin typeface="Manrope"/>
              </a:defRPr>
            </a:pPr>
            <a:r>
              <a:t>10</a:t>
            </a:r>
          </a:p>
        </p:txBody>
      </p:sp>
      <p:pic>
        <p:nvPicPr>
          <p:cNvPr id="7" name="Picture 6" descr="labeling.png"/>
          <p:cNvPicPr>
            <a:picLocks noChangeAspect="1"/>
          </p:cNvPicPr>
          <p:nvPr/>
        </p:nvPicPr>
        <p:blipFill>
          <a:blip r:embed="rId3"/>
          <a:stretch>
            <a:fillRect/>
          </a:stretch>
        </p:blipFill>
        <p:spPr>
          <a:xfrm>
            <a:off x="502920" y="2057400"/>
            <a:ext cx="6122822" cy="4251960"/>
          </a:xfrm>
          <a:prstGeom prst="rect">
            <a:avLst/>
          </a:prstGeom>
        </p:spPr>
      </p:pic>
      <p:sp>
        <p:nvSpPr>
          <p:cNvPr id="8" name="Rounded Rectangle 7"/>
          <p:cNvSpPr/>
          <p:nvPr/>
        </p:nvSpPr>
        <p:spPr>
          <a:xfrm>
            <a:off x="8641080" y="2286000"/>
            <a:ext cx="3017520" cy="347472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51392" y="2468880"/>
            <a:ext cx="2596896" cy="502920"/>
          </a:xfrm>
          <a:prstGeom prst="rect">
            <a:avLst/>
          </a:prstGeom>
          <a:noFill/>
        </p:spPr>
        <p:txBody>
          <a:bodyPr wrap="square" lIns="0" rIns="0" tIns="0" bIns="0">
            <a:spAutoFit/>
          </a:bodyPr>
          <a:lstStyle/>
          <a:p>
            <a:pPr>
              <a:spcAft>
                <a:spcPts val="800"/>
              </a:spcAft>
              <a:defRPr sz="1900" b="1">
                <a:solidFill>
                  <a:srgbClr val="244F41"/>
                </a:solidFill>
                <a:latin typeface="Manrope"/>
              </a:defRPr>
            </a:pPr>
            <a:r>
              <a:t>Reviewer decisions</a:t>
            </a:r>
          </a:p>
        </p:txBody>
      </p:sp>
      <p:sp>
        <p:nvSpPr>
          <p:cNvPr id="10" name="TextBox 9"/>
          <p:cNvSpPr txBox="1"/>
          <p:nvPr/>
        </p:nvSpPr>
        <p:spPr>
          <a:xfrm>
            <a:off x="8851392" y="3108960"/>
            <a:ext cx="2596896" cy="2542032"/>
          </a:xfrm>
          <a:prstGeom prst="rect">
            <a:avLst/>
          </a:prstGeom>
          <a:noFill/>
        </p:spPr>
        <p:txBody>
          <a:bodyPr wrap="square" lIns="0" rIns="0" tIns="0" bIns="0">
            <a:spAutoFit/>
          </a:bodyPr>
          <a:lstStyle/>
          <a:p>
            <a:pPr>
              <a:spcAft>
                <a:spcPts val="800"/>
              </a:spcAft>
              <a:defRPr sz="1600" b="0">
                <a:solidFill>
                  <a:srgbClr val="182E26"/>
                </a:solidFill>
                <a:latin typeface="DM Sans"/>
              </a:defRPr>
            </a:pPr>
            <a:r>
              <a:t>Check captured evidence</a:t>
            </a:r>
          </a:p>
          <a:p>
            <a:pPr>
              <a:spcAft>
                <a:spcPts val="800"/>
              </a:spcAft>
              <a:defRPr sz="1600" b="0">
                <a:solidFill>
                  <a:srgbClr val="182E26"/>
                </a:solidFill>
                <a:latin typeface="DM Sans"/>
              </a:defRPr>
            </a:pPr>
            <a:r>
              <a:t>Correct suggested values</a:t>
            </a:r>
          </a:p>
          <a:p>
            <a:pPr>
              <a:spcAft>
                <a:spcPts val="800"/>
              </a:spcAft>
              <a:defRPr sz="1600" b="0">
                <a:solidFill>
                  <a:srgbClr val="182E26"/>
                </a:solidFill>
                <a:latin typeface="DM Sans"/>
              </a:defRPr>
            </a:pPr>
            <a:r>
              <a:t>Label visual dimensions</a:t>
            </a:r>
          </a:p>
          <a:p>
            <a:pPr>
              <a:spcAft>
                <a:spcPts val="800"/>
              </a:spcAft>
              <a:defRPr sz="1600" b="0">
                <a:solidFill>
                  <a:srgbClr val="182E26"/>
                </a:solidFill>
                <a:latin typeface="DM Sans"/>
              </a:defRPr>
            </a:pPr>
            <a:r>
              <a:t>Record notes and context</a:t>
            </a:r>
          </a:p>
          <a:p>
            <a:pPr>
              <a:spcAft>
                <a:spcPts val="800"/>
              </a:spcAft>
              <a:defRPr sz="1600" b="0">
                <a:solidFill>
                  <a:srgbClr val="182E26"/>
                </a:solidFill>
                <a:latin typeface="DM Sans"/>
              </a:defRPr>
            </a:pPr>
            <a:r>
              <a:t>Complete the review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8F6"/>
        </a:solidFill>
        <a:effectLst/>
      </p:bgPr>
    </p:bg>
    <p:spTree>
      <p:nvGrpSpPr>
        <p:cNvPr id="1" name=""/>
        <p:cNvGrpSpPr/>
        <p:nvPr/>
      </p:nvGrpSpPr>
      <p:grpSpPr/>
      <p:sp>
        <p:nvSpPr>
          <p:cNvPr id="2" name="TextBox 1"/>
          <p:cNvSpPr txBox="1"/>
          <p:nvPr/>
        </p:nvSpPr>
        <p:spPr>
          <a:xfrm>
            <a:off x="502920" y="256032"/>
            <a:ext cx="10972800" cy="228600"/>
          </a:xfrm>
          <a:prstGeom prst="rect">
            <a:avLst/>
          </a:prstGeom>
          <a:noFill/>
        </p:spPr>
        <p:txBody>
          <a:bodyPr wrap="square" lIns="0" rIns="0" tIns="0" bIns="0">
            <a:spAutoFit/>
          </a:bodyPr>
          <a:lstStyle/>
          <a:p>
            <a:pPr>
              <a:spcAft>
                <a:spcPts val="800"/>
              </a:spcAft>
              <a:defRPr sz="1000" b="1">
                <a:solidFill>
                  <a:srgbClr val="244F41"/>
                </a:solidFill>
                <a:latin typeface="Manrope"/>
              </a:defRPr>
            </a:pPr>
            <a:r>
              <a:t>10 / COMPARISON</a:t>
            </a:r>
          </a:p>
        </p:txBody>
      </p:sp>
      <p:sp>
        <p:nvSpPr>
          <p:cNvPr id="3" name="TextBox 2"/>
          <p:cNvSpPr txBox="1"/>
          <p:nvPr/>
        </p:nvSpPr>
        <p:spPr>
          <a:xfrm>
            <a:off x="502920" y="749808"/>
            <a:ext cx="11155680" cy="662940"/>
          </a:xfrm>
          <a:prstGeom prst="rect">
            <a:avLst/>
          </a:prstGeom>
          <a:noFill/>
        </p:spPr>
        <p:txBody>
          <a:bodyPr wrap="square" lIns="0" rIns="0" tIns="0" bIns="0">
            <a:spAutoFit/>
          </a:bodyPr>
          <a:lstStyle/>
          <a:p>
            <a:pPr>
              <a:spcAft>
                <a:spcPts val="800"/>
              </a:spcAft>
              <a:defRPr sz="2900" b="1">
                <a:solidFill>
                  <a:srgbClr val="182E26"/>
                </a:solidFill>
                <a:latin typeface="Manrope"/>
              </a:defRPr>
            </a:pPr>
            <a:r>
              <a:t>Compare recorded page characteristics</a:t>
            </a:r>
          </a:p>
        </p:txBody>
      </p:sp>
      <p:sp>
        <p:nvSpPr>
          <p:cNvPr id="4" name="TextBox 3"/>
          <p:cNvSpPr txBox="1"/>
          <p:nvPr/>
        </p:nvSpPr>
        <p:spPr>
          <a:xfrm>
            <a:off x="502920" y="1435608"/>
            <a:ext cx="11064240" cy="548640"/>
          </a:xfrm>
          <a:prstGeom prst="rect">
            <a:avLst/>
          </a:prstGeom>
          <a:noFill/>
        </p:spPr>
        <p:txBody>
          <a:bodyPr wrap="square" lIns="0" rIns="0" tIns="0" bIns="0">
            <a:spAutoFit/>
          </a:bodyPr>
          <a:lstStyle/>
          <a:p>
            <a:pPr>
              <a:spcAft>
                <a:spcPts val="800"/>
              </a:spcAft>
              <a:defRPr sz="1500" b="0">
                <a:solidFill>
                  <a:srgbClr val="63705F"/>
                </a:solidFill>
                <a:latin typeface="DM Sans"/>
              </a:defRPr>
            </a:pPr>
            <a:r>
              <a:t>One category at a time; each page remains a separate observation.</a:t>
            </a:r>
          </a:p>
        </p:txBody>
      </p:sp>
      <p:sp>
        <p:nvSpPr>
          <p:cNvPr id="5" name="TextBox 4"/>
          <p:cNvSpPr txBox="1"/>
          <p:nvPr/>
        </p:nvSpPr>
        <p:spPr>
          <a:xfrm>
            <a:off x="502920" y="6437376"/>
            <a:ext cx="10607040" cy="210312"/>
          </a:xfrm>
          <a:prstGeom prst="rect">
            <a:avLst/>
          </a:prstGeom>
          <a:noFill/>
        </p:spPr>
        <p:txBody>
          <a:bodyPr wrap="square" lIns="0" rIns="0" tIns="0" bIns="0">
            <a:spAutoFit/>
          </a:bodyPr>
          <a:lstStyle/>
          <a:p>
            <a:pPr>
              <a:spcAft>
                <a:spcPts val="800"/>
              </a:spcAft>
              <a:defRPr sz="800" b="0">
                <a:solidFill>
                  <a:srgbClr val="63705F"/>
                </a:solidFill>
                <a:latin typeface="DM Sans"/>
              </a:defRPr>
            </a:pPr>
            <a:r>
              <a:t>services/compare.py; ComparisonChart.tsx; ComparisonFindings.tsx; ComparisonTable.tsx</a:t>
            </a:r>
          </a:p>
        </p:txBody>
      </p:sp>
      <p:sp>
        <p:nvSpPr>
          <p:cNvPr id="6" name="TextBox 5"/>
          <p:cNvSpPr txBox="1"/>
          <p:nvPr/>
        </p:nvSpPr>
        <p:spPr>
          <a:xfrm>
            <a:off x="11064240" y="6419088"/>
            <a:ext cx="640080" cy="228600"/>
          </a:xfrm>
          <a:prstGeom prst="rect">
            <a:avLst/>
          </a:prstGeom>
          <a:noFill/>
        </p:spPr>
        <p:txBody>
          <a:bodyPr wrap="square" lIns="0" rIns="0" tIns="0" bIns="0">
            <a:spAutoFit/>
          </a:bodyPr>
          <a:lstStyle/>
          <a:p>
            <a:pPr>
              <a:spcAft>
                <a:spcPts val="800"/>
              </a:spcAft>
              <a:defRPr sz="1000" b="1">
                <a:solidFill>
                  <a:srgbClr val="244F41"/>
                </a:solidFill>
                <a:latin typeface="Manrope"/>
              </a:defRPr>
            </a:pPr>
            <a:r>
              <a:t>11</a:t>
            </a:r>
          </a:p>
        </p:txBody>
      </p:sp>
      <p:pic>
        <p:nvPicPr>
          <p:cNvPr id="7" name="Picture 6" descr="compare-results.png"/>
          <p:cNvPicPr>
            <a:picLocks noChangeAspect="1"/>
          </p:cNvPicPr>
          <p:nvPr/>
        </p:nvPicPr>
        <p:blipFill>
          <a:blip r:embed="rId3"/>
          <a:stretch>
            <a:fillRect/>
          </a:stretch>
        </p:blipFill>
        <p:spPr>
          <a:xfrm>
            <a:off x="502920" y="2057400"/>
            <a:ext cx="6122822" cy="4251960"/>
          </a:xfrm>
          <a:prstGeom prst="rect">
            <a:avLst/>
          </a:prstGeom>
        </p:spPr>
      </p:pic>
      <p:sp>
        <p:nvSpPr>
          <p:cNvPr id="8" name="Rounded Rectangle 7"/>
          <p:cNvSpPr/>
          <p:nvPr/>
        </p:nvSpPr>
        <p:spPr>
          <a:xfrm>
            <a:off x="8641080" y="2286000"/>
            <a:ext cx="3017520" cy="356616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51392" y="2468880"/>
            <a:ext cx="2596896" cy="502920"/>
          </a:xfrm>
          <a:prstGeom prst="rect">
            <a:avLst/>
          </a:prstGeom>
          <a:noFill/>
        </p:spPr>
        <p:txBody>
          <a:bodyPr wrap="square" lIns="0" rIns="0" tIns="0" bIns="0">
            <a:spAutoFit/>
          </a:bodyPr>
          <a:lstStyle/>
          <a:p>
            <a:pPr>
              <a:spcAft>
                <a:spcPts val="800"/>
              </a:spcAft>
              <a:defRPr sz="1900" b="1">
                <a:solidFill>
                  <a:srgbClr val="244F41"/>
                </a:solidFill>
                <a:latin typeface="Manrope"/>
              </a:defRPr>
            </a:pPr>
            <a:r>
              <a:t>What the views show</a:t>
            </a:r>
          </a:p>
        </p:txBody>
      </p:sp>
      <p:sp>
        <p:nvSpPr>
          <p:cNvPr id="10" name="TextBox 9"/>
          <p:cNvSpPr txBox="1"/>
          <p:nvPr/>
        </p:nvSpPr>
        <p:spPr>
          <a:xfrm>
            <a:off x="8851392" y="3108960"/>
            <a:ext cx="2596896" cy="2633472"/>
          </a:xfrm>
          <a:prstGeom prst="rect">
            <a:avLst/>
          </a:prstGeom>
          <a:noFill/>
        </p:spPr>
        <p:txBody>
          <a:bodyPr wrap="square" lIns="0" rIns="0" tIns="0" bIns="0">
            <a:spAutoFit/>
          </a:bodyPr>
          <a:lstStyle/>
          <a:p>
            <a:pPr>
              <a:spcAft>
                <a:spcPts val="800"/>
              </a:spcAft>
              <a:defRPr sz="1600" b="0">
                <a:solidFill>
                  <a:srgbClr val="182E26"/>
                </a:solidFill>
                <a:latin typeface="DM Sans"/>
              </a:defRPr>
            </a:pPr>
            <a:r>
              <a:t>Selected-page feature tables</a:t>
            </a:r>
          </a:p>
          <a:p>
            <a:pPr>
              <a:spcAft>
                <a:spcPts val="800"/>
              </a:spcAft>
              <a:defRPr sz="1600" b="0">
                <a:solidFill>
                  <a:srgbClr val="182E26"/>
                </a:solidFill>
                <a:latin typeface="DM Sans"/>
              </a:defRPr>
            </a:pPr>
            <a:r>
              <a:t>Descriptive 1–5 charts</a:t>
            </a:r>
          </a:p>
          <a:p>
            <a:pPr>
              <a:spcAft>
                <a:spcPts val="800"/>
              </a:spcAft>
              <a:defRPr sz="1600" b="0">
                <a:solidFill>
                  <a:srgbClr val="182E26"/>
                </a:solidFill>
                <a:latin typeface="DM Sans"/>
              </a:defRPr>
            </a:pPr>
            <a:r>
              <a:t>Ranges and coverage</a:t>
            </a:r>
          </a:p>
          <a:p>
            <a:pPr>
              <a:spcAft>
                <a:spcPts val="800"/>
              </a:spcAft>
              <a:defRPr sz="1600" b="0">
                <a:solidFill>
                  <a:srgbClr val="182E26"/>
                </a:solidFill>
                <a:latin typeface="DM Sans"/>
              </a:defRPr>
            </a:pPr>
            <a:r>
              <a:t>Missing-data warnings</a:t>
            </a:r>
          </a:p>
          <a:p>
            <a:pPr>
              <a:spcAft>
                <a:spcPts val="800"/>
              </a:spcAft>
              <a:defRPr sz="1600" b="0">
                <a:solidFill>
                  <a:srgbClr val="182E26"/>
                </a:solidFill>
                <a:latin typeface="DM Sans"/>
              </a:defRPr>
            </a:pPr>
            <a:r>
              <a:t>Links back to product review</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8F6"/>
        </a:solidFill>
        <a:effectLst/>
      </p:bgPr>
    </p:bg>
    <p:spTree>
      <p:nvGrpSpPr>
        <p:cNvPr id="1" name=""/>
        <p:cNvGrpSpPr/>
        <p:nvPr/>
      </p:nvGrpSpPr>
      <p:grpSpPr/>
      <p:sp>
        <p:nvSpPr>
          <p:cNvPr id="2" name="TextBox 1"/>
          <p:cNvSpPr txBox="1"/>
          <p:nvPr/>
        </p:nvSpPr>
        <p:spPr>
          <a:xfrm>
            <a:off x="502920" y="256032"/>
            <a:ext cx="10972800" cy="228600"/>
          </a:xfrm>
          <a:prstGeom prst="rect">
            <a:avLst/>
          </a:prstGeom>
          <a:noFill/>
        </p:spPr>
        <p:txBody>
          <a:bodyPr wrap="square" lIns="0" rIns="0" tIns="0" bIns="0">
            <a:spAutoFit/>
          </a:bodyPr>
          <a:lstStyle/>
          <a:p>
            <a:pPr>
              <a:spcAft>
                <a:spcPts val="800"/>
              </a:spcAft>
              <a:defRPr sz="1000" b="1">
                <a:solidFill>
                  <a:srgbClr val="244F41"/>
                </a:solidFill>
                <a:latin typeface="Manrope"/>
              </a:defRPr>
            </a:pPr>
            <a:r>
              <a:t>11 / QUALITY AND LIMITATIONS</a:t>
            </a:r>
          </a:p>
        </p:txBody>
      </p:sp>
      <p:sp>
        <p:nvSpPr>
          <p:cNvPr id="3" name="TextBox 2"/>
          <p:cNvSpPr txBox="1"/>
          <p:nvPr/>
        </p:nvSpPr>
        <p:spPr>
          <a:xfrm>
            <a:off x="502920" y="749808"/>
            <a:ext cx="11155680" cy="662940"/>
          </a:xfrm>
          <a:prstGeom prst="rect">
            <a:avLst/>
          </a:prstGeom>
          <a:noFill/>
        </p:spPr>
        <p:txBody>
          <a:bodyPr wrap="square" lIns="0" rIns="0" tIns="0" bIns="0">
            <a:spAutoFit/>
          </a:bodyPr>
          <a:lstStyle/>
          <a:p>
            <a:pPr>
              <a:spcAft>
                <a:spcPts val="800"/>
              </a:spcAft>
              <a:defRPr sz="2900" b="1">
                <a:solidFill>
                  <a:srgbClr val="182E26"/>
                </a:solidFill>
                <a:latin typeface="Manrope"/>
              </a:defRPr>
            </a:pPr>
            <a:r>
              <a:t>Useful POC; validation is still essential</a:t>
            </a:r>
          </a:p>
        </p:txBody>
      </p:sp>
      <p:sp>
        <p:nvSpPr>
          <p:cNvPr id="4" name="TextBox 3"/>
          <p:cNvSpPr txBox="1"/>
          <p:nvPr/>
        </p:nvSpPr>
        <p:spPr>
          <a:xfrm>
            <a:off x="502920" y="1435608"/>
            <a:ext cx="11064240" cy="548640"/>
          </a:xfrm>
          <a:prstGeom prst="rect">
            <a:avLst/>
          </a:prstGeom>
          <a:noFill/>
        </p:spPr>
        <p:txBody>
          <a:bodyPr wrap="square" lIns="0" rIns="0" tIns="0" bIns="0">
            <a:spAutoFit/>
          </a:bodyPr>
          <a:lstStyle/>
          <a:p>
            <a:pPr>
              <a:spcAft>
                <a:spcPts val="800"/>
              </a:spcAft>
              <a:defRPr sz="1500" b="0">
                <a:solidFill>
                  <a:srgbClr val="63705F"/>
                </a:solidFill>
                <a:latin typeface="DM Sans"/>
              </a:defRPr>
            </a:pPr>
            <a:r>
              <a:t>Technical checks and research validity answer different questions.</a:t>
            </a:r>
          </a:p>
        </p:txBody>
      </p:sp>
      <p:sp>
        <p:nvSpPr>
          <p:cNvPr id="5" name="TextBox 4"/>
          <p:cNvSpPr txBox="1"/>
          <p:nvPr/>
        </p:nvSpPr>
        <p:spPr>
          <a:xfrm>
            <a:off x="502920" y="6437376"/>
            <a:ext cx="10607040" cy="210312"/>
          </a:xfrm>
          <a:prstGeom prst="rect">
            <a:avLst/>
          </a:prstGeom>
          <a:noFill/>
        </p:spPr>
        <p:txBody>
          <a:bodyPr wrap="square" lIns="0" rIns="0" tIns="0" bIns="0">
            <a:spAutoFit/>
          </a:bodyPr>
          <a:lstStyle/>
          <a:p>
            <a:pPr>
              <a:spcAft>
                <a:spcPts val="800"/>
              </a:spcAft>
              <a:defRPr sz="800" b="0">
                <a:solidFill>
                  <a:srgbClr val="63705F"/>
                </a:solidFill>
                <a:latin typeface="DM Sans"/>
              </a:defRPr>
            </a:pPr>
            <a:r>
              <a:t>tests/test_cta.py; test_source_workflow.py; test_message_integration.py; crawling/crawling.py</a:t>
            </a:r>
          </a:p>
        </p:txBody>
      </p:sp>
      <p:sp>
        <p:nvSpPr>
          <p:cNvPr id="6" name="TextBox 5"/>
          <p:cNvSpPr txBox="1"/>
          <p:nvPr/>
        </p:nvSpPr>
        <p:spPr>
          <a:xfrm>
            <a:off x="11064240" y="6419088"/>
            <a:ext cx="640080" cy="228600"/>
          </a:xfrm>
          <a:prstGeom prst="rect">
            <a:avLst/>
          </a:prstGeom>
          <a:noFill/>
        </p:spPr>
        <p:txBody>
          <a:bodyPr wrap="square" lIns="0" rIns="0" tIns="0" bIns="0">
            <a:spAutoFit/>
          </a:bodyPr>
          <a:lstStyle/>
          <a:p>
            <a:pPr>
              <a:spcAft>
                <a:spcPts val="800"/>
              </a:spcAft>
              <a:defRPr sz="1000" b="1">
                <a:solidFill>
                  <a:srgbClr val="244F41"/>
                </a:solidFill>
                <a:latin typeface="Manrope"/>
              </a:defRPr>
            </a:pPr>
            <a:r>
              <a:t>12</a:t>
            </a:r>
          </a:p>
        </p:txBody>
      </p:sp>
      <p:sp>
        <p:nvSpPr>
          <p:cNvPr id="7" name="Rounded Rectangle 6"/>
          <p:cNvSpPr/>
          <p:nvPr/>
        </p:nvSpPr>
        <p:spPr>
          <a:xfrm>
            <a:off x="502920" y="2286000"/>
            <a:ext cx="3566160" cy="352044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2468880"/>
            <a:ext cx="3145536" cy="502920"/>
          </a:xfrm>
          <a:prstGeom prst="rect">
            <a:avLst/>
          </a:prstGeom>
          <a:noFill/>
        </p:spPr>
        <p:txBody>
          <a:bodyPr wrap="square" lIns="0" rIns="0" tIns="0" bIns="0">
            <a:spAutoFit/>
          </a:bodyPr>
          <a:lstStyle/>
          <a:p>
            <a:pPr>
              <a:spcAft>
                <a:spcPts val="800"/>
              </a:spcAft>
              <a:defRPr sz="1900" b="1">
                <a:solidFill>
                  <a:srgbClr val="244F41"/>
                </a:solidFill>
                <a:latin typeface="Manrope"/>
              </a:defRPr>
            </a:pPr>
            <a:r>
              <a:t>Engineering evidence</a:t>
            </a:r>
          </a:p>
        </p:txBody>
      </p:sp>
      <p:sp>
        <p:nvSpPr>
          <p:cNvPr id="9" name="TextBox 8"/>
          <p:cNvSpPr txBox="1"/>
          <p:nvPr/>
        </p:nvSpPr>
        <p:spPr>
          <a:xfrm>
            <a:off x="713232" y="3108960"/>
            <a:ext cx="3145536" cy="2587752"/>
          </a:xfrm>
          <a:prstGeom prst="rect">
            <a:avLst/>
          </a:prstGeom>
          <a:noFill/>
        </p:spPr>
        <p:txBody>
          <a:bodyPr wrap="square" lIns="0" rIns="0" tIns="0" bIns="0">
            <a:spAutoFit/>
          </a:bodyPr>
          <a:lstStyle/>
          <a:p>
            <a:pPr>
              <a:spcAft>
                <a:spcPts val="800"/>
              </a:spcAft>
              <a:defRPr sz="1600" b="0">
                <a:solidFill>
                  <a:srgbClr val="182E26"/>
                </a:solidFill>
                <a:latin typeface="DM Sans"/>
              </a:defRPr>
            </a:pPr>
            <a:r>
              <a:t>192 tests passed in the last run</a:t>
            </a:r>
          </a:p>
          <a:p>
            <a:pPr>
              <a:spcAft>
                <a:spcPts val="800"/>
              </a:spcAft>
              <a:defRPr sz="1600" b="0">
                <a:solidFill>
                  <a:srgbClr val="182E26"/>
                </a:solidFill>
                <a:latin typeface="DM Sans"/>
              </a:defRPr>
            </a:pPr>
            <a:r>
              <a:t>CTA browser fixture checks</a:t>
            </a:r>
          </a:p>
          <a:p>
            <a:pPr>
              <a:spcAft>
                <a:spcPts val="800"/>
              </a:spcAft>
              <a:defRPr sz="1600" b="0">
                <a:solidFill>
                  <a:srgbClr val="182E26"/>
                </a:solidFill>
                <a:latin typeface="DM Sans"/>
              </a:defRPr>
            </a:pPr>
            <a:r>
              <a:t>Saved feature / recapture tests</a:t>
            </a:r>
          </a:p>
          <a:p>
            <a:pPr>
              <a:spcAft>
                <a:spcPts val="800"/>
              </a:spcAft>
              <a:defRPr sz="1600" b="0">
                <a:solidFill>
                  <a:srgbClr val="182E26"/>
                </a:solidFill>
                <a:latin typeface="DM Sans"/>
              </a:defRPr>
            </a:pPr>
            <a:r>
              <a:t>Generic and supported paths</a:t>
            </a:r>
          </a:p>
          <a:p>
            <a:pPr>
              <a:spcAft>
                <a:spcPts val="800"/>
              </a:spcAft>
              <a:defRPr sz="1600" b="0">
                <a:solidFill>
                  <a:srgbClr val="182E26"/>
                </a:solidFill>
                <a:latin typeface="DM Sans"/>
              </a:defRPr>
            </a:pPr>
            <a:r>
              <a:t>No production-readiness claim</a:t>
            </a:r>
          </a:p>
        </p:txBody>
      </p:sp>
      <p:sp>
        <p:nvSpPr>
          <p:cNvPr id="10" name="Rounded Rectangle 9"/>
          <p:cNvSpPr/>
          <p:nvPr/>
        </p:nvSpPr>
        <p:spPr>
          <a:xfrm>
            <a:off x="4297680" y="2286000"/>
            <a:ext cx="3566160" cy="352044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7992" y="2468880"/>
            <a:ext cx="3145536" cy="502920"/>
          </a:xfrm>
          <a:prstGeom prst="rect">
            <a:avLst/>
          </a:prstGeom>
          <a:noFill/>
        </p:spPr>
        <p:txBody>
          <a:bodyPr wrap="square" lIns="0" rIns="0" tIns="0" bIns="0">
            <a:spAutoFit/>
          </a:bodyPr>
          <a:lstStyle/>
          <a:p>
            <a:pPr>
              <a:spcAft>
                <a:spcPts val="800"/>
              </a:spcAft>
              <a:defRPr sz="1900" b="1">
                <a:solidFill>
                  <a:srgbClr val="244F41"/>
                </a:solidFill>
                <a:latin typeface="Manrope"/>
              </a:defRPr>
            </a:pPr>
            <a:r>
              <a:t>Methodology risks</a:t>
            </a:r>
          </a:p>
        </p:txBody>
      </p:sp>
      <p:sp>
        <p:nvSpPr>
          <p:cNvPr id="12" name="TextBox 11"/>
          <p:cNvSpPr txBox="1"/>
          <p:nvPr/>
        </p:nvSpPr>
        <p:spPr>
          <a:xfrm>
            <a:off x="4507992" y="3108960"/>
            <a:ext cx="3145536" cy="2587752"/>
          </a:xfrm>
          <a:prstGeom prst="rect">
            <a:avLst/>
          </a:prstGeom>
          <a:noFill/>
        </p:spPr>
        <p:txBody>
          <a:bodyPr wrap="square" lIns="0" rIns="0" tIns="0" bIns="0">
            <a:spAutoFit/>
          </a:bodyPr>
          <a:lstStyle/>
          <a:p>
            <a:pPr>
              <a:spcAft>
                <a:spcPts val="800"/>
              </a:spcAft>
              <a:defRPr sz="1600" b="0">
                <a:solidFill>
                  <a:srgbClr val="182E26"/>
                </a:solidFill>
                <a:latin typeface="DM Sans"/>
              </a:defRPr>
            </a:pPr>
            <a:r>
              <a:t>Vocabulary and language bias</a:t>
            </a:r>
          </a:p>
          <a:p>
            <a:pPr>
              <a:spcAft>
                <a:spcPts val="800"/>
              </a:spcAft>
              <a:defRPr sz="1600" b="0">
                <a:solidFill>
                  <a:srgbClr val="182E26"/>
                </a:solidFill>
                <a:latin typeface="DM Sans"/>
              </a:defRPr>
            </a:pPr>
            <a:r>
              <a:t>Page length and text scope</a:t>
            </a:r>
          </a:p>
          <a:p>
            <a:pPr>
              <a:spcAft>
                <a:spcPts val="800"/>
              </a:spcAft>
              <a:defRPr sz="1600" b="0">
                <a:solidFill>
                  <a:srgbClr val="182E26"/>
                </a:solidFill>
                <a:latin typeface="DM Sans"/>
              </a:defRPr>
            </a:pPr>
            <a:r>
              <a:t>Cookie / dynamic content</a:t>
            </a:r>
          </a:p>
          <a:p>
            <a:pPr>
              <a:spcAft>
                <a:spcPts val="800"/>
              </a:spcAft>
              <a:defRPr sz="1600" b="0">
                <a:solidFill>
                  <a:srgbClr val="182E26"/>
                </a:solidFill>
                <a:latin typeface="DM Sans"/>
              </a:defRPr>
            </a:pPr>
            <a:r>
              <a:t>Manual reviewer differences</a:t>
            </a:r>
          </a:p>
          <a:p>
            <a:pPr>
              <a:spcAft>
                <a:spcPts val="800"/>
              </a:spcAft>
              <a:defRPr sz="1600" b="0">
                <a:solidFill>
                  <a:srgbClr val="182E26"/>
                </a:solidFill>
                <a:latin typeface="DM Sans"/>
              </a:defRPr>
            </a:pPr>
            <a:r>
              <a:t>Small, incomplete sample</a:t>
            </a:r>
          </a:p>
        </p:txBody>
      </p:sp>
      <p:sp>
        <p:nvSpPr>
          <p:cNvPr id="13" name="Rounded Rectangle 12"/>
          <p:cNvSpPr/>
          <p:nvPr/>
        </p:nvSpPr>
        <p:spPr>
          <a:xfrm>
            <a:off x="8092440" y="2286000"/>
            <a:ext cx="3566160" cy="352044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2468880"/>
            <a:ext cx="3145536" cy="502920"/>
          </a:xfrm>
          <a:prstGeom prst="rect">
            <a:avLst/>
          </a:prstGeom>
          <a:noFill/>
        </p:spPr>
        <p:txBody>
          <a:bodyPr wrap="square" lIns="0" rIns="0" tIns="0" bIns="0">
            <a:spAutoFit/>
          </a:bodyPr>
          <a:lstStyle/>
          <a:p>
            <a:pPr>
              <a:spcAft>
                <a:spcPts val="800"/>
              </a:spcAft>
              <a:defRPr sz="1900" b="1">
                <a:solidFill>
                  <a:srgbClr val="244F41"/>
                </a:solidFill>
                <a:latin typeface="Manrope"/>
              </a:defRPr>
            </a:pPr>
            <a:r>
              <a:t>Collection boundaries</a:t>
            </a:r>
          </a:p>
        </p:txBody>
      </p:sp>
      <p:sp>
        <p:nvSpPr>
          <p:cNvPr id="15" name="TextBox 14"/>
          <p:cNvSpPr txBox="1"/>
          <p:nvPr/>
        </p:nvSpPr>
        <p:spPr>
          <a:xfrm>
            <a:off x="8302752" y="3108960"/>
            <a:ext cx="3145536" cy="2587752"/>
          </a:xfrm>
          <a:prstGeom prst="rect">
            <a:avLst/>
          </a:prstGeom>
          <a:noFill/>
        </p:spPr>
        <p:txBody>
          <a:bodyPr wrap="square" lIns="0" rIns="0" tIns="0" bIns="0">
            <a:spAutoFit/>
          </a:bodyPr>
          <a:lstStyle/>
          <a:p>
            <a:pPr>
              <a:spcAft>
                <a:spcPts val="800"/>
              </a:spcAft>
              <a:defRPr sz="1600" b="0">
                <a:solidFill>
                  <a:srgbClr val="182E26"/>
                </a:solidFill>
                <a:latin typeface="DM Sans"/>
              </a:defRPr>
            </a:pPr>
            <a:r>
              <a:t>Public-page collection only</a:t>
            </a:r>
          </a:p>
          <a:p>
            <a:pPr>
              <a:spcAft>
                <a:spcPts val="800"/>
              </a:spcAft>
              <a:defRPr sz="1600" b="0">
                <a:solidFill>
                  <a:srgbClr val="182E26"/>
                </a:solidFill>
                <a:latin typeface="DM Sans"/>
              </a:defRPr>
            </a:pPr>
            <a:r>
              <a:t>URL validation in generic flow</a:t>
            </a:r>
          </a:p>
          <a:p>
            <a:pPr>
              <a:spcAft>
                <a:spcPts val="800"/>
              </a:spcAft>
              <a:defRPr sz="1600" b="0">
                <a:solidFill>
                  <a:srgbClr val="182E26"/>
                </a:solidFill>
                <a:latin typeface="DM Sans"/>
              </a:defRPr>
            </a:pPr>
            <a:r>
              <a:t>Sitemap discovery available</a:t>
            </a:r>
          </a:p>
          <a:p>
            <a:pPr>
              <a:spcAft>
                <a:spcPts val="800"/>
              </a:spcAft>
              <a:defRPr sz="1600" b="0">
                <a:solidFill>
                  <a:srgbClr val="182E26"/>
                </a:solidFill>
                <a:latin typeface="DM Sans"/>
              </a:defRPr>
            </a:pPr>
            <a:r>
              <a:t>Review website permissions</a:t>
            </a:r>
          </a:p>
          <a:p>
            <a:pPr>
              <a:spcAft>
                <a:spcPts val="800"/>
              </a:spcAft>
              <a:defRPr sz="1600" b="0">
                <a:solidFill>
                  <a:srgbClr val="182E26"/>
                </a:solidFill>
                <a:latin typeface="DM Sans"/>
              </a:defRPr>
            </a:pPr>
            <a:r>
              <a:t>No claim of universal access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8F6"/>
        </a:solidFill>
        <a:effectLst/>
      </p:bgPr>
    </p:bg>
    <p:spTree>
      <p:nvGrpSpPr>
        <p:cNvPr id="1" name=""/>
        <p:cNvGrpSpPr/>
        <p:nvPr/>
      </p:nvGrpSpPr>
      <p:grpSpPr/>
      <p:sp>
        <p:nvSpPr>
          <p:cNvPr id="2" name="TextBox 1"/>
          <p:cNvSpPr txBox="1"/>
          <p:nvPr/>
        </p:nvSpPr>
        <p:spPr>
          <a:xfrm>
            <a:off x="502920" y="256032"/>
            <a:ext cx="10972800" cy="228600"/>
          </a:xfrm>
          <a:prstGeom prst="rect">
            <a:avLst/>
          </a:prstGeom>
          <a:noFill/>
        </p:spPr>
        <p:txBody>
          <a:bodyPr wrap="square" lIns="0" rIns="0" tIns="0" bIns="0">
            <a:spAutoFit/>
          </a:bodyPr>
          <a:lstStyle/>
          <a:p>
            <a:pPr>
              <a:spcAft>
                <a:spcPts val="800"/>
              </a:spcAft>
              <a:defRPr sz="1000" b="1">
                <a:solidFill>
                  <a:srgbClr val="244F41"/>
                </a:solidFill>
                <a:latin typeface="Manrope"/>
              </a:defRPr>
            </a:pPr>
            <a:r>
              <a:t>12 / BUSINESS HANDOFF</a:t>
            </a:r>
          </a:p>
        </p:txBody>
      </p:sp>
      <p:sp>
        <p:nvSpPr>
          <p:cNvPr id="3" name="TextBox 2"/>
          <p:cNvSpPr txBox="1"/>
          <p:nvPr/>
        </p:nvSpPr>
        <p:spPr>
          <a:xfrm>
            <a:off x="502920" y="749808"/>
            <a:ext cx="11155680" cy="662940"/>
          </a:xfrm>
          <a:prstGeom prst="rect">
            <a:avLst/>
          </a:prstGeom>
          <a:noFill/>
        </p:spPr>
        <p:txBody>
          <a:bodyPr wrap="square" lIns="0" rIns="0" tIns="0" bIns="0">
            <a:spAutoFit/>
          </a:bodyPr>
          <a:lstStyle/>
          <a:p>
            <a:pPr>
              <a:spcAft>
                <a:spcPts val="800"/>
              </a:spcAft>
              <a:defRPr sz="2900" b="1">
                <a:solidFill>
                  <a:srgbClr val="182E26"/>
                </a:solidFill>
                <a:latin typeface="Manrope"/>
              </a:defRPr>
            </a:pPr>
            <a:r>
              <a:t>What ING can use — and what comes next</a:t>
            </a:r>
          </a:p>
        </p:txBody>
      </p:sp>
      <p:sp>
        <p:nvSpPr>
          <p:cNvPr id="4" name="TextBox 3"/>
          <p:cNvSpPr txBox="1"/>
          <p:nvPr/>
        </p:nvSpPr>
        <p:spPr>
          <a:xfrm>
            <a:off x="502920" y="1435608"/>
            <a:ext cx="11064240" cy="548640"/>
          </a:xfrm>
          <a:prstGeom prst="rect">
            <a:avLst/>
          </a:prstGeom>
          <a:noFill/>
        </p:spPr>
        <p:txBody>
          <a:bodyPr wrap="square" lIns="0" rIns="0" tIns="0" bIns="0">
            <a:spAutoFit/>
          </a:bodyPr>
          <a:lstStyle/>
          <a:p>
            <a:pPr>
              <a:spcAft>
                <a:spcPts val="800"/>
              </a:spcAft>
              <a:defRPr sz="1500" b="0">
                <a:solidFill>
                  <a:srgbClr val="63705F"/>
                </a:solidFill>
                <a:latin typeface="DM Sans"/>
              </a:defRPr>
            </a:pPr>
            <a:r>
              <a:t>A repeatable comparison process is delivered; conclusions need reviewed evidence.</a:t>
            </a:r>
          </a:p>
        </p:txBody>
      </p:sp>
      <p:sp>
        <p:nvSpPr>
          <p:cNvPr id="5" name="TextBox 4"/>
          <p:cNvSpPr txBox="1"/>
          <p:nvPr/>
        </p:nvSpPr>
        <p:spPr>
          <a:xfrm>
            <a:off x="502920" y="6437376"/>
            <a:ext cx="10607040" cy="210312"/>
          </a:xfrm>
          <a:prstGeom prst="rect">
            <a:avLst/>
          </a:prstGeom>
          <a:noFill/>
        </p:spPr>
        <p:txBody>
          <a:bodyPr wrap="square" lIns="0" rIns="0" tIns="0" bIns="0">
            <a:spAutoFit/>
          </a:bodyPr>
          <a:lstStyle/>
          <a:p>
            <a:pPr>
              <a:spcAft>
                <a:spcPts val="800"/>
              </a:spcAft>
              <a:defRPr sz="800" b="0">
                <a:solidFill>
                  <a:srgbClr val="63705F"/>
                </a:solidFill>
                <a:latin typeface="DM Sans"/>
              </a:defRPr>
            </a:pPr>
            <a:r>
              <a:t>Use-case: Expected Outputs, Goal; ING presentation pp. 21–22</a:t>
            </a:r>
          </a:p>
        </p:txBody>
      </p:sp>
      <p:sp>
        <p:nvSpPr>
          <p:cNvPr id="6" name="TextBox 5"/>
          <p:cNvSpPr txBox="1"/>
          <p:nvPr/>
        </p:nvSpPr>
        <p:spPr>
          <a:xfrm>
            <a:off x="11064240" y="6419088"/>
            <a:ext cx="640080" cy="228600"/>
          </a:xfrm>
          <a:prstGeom prst="rect">
            <a:avLst/>
          </a:prstGeom>
          <a:noFill/>
        </p:spPr>
        <p:txBody>
          <a:bodyPr wrap="square" lIns="0" rIns="0" tIns="0" bIns="0">
            <a:spAutoFit/>
          </a:bodyPr>
          <a:lstStyle/>
          <a:p>
            <a:pPr>
              <a:spcAft>
                <a:spcPts val="800"/>
              </a:spcAft>
              <a:defRPr sz="1000" b="1">
                <a:solidFill>
                  <a:srgbClr val="244F41"/>
                </a:solidFill>
                <a:latin typeface="Manrope"/>
              </a:defRPr>
            </a:pPr>
            <a:r>
              <a:t>13</a:t>
            </a:r>
          </a:p>
        </p:txBody>
      </p:sp>
      <p:sp>
        <p:nvSpPr>
          <p:cNvPr id="7" name="Rounded Rectangle 6"/>
          <p:cNvSpPr/>
          <p:nvPr/>
        </p:nvSpPr>
        <p:spPr>
          <a:xfrm>
            <a:off x="502920" y="2286000"/>
            <a:ext cx="3566160" cy="352044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2468880"/>
            <a:ext cx="3145536" cy="502920"/>
          </a:xfrm>
          <a:prstGeom prst="rect">
            <a:avLst/>
          </a:prstGeom>
          <a:noFill/>
        </p:spPr>
        <p:txBody>
          <a:bodyPr wrap="square" lIns="0" rIns="0" tIns="0" bIns="0">
            <a:spAutoFit/>
          </a:bodyPr>
          <a:lstStyle/>
          <a:p>
            <a:pPr>
              <a:spcAft>
                <a:spcPts val="800"/>
              </a:spcAft>
              <a:defRPr sz="1900" b="1">
                <a:solidFill>
                  <a:srgbClr val="244F41"/>
                </a:solidFill>
                <a:latin typeface="Manrope"/>
              </a:defRPr>
            </a:pPr>
            <a:r>
              <a:t>Value delivered</a:t>
            </a:r>
          </a:p>
        </p:txBody>
      </p:sp>
      <p:sp>
        <p:nvSpPr>
          <p:cNvPr id="9" name="TextBox 8"/>
          <p:cNvSpPr txBox="1"/>
          <p:nvPr/>
        </p:nvSpPr>
        <p:spPr>
          <a:xfrm>
            <a:off x="713232" y="3108960"/>
            <a:ext cx="3145536" cy="2587752"/>
          </a:xfrm>
          <a:prstGeom prst="rect">
            <a:avLst/>
          </a:prstGeom>
          <a:noFill/>
        </p:spPr>
        <p:txBody>
          <a:bodyPr wrap="square" lIns="0" rIns="0" tIns="0" bIns="0">
            <a:spAutoFit/>
          </a:bodyPr>
          <a:lstStyle/>
          <a:p>
            <a:pPr>
              <a:spcAft>
                <a:spcPts val="800"/>
              </a:spcAft>
              <a:defRPr sz="1600" b="0">
                <a:solidFill>
                  <a:srgbClr val="182E26"/>
                </a:solidFill>
                <a:latin typeface="DM Sans"/>
              </a:defRPr>
            </a:pPr>
            <a:r>
              <a:t>Less fragmented evidence</a:t>
            </a:r>
          </a:p>
          <a:p>
            <a:pPr>
              <a:spcAft>
                <a:spcPts val="800"/>
              </a:spcAft>
              <a:defRPr sz="1600" b="0">
                <a:solidFill>
                  <a:srgbClr val="182E26"/>
                </a:solidFill>
                <a:latin typeface="DM Sans"/>
              </a:defRPr>
            </a:pPr>
            <a:r>
              <a:t>A common feature vocabulary</a:t>
            </a:r>
          </a:p>
          <a:p>
            <a:pPr>
              <a:spcAft>
                <a:spcPts val="800"/>
              </a:spcAft>
              <a:defRPr sz="1600" b="0">
                <a:solidFill>
                  <a:srgbClr val="182E26"/>
                </a:solidFill>
                <a:latin typeface="DM Sans"/>
              </a:defRPr>
            </a:pPr>
            <a:r>
              <a:t>Traceable review decisions</a:t>
            </a:r>
          </a:p>
          <a:p>
            <a:pPr>
              <a:spcAft>
                <a:spcPts val="800"/>
              </a:spcAft>
              <a:defRPr sz="1600" b="0">
                <a:solidFill>
                  <a:srgbClr val="182E26"/>
                </a:solidFill>
                <a:latin typeface="DM Sans"/>
              </a:defRPr>
            </a:pPr>
            <a:r>
              <a:t>Repeatable comparison views</a:t>
            </a:r>
          </a:p>
        </p:txBody>
      </p:sp>
      <p:sp>
        <p:nvSpPr>
          <p:cNvPr id="10" name="Rounded Rectangle 9"/>
          <p:cNvSpPr/>
          <p:nvPr/>
        </p:nvSpPr>
        <p:spPr>
          <a:xfrm>
            <a:off x="4297680" y="2286000"/>
            <a:ext cx="3566160" cy="352044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7992" y="2468880"/>
            <a:ext cx="3145536" cy="502920"/>
          </a:xfrm>
          <a:prstGeom prst="rect">
            <a:avLst/>
          </a:prstGeom>
          <a:noFill/>
        </p:spPr>
        <p:txBody>
          <a:bodyPr wrap="square" lIns="0" rIns="0" tIns="0" bIns="0">
            <a:spAutoFit/>
          </a:bodyPr>
          <a:lstStyle/>
          <a:p>
            <a:pPr>
              <a:spcAft>
                <a:spcPts val="800"/>
              </a:spcAft>
              <a:defRPr sz="1900" b="1">
                <a:solidFill>
                  <a:srgbClr val="244F41"/>
                </a:solidFill>
                <a:latin typeface="Manrope"/>
              </a:defRPr>
            </a:pPr>
            <a:r>
              <a:t>Before final conclusions</a:t>
            </a:r>
          </a:p>
        </p:txBody>
      </p:sp>
      <p:sp>
        <p:nvSpPr>
          <p:cNvPr id="12" name="TextBox 11"/>
          <p:cNvSpPr txBox="1"/>
          <p:nvPr/>
        </p:nvSpPr>
        <p:spPr>
          <a:xfrm>
            <a:off x="4507992" y="3108960"/>
            <a:ext cx="3145536" cy="2587752"/>
          </a:xfrm>
          <a:prstGeom prst="rect">
            <a:avLst/>
          </a:prstGeom>
          <a:noFill/>
        </p:spPr>
        <p:txBody>
          <a:bodyPr wrap="square" lIns="0" rIns="0" tIns="0" bIns="0">
            <a:spAutoFit/>
          </a:bodyPr>
          <a:lstStyle/>
          <a:p>
            <a:pPr>
              <a:spcAft>
                <a:spcPts val="800"/>
              </a:spcAft>
              <a:defRPr sz="1600" b="0">
                <a:solidFill>
                  <a:srgbClr val="182E26"/>
                </a:solidFill>
                <a:latin typeface="DM Sans"/>
              </a:defRPr>
            </a:pPr>
            <a:r>
              <a:t>Match category and language</a:t>
            </a:r>
          </a:p>
          <a:p>
            <a:pPr>
              <a:spcAft>
                <a:spcPts val="800"/>
              </a:spcAft>
              <a:defRPr sz="1600" b="0">
                <a:solidFill>
                  <a:srgbClr val="182E26"/>
                </a:solidFill>
                <a:latin typeface="DM Sans"/>
              </a:defRPr>
            </a:pPr>
            <a:r>
              <a:t>Include relevant competitors</a:t>
            </a:r>
          </a:p>
          <a:p>
            <a:pPr>
              <a:spcAft>
                <a:spcPts val="800"/>
              </a:spcAft>
              <a:defRPr sz="1600" b="0">
                <a:solidFill>
                  <a:srgbClr val="182E26"/>
                </a:solidFill>
                <a:latin typeface="DM Sans"/>
              </a:defRPr>
            </a:pPr>
            <a:r>
              <a:t>Complete and double-review</a:t>
            </a:r>
          </a:p>
          <a:p>
            <a:pPr>
              <a:spcAft>
                <a:spcPts val="800"/>
              </a:spcAft>
              <a:defRPr sz="1600" b="0">
                <a:solidFill>
                  <a:srgbClr val="182E26"/>
                </a:solidFill>
                <a:latin typeface="DM Sans"/>
              </a:defRPr>
            </a:pPr>
            <a:r>
              <a:t>Validate keyword scores</a:t>
            </a:r>
          </a:p>
        </p:txBody>
      </p:sp>
      <p:sp>
        <p:nvSpPr>
          <p:cNvPr id="13" name="Rounded Rectangle 12"/>
          <p:cNvSpPr/>
          <p:nvPr/>
        </p:nvSpPr>
        <p:spPr>
          <a:xfrm>
            <a:off x="8092440" y="2286000"/>
            <a:ext cx="3566160" cy="352044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2468880"/>
            <a:ext cx="3145536" cy="502920"/>
          </a:xfrm>
          <a:prstGeom prst="rect">
            <a:avLst/>
          </a:prstGeom>
          <a:noFill/>
        </p:spPr>
        <p:txBody>
          <a:bodyPr wrap="square" lIns="0" rIns="0" tIns="0" bIns="0">
            <a:spAutoFit/>
          </a:bodyPr>
          <a:lstStyle/>
          <a:p>
            <a:pPr>
              <a:spcAft>
                <a:spcPts val="800"/>
              </a:spcAft>
              <a:defRPr sz="1900" b="1">
                <a:solidFill>
                  <a:srgbClr val="244F41"/>
                </a:solidFill>
                <a:latin typeface="Manrope"/>
              </a:defRPr>
            </a:pPr>
            <a:r>
              <a:t>Next business output</a:t>
            </a:r>
          </a:p>
        </p:txBody>
      </p:sp>
      <p:sp>
        <p:nvSpPr>
          <p:cNvPr id="15" name="TextBox 14"/>
          <p:cNvSpPr txBox="1"/>
          <p:nvPr/>
        </p:nvSpPr>
        <p:spPr>
          <a:xfrm>
            <a:off x="8302752" y="3108960"/>
            <a:ext cx="3145536" cy="2587752"/>
          </a:xfrm>
          <a:prstGeom prst="rect">
            <a:avLst/>
          </a:prstGeom>
          <a:noFill/>
        </p:spPr>
        <p:txBody>
          <a:bodyPr wrap="square" lIns="0" rIns="0" tIns="0" bIns="0">
            <a:spAutoFit/>
          </a:bodyPr>
          <a:lstStyle/>
          <a:p>
            <a:pPr>
              <a:spcAft>
                <a:spcPts val="800"/>
              </a:spcAft>
              <a:defRPr sz="1600" b="0">
                <a:solidFill>
                  <a:srgbClr val="182E26"/>
                </a:solidFill>
                <a:latin typeface="DM Sans"/>
              </a:defRPr>
            </a:pPr>
            <a:r>
              <a:t>Explain 2–3 real differences</a:t>
            </a:r>
          </a:p>
          <a:p>
            <a:pPr>
              <a:spcAft>
                <a:spcPts val="800"/>
              </a:spcAft>
              <a:defRPr sz="1600" b="0">
                <a:solidFill>
                  <a:srgbClr val="182E26"/>
                </a:solidFill>
                <a:latin typeface="DM Sans"/>
              </a:defRPr>
            </a:pPr>
            <a:r>
              <a:t>Show evidence for each claim</a:t>
            </a:r>
          </a:p>
          <a:p>
            <a:pPr>
              <a:spcAft>
                <a:spcPts val="800"/>
              </a:spcAft>
              <a:defRPr sz="1600" b="0">
                <a:solidFill>
                  <a:srgbClr val="182E26"/>
                </a:solidFill>
                <a:latin typeface="DM Sans"/>
              </a:defRPr>
            </a:pPr>
            <a:r>
              <a:t>Position ING within the sample</a:t>
            </a:r>
          </a:p>
          <a:p>
            <a:pPr>
              <a:spcAft>
                <a:spcPts val="800"/>
              </a:spcAft>
              <a:defRPr sz="1600" b="0">
                <a:solidFill>
                  <a:srgbClr val="182E26"/>
                </a:solidFill>
                <a:latin typeface="DM Sans"/>
              </a:defRPr>
            </a:pPr>
            <a:r>
              <a:t>Propose testable improvements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8F6"/>
        </a:solidFill>
        <a:effectLst/>
      </p:bgPr>
    </p:bg>
    <p:spTree>
      <p:nvGrpSpPr>
        <p:cNvPr id="1" name=""/>
        <p:cNvGrpSpPr/>
        <p:nvPr/>
      </p:nvGrpSpPr>
      <p:grpSpPr/>
      <p:sp>
        <p:nvSpPr>
          <p:cNvPr id="2" name="TextBox 1"/>
          <p:cNvSpPr txBox="1"/>
          <p:nvPr/>
        </p:nvSpPr>
        <p:spPr>
          <a:xfrm>
            <a:off x="502920" y="256032"/>
            <a:ext cx="10972800" cy="228600"/>
          </a:xfrm>
          <a:prstGeom prst="rect">
            <a:avLst/>
          </a:prstGeom>
          <a:noFill/>
        </p:spPr>
        <p:txBody>
          <a:bodyPr wrap="square" lIns="0" rIns="0" tIns="0" bIns="0">
            <a:spAutoFit/>
          </a:bodyPr>
          <a:lstStyle/>
          <a:p>
            <a:pPr>
              <a:spcAft>
                <a:spcPts val="800"/>
              </a:spcAft>
              <a:defRPr sz="1000" b="1">
                <a:solidFill>
                  <a:srgbClr val="244F41"/>
                </a:solidFill>
                <a:latin typeface="Manrope"/>
              </a:defRPr>
            </a:pPr>
            <a:r>
              <a:t>13 / LIVE DEMO &amp; DISCUSSION</a:t>
            </a:r>
          </a:p>
        </p:txBody>
      </p:sp>
      <p:sp>
        <p:nvSpPr>
          <p:cNvPr id="3" name="TextBox 2"/>
          <p:cNvSpPr txBox="1"/>
          <p:nvPr/>
        </p:nvSpPr>
        <p:spPr>
          <a:xfrm>
            <a:off x="502920" y="749808"/>
            <a:ext cx="11155680" cy="662940"/>
          </a:xfrm>
          <a:prstGeom prst="rect">
            <a:avLst/>
          </a:prstGeom>
          <a:noFill/>
        </p:spPr>
        <p:txBody>
          <a:bodyPr wrap="square" lIns="0" rIns="0" tIns="0" bIns="0">
            <a:spAutoFit/>
          </a:bodyPr>
          <a:lstStyle/>
          <a:p>
            <a:pPr>
              <a:spcAft>
                <a:spcPts val="800"/>
              </a:spcAft>
              <a:defRPr sz="2900" b="1">
                <a:solidFill>
                  <a:srgbClr val="182E26"/>
                </a:solidFill>
                <a:latin typeface="Manrope"/>
              </a:defRPr>
            </a:pPr>
            <a:r>
              <a:t>Show the full loop in three minutes</a:t>
            </a:r>
          </a:p>
        </p:txBody>
      </p:sp>
      <p:sp>
        <p:nvSpPr>
          <p:cNvPr id="4" name="TextBox 3"/>
          <p:cNvSpPr txBox="1"/>
          <p:nvPr/>
        </p:nvSpPr>
        <p:spPr>
          <a:xfrm>
            <a:off x="502920" y="1435608"/>
            <a:ext cx="11064240" cy="548640"/>
          </a:xfrm>
          <a:prstGeom prst="rect">
            <a:avLst/>
          </a:prstGeom>
          <a:noFill/>
        </p:spPr>
        <p:txBody>
          <a:bodyPr wrap="square" lIns="0" rIns="0" tIns="0" bIns="0">
            <a:spAutoFit/>
          </a:bodyPr>
          <a:lstStyle/>
          <a:p>
            <a:pPr>
              <a:spcAft>
                <a:spcPts val="800"/>
              </a:spcAft>
              <a:defRPr sz="1500" b="0">
                <a:solidFill>
                  <a:srgbClr val="63705F"/>
                </a:solidFill>
                <a:latin typeface="DM Sans"/>
              </a:defRPr>
            </a:pPr>
            <a:r>
              <a:t>Source → Capture evidence → Review labels → Compare</a:t>
            </a:r>
          </a:p>
        </p:txBody>
      </p:sp>
      <p:sp>
        <p:nvSpPr>
          <p:cNvPr id="5" name="TextBox 4"/>
          <p:cNvSpPr txBox="1"/>
          <p:nvPr/>
        </p:nvSpPr>
        <p:spPr>
          <a:xfrm>
            <a:off x="502920" y="6437376"/>
            <a:ext cx="10607040" cy="210312"/>
          </a:xfrm>
          <a:prstGeom prst="rect">
            <a:avLst/>
          </a:prstGeom>
          <a:noFill/>
        </p:spPr>
        <p:txBody>
          <a:bodyPr wrap="square" lIns="0" rIns="0" tIns="0" bIns="0">
            <a:spAutoFit/>
          </a:bodyPr>
          <a:lstStyle/>
          <a:p>
            <a:pPr>
              <a:spcAft>
                <a:spcPts val="800"/>
              </a:spcAft>
              <a:defRPr sz="800" b="0">
                <a:solidFill>
                  <a:srgbClr val="63705F"/>
                </a:solidFill>
                <a:latin typeface="DM Sans"/>
              </a:defRPr>
            </a:pPr>
            <a:r>
              <a:t>Demo uses existing records; no live scraping dependency required</a:t>
            </a:r>
          </a:p>
        </p:txBody>
      </p:sp>
      <p:sp>
        <p:nvSpPr>
          <p:cNvPr id="6" name="TextBox 5"/>
          <p:cNvSpPr txBox="1"/>
          <p:nvPr/>
        </p:nvSpPr>
        <p:spPr>
          <a:xfrm>
            <a:off x="11064240" y="6419088"/>
            <a:ext cx="640080" cy="228600"/>
          </a:xfrm>
          <a:prstGeom prst="rect">
            <a:avLst/>
          </a:prstGeom>
          <a:noFill/>
        </p:spPr>
        <p:txBody>
          <a:bodyPr wrap="square" lIns="0" rIns="0" tIns="0" bIns="0">
            <a:spAutoFit/>
          </a:bodyPr>
          <a:lstStyle/>
          <a:p>
            <a:pPr>
              <a:spcAft>
                <a:spcPts val="800"/>
              </a:spcAft>
              <a:defRPr sz="1000" b="1">
                <a:solidFill>
                  <a:srgbClr val="244F41"/>
                </a:solidFill>
                <a:latin typeface="Manrope"/>
              </a:defRPr>
            </a:pPr>
            <a:r>
              <a:t>14</a:t>
            </a:r>
          </a:p>
        </p:txBody>
      </p:sp>
      <p:sp>
        <p:nvSpPr>
          <p:cNvPr id="7" name="Rounded Rectangle 6"/>
          <p:cNvSpPr/>
          <p:nvPr/>
        </p:nvSpPr>
        <p:spPr>
          <a:xfrm>
            <a:off x="502920" y="2377440"/>
            <a:ext cx="2697480" cy="233172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2560320"/>
            <a:ext cx="2276856" cy="502920"/>
          </a:xfrm>
          <a:prstGeom prst="rect">
            <a:avLst/>
          </a:prstGeom>
          <a:noFill/>
        </p:spPr>
        <p:txBody>
          <a:bodyPr wrap="square" lIns="0" rIns="0" tIns="0" bIns="0">
            <a:spAutoFit/>
          </a:bodyPr>
          <a:lstStyle/>
          <a:p>
            <a:pPr>
              <a:spcAft>
                <a:spcPts val="800"/>
              </a:spcAft>
              <a:defRPr sz="1900" b="1">
                <a:solidFill>
                  <a:srgbClr val="244F41"/>
                </a:solidFill>
                <a:latin typeface="Manrope"/>
              </a:defRPr>
            </a:pPr>
            <a:r>
              <a:t>01  Source</a:t>
            </a:r>
          </a:p>
        </p:txBody>
      </p:sp>
      <p:sp>
        <p:nvSpPr>
          <p:cNvPr id="9" name="TextBox 8"/>
          <p:cNvSpPr txBox="1"/>
          <p:nvPr/>
        </p:nvSpPr>
        <p:spPr>
          <a:xfrm>
            <a:off x="713232" y="3200400"/>
            <a:ext cx="2276856" cy="1399031"/>
          </a:xfrm>
          <a:prstGeom prst="rect">
            <a:avLst/>
          </a:prstGeom>
          <a:noFill/>
        </p:spPr>
        <p:txBody>
          <a:bodyPr wrap="square" lIns="0" rIns="0" tIns="0" bIns="0">
            <a:spAutoFit/>
          </a:bodyPr>
          <a:lstStyle/>
          <a:p>
            <a:pPr>
              <a:spcAft>
                <a:spcPts val="800"/>
              </a:spcAft>
              <a:defRPr sz="1600" b="0">
                <a:solidFill>
                  <a:srgbClr val="182E26"/>
                </a:solidFill>
                <a:latin typeface="DM Sans"/>
              </a:defRPr>
            </a:pPr>
            <a:r>
              <a:t>Show support and action state</a:t>
            </a:r>
          </a:p>
        </p:txBody>
      </p:sp>
      <p:sp>
        <p:nvSpPr>
          <p:cNvPr id="10" name="Rounded Rectangle 9"/>
          <p:cNvSpPr/>
          <p:nvPr/>
        </p:nvSpPr>
        <p:spPr>
          <a:xfrm>
            <a:off x="3355848" y="2377440"/>
            <a:ext cx="2697480" cy="233172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2560320"/>
            <a:ext cx="2276856" cy="502920"/>
          </a:xfrm>
          <a:prstGeom prst="rect">
            <a:avLst/>
          </a:prstGeom>
          <a:noFill/>
        </p:spPr>
        <p:txBody>
          <a:bodyPr wrap="square" lIns="0" rIns="0" tIns="0" bIns="0">
            <a:spAutoFit/>
          </a:bodyPr>
          <a:lstStyle/>
          <a:p>
            <a:pPr>
              <a:spcAft>
                <a:spcPts val="800"/>
              </a:spcAft>
              <a:defRPr sz="1900" b="1">
                <a:solidFill>
                  <a:srgbClr val="244F41"/>
                </a:solidFill>
                <a:latin typeface="Manrope"/>
              </a:defRPr>
            </a:pPr>
            <a:r>
              <a:t>02  Evidence</a:t>
            </a:r>
          </a:p>
        </p:txBody>
      </p:sp>
      <p:sp>
        <p:nvSpPr>
          <p:cNvPr id="12" name="TextBox 11"/>
          <p:cNvSpPr txBox="1"/>
          <p:nvPr/>
        </p:nvSpPr>
        <p:spPr>
          <a:xfrm>
            <a:off x="3566160" y="3200400"/>
            <a:ext cx="2276856" cy="1399031"/>
          </a:xfrm>
          <a:prstGeom prst="rect">
            <a:avLst/>
          </a:prstGeom>
          <a:noFill/>
        </p:spPr>
        <p:txBody>
          <a:bodyPr wrap="square" lIns="0" rIns="0" tIns="0" bIns="0">
            <a:spAutoFit/>
          </a:bodyPr>
          <a:lstStyle/>
          <a:p>
            <a:pPr>
              <a:spcAft>
                <a:spcPts val="800"/>
              </a:spcAft>
              <a:defRPr sz="1600" b="0">
                <a:solidFill>
                  <a:srgbClr val="182E26"/>
                </a:solidFill>
                <a:latin typeface="DM Sans"/>
              </a:defRPr>
            </a:pPr>
            <a:r>
              <a:t>Open screenshot and DOM history</a:t>
            </a:r>
          </a:p>
        </p:txBody>
      </p:sp>
      <p:sp>
        <p:nvSpPr>
          <p:cNvPr id="13" name="Rounded Rectangle 12"/>
          <p:cNvSpPr/>
          <p:nvPr/>
        </p:nvSpPr>
        <p:spPr>
          <a:xfrm>
            <a:off x="6208776" y="2377440"/>
            <a:ext cx="2697480" cy="233172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2560320"/>
            <a:ext cx="2276856" cy="502920"/>
          </a:xfrm>
          <a:prstGeom prst="rect">
            <a:avLst/>
          </a:prstGeom>
          <a:noFill/>
        </p:spPr>
        <p:txBody>
          <a:bodyPr wrap="square" lIns="0" rIns="0" tIns="0" bIns="0">
            <a:spAutoFit/>
          </a:bodyPr>
          <a:lstStyle/>
          <a:p>
            <a:pPr>
              <a:spcAft>
                <a:spcPts val="800"/>
              </a:spcAft>
              <a:defRPr sz="1900" b="1">
                <a:solidFill>
                  <a:srgbClr val="244F41"/>
                </a:solidFill>
                <a:latin typeface="Manrope"/>
              </a:defRPr>
            </a:pPr>
            <a:r>
              <a:t>03  Review</a:t>
            </a:r>
          </a:p>
        </p:txBody>
      </p:sp>
      <p:sp>
        <p:nvSpPr>
          <p:cNvPr id="15" name="TextBox 14"/>
          <p:cNvSpPr txBox="1"/>
          <p:nvPr/>
        </p:nvSpPr>
        <p:spPr>
          <a:xfrm>
            <a:off x="6419088" y="3200400"/>
            <a:ext cx="2276856" cy="1399031"/>
          </a:xfrm>
          <a:prstGeom prst="rect">
            <a:avLst/>
          </a:prstGeom>
          <a:noFill/>
        </p:spPr>
        <p:txBody>
          <a:bodyPr wrap="square" lIns="0" rIns="0" tIns="0" bIns="0">
            <a:spAutoFit/>
          </a:bodyPr>
          <a:lstStyle/>
          <a:p>
            <a:pPr>
              <a:spcAft>
                <a:spcPts val="800"/>
              </a:spcAft>
              <a:defRPr sz="1600" b="0">
                <a:solidFill>
                  <a:srgbClr val="182E26"/>
                </a:solidFill>
                <a:latin typeface="DM Sans"/>
              </a:defRPr>
            </a:pPr>
            <a:r>
              <a:t>Explain a CTA value and its provenance</a:t>
            </a:r>
          </a:p>
        </p:txBody>
      </p:sp>
      <p:sp>
        <p:nvSpPr>
          <p:cNvPr id="16" name="Rounded Rectangle 15"/>
          <p:cNvSpPr/>
          <p:nvPr/>
        </p:nvSpPr>
        <p:spPr>
          <a:xfrm>
            <a:off x="9061704" y="2377440"/>
            <a:ext cx="2697480" cy="233172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72016" y="2560320"/>
            <a:ext cx="2276856" cy="502920"/>
          </a:xfrm>
          <a:prstGeom prst="rect">
            <a:avLst/>
          </a:prstGeom>
          <a:noFill/>
        </p:spPr>
        <p:txBody>
          <a:bodyPr wrap="square" lIns="0" rIns="0" tIns="0" bIns="0">
            <a:spAutoFit/>
          </a:bodyPr>
          <a:lstStyle/>
          <a:p>
            <a:pPr>
              <a:spcAft>
                <a:spcPts val="800"/>
              </a:spcAft>
              <a:defRPr sz="1900" b="1">
                <a:solidFill>
                  <a:srgbClr val="244F41"/>
                </a:solidFill>
                <a:latin typeface="Manrope"/>
              </a:defRPr>
            </a:pPr>
            <a:r>
              <a:t>04  Compare</a:t>
            </a:r>
          </a:p>
        </p:txBody>
      </p:sp>
      <p:sp>
        <p:nvSpPr>
          <p:cNvPr id="18" name="TextBox 17"/>
          <p:cNvSpPr txBox="1"/>
          <p:nvPr/>
        </p:nvSpPr>
        <p:spPr>
          <a:xfrm>
            <a:off x="9272016" y="3200400"/>
            <a:ext cx="2276856" cy="1399031"/>
          </a:xfrm>
          <a:prstGeom prst="rect">
            <a:avLst/>
          </a:prstGeom>
          <a:noFill/>
        </p:spPr>
        <p:txBody>
          <a:bodyPr wrap="square" lIns="0" rIns="0" tIns="0" bIns="0">
            <a:spAutoFit/>
          </a:bodyPr>
          <a:lstStyle/>
          <a:p>
            <a:pPr>
              <a:spcAft>
                <a:spcPts val="800"/>
              </a:spcAft>
              <a:defRPr sz="1600" b="0">
                <a:solidFill>
                  <a:srgbClr val="182E26"/>
                </a:solidFill>
                <a:latin typeface="DM Sans"/>
              </a:defRPr>
            </a:pPr>
            <a:r>
              <a:t>Read a difference and its coverage</a:t>
            </a:r>
          </a:p>
        </p:txBody>
      </p:sp>
      <p:sp>
        <p:nvSpPr>
          <p:cNvPr id="19" name="Rounded Rectangle 18"/>
          <p:cNvSpPr/>
          <p:nvPr/>
        </p:nvSpPr>
        <p:spPr>
          <a:xfrm>
            <a:off x="502920" y="5212080"/>
            <a:ext cx="11155680" cy="594360"/>
          </a:xfrm>
          <a:prstGeom prst="roundRect">
            <a:avLst>
              <a:gd name="adj" fmla="val 8000"/>
            </a:avLst>
          </a:prstGeom>
          <a:solidFill>
            <a:srgbClr val="244F41"/>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5349240"/>
            <a:ext cx="10698480" cy="502920"/>
          </a:xfrm>
          <a:prstGeom prst="rect">
            <a:avLst/>
          </a:prstGeom>
          <a:noFill/>
        </p:spPr>
        <p:txBody>
          <a:bodyPr wrap="square" lIns="0" rIns="0" tIns="0" bIns="0">
            <a:spAutoFit/>
          </a:bodyPr>
          <a:lstStyle/>
          <a:p>
            <a:pPr>
              <a:spcAft>
                <a:spcPts val="800"/>
              </a:spcAft>
              <a:defRPr sz="2200" b="1">
                <a:solidFill>
                  <a:srgbClr val="FFFFFF"/>
                </a:solidFill>
                <a:latin typeface="Manrope"/>
              </a:defRPr>
            </a:pPr>
            <a:r>
              <a:t>Discussion: which comparable sample should we validate next?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8F6"/>
        </a:solidFill>
        <a:effectLst/>
      </p:bgPr>
    </p:bg>
    <p:spTree>
      <p:nvGrpSpPr>
        <p:cNvPr id="1" name=""/>
        <p:cNvGrpSpPr/>
        <p:nvPr/>
      </p:nvGrpSpPr>
      <p:grpSpPr/>
      <p:sp>
        <p:nvSpPr>
          <p:cNvPr id="2" name="TextBox 1"/>
          <p:cNvSpPr txBox="1"/>
          <p:nvPr/>
        </p:nvSpPr>
        <p:spPr>
          <a:xfrm>
            <a:off x="502920" y="256032"/>
            <a:ext cx="10972800" cy="228600"/>
          </a:xfrm>
          <a:prstGeom prst="rect">
            <a:avLst/>
          </a:prstGeom>
          <a:noFill/>
        </p:spPr>
        <p:txBody>
          <a:bodyPr wrap="square" lIns="0" rIns="0" tIns="0" bIns="0">
            <a:spAutoFit/>
          </a:bodyPr>
          <a:lstStyle/>
          <a:p>
            <a:pPr>
              <a:spcAft>
                <a:spcPts val="800"/>
              </a:spcAft>
              <a:defRPr sz="1000" b="1">
                <a:solidFill>
                  <a:srgbClr val="244F41"/>
                </a:solidFill>
                <a:latin typeface="Manrope"/>
              </a:defRPr>
            </a:pPr>
            <a:r>
              <a:t>APPENDIX / TRACEABILITY</a:t>
            </a:r>
          </a:p>
        </p:txBody>
      </p:sp>
      <p:sp>
        <p:nvSpPr>
          <p:cNvPr id="3" name="TextBox 2"/>
          <p:cNvSpPr txBox="1"/>
          <p:nvPr/>
        </p:nvSpPr>
        <p:spPr>
          <a:xfrm>
            <a:off x="502920" y="749808"/>
            <a:ext cx="11155680" cy="662940"/>
          </a:xfrm>
          <a:prstGeom prst="rect">
            <a:avLst/>
          </a:prstGeom>
          <a:noFill/>
        </p:spPr>
        <p:txBody>
          <a:bodyPr wrap="square" lIns="0" rIns="0" tIns="0" bIns="0">
            <a:spAutoFit/>
          </a:bodyPr>
          <a:lstStyle/>
          <a:p>
            <a:pPr>
              <a:spcAft>
                <a:spcPts val="800"/>
              </a:spcAft>
              <a:defRPr sz="2900" b="1">
                <a:solidFill>
                  <a:srgbClr val="182E26"/>
                </a:solidFill>
                <a:latin typeface="Manrope"/>
              </a:defRPr>
            </a:pPr>
            <a:r>
              <a:t>Evidence behind this presentation</a:t>
            </a:r>
          </a:p>
        </p:txBody>
      </p:sp>
      <p:sp>
        <p:nvSpPr>
          <p:cNvPr id="4" name="TextBox 3"/>
          <p:cNvSpPr txBox="1"/>
          <p:nvPr/>
        </p:nvSpPr>
        <p:spPr>
          <a:xfrm>
            <a:off x="502920" y="1435608"/>
            <a:ext cx="11064240" cy="548640"/>
          </a:xfrm>
          <a:prstGeom prst="rect">
            <a:avLst/>
          </a:prstGeom>
          <a:noFill/>
        </p:spPr>
        <p:txBody>
          <a:bodyPr wrap="square" lIns="0" rIns="0" tIns="0" bIns="0">
            <a:spAutoFit/>
          </a:bodyPr>
          <a:lstStyle/>
          <a:p>
            <a:pPr>
              <a:spcAft>
                <a:spcPts val="800"/>
              </a:spcAft>
              <a:defRPr sz="1500" b="0">
                <a:solidFill>
                  <a:srgbClr val="63705F"/>
                </a:solidFill>
                <a:latin typeface="DM Sans"/>
              </a:defRPr>
            </a:pPr>
            <a:r>
              <a:t>Requirement sources and implementation references for Q&amp;A.</a:t>
            </a:r>
          </a:p>
        </p:txBody>
      </p:sp>
      <p:sp>
        <p:nvSpPr>
          <p:cNvPr id="5" name="TextBox 4"/>
          <p:cNvSpPr txBox="1"/>
          <p:nvPr/>
        </p:nvSpPr>
        <p:spPr>
          <a:xfrm>
            <a:off x="502920" y="6437376"/>
            <a:ext cx="10607040" cy="210312"/>
          </a:xfrm>
          <a:prstGeom prst="rect">
            <a:avLst/>
          </a:prstGeom>
          <a:noFill/>
        </p:spPr>
        <p:txBody>
          <a:bodyPr wrap="square" lIns="0" rIns="0" tIns="0" bIns="0">
            <a:spAutoFit/>
          </a:bodyPr>
          <a:lstStyle/>
          <a:p>
            <a:pPr>
              <a:spcAft>
                <a:spcPts val="800"/>
              </a:spcAft>
              <a:defRPr sz="800" b="0">
                <a:solidFill>
                  <a:srgbClr val="63705F"/>
                </a:solidFill>
                <a:latin typeface="DM Sans"/>
              </a:defRPr>
            </a:pPr>
            <a:r>
              <a:t>Repository review and local screenshots · 24 September 2026</a:t>
            </a:r>
          </a:p>
        </p:txBody>
      </p:sp>
      <p:sp>
        <p:nvSpPr>
          <p:cNvPr id="6" name="TextBox 5"/>
          <p:cNvSpPr txBox="1"/>
          <p:nvPr/>
        </p:nvSpPr>
        <p:spPr>
          <a:xfrm>
            <a:off x="11064240" y="6419088"/>
            <a:ext cx="640080" cy="228600"/>
          </a:xfrm>
          <a:prstGeom prst="rect">
            <a:avLst/>
          </a:prstGeom>
          <a:noFill/>
        </p:spPr>
        <p:txBody>
          <a:bodyPr wrap="square" lIns="0" rIns="0" tIns="0" bIns="0">
            <a:spAutoFit/>
          </a:bodyPr>
          <a:lstStyle/>
          <a:p>
            <a:pPr>
              <a:spcAft>
                <a:spcPts val="800"/>
              </a:spcAft>
              <a:defRPr sz="1000" b="1">
                <a:solidFill>
                  <a:srgbClr val="244F41"/>
                </a:solidFill>
                <a:latin typeface="Manrope"/>
              </a:defRPr>
            </a:pPr>
            <a:r>
              <a:t>15</a:t>
            </a:r>
          </a:p>
        </p:txBody>
      </p:sp>
      <p:sp>
        <p:nvSpPr>
          <p:cNvPr id="7" name="Rounded Rectangle 6"/>
          <p:cNvSpPr/>
          <p:nvPr/>
        </p:nvSpPr>
        <p:spPr>
          <a:xfrm>
            <a:off x="502920" y="2240280"/>
            <a:ext cx="5440680" cy="361188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2423160"/>
            <a:ext cx="5020056" cy="502920"/>
          </a:xfrm>
          <a:prstGeom prst="rect">
            <a:avLst/>
          </a:prstGeom>
          <a:noFill/>
        </p:spPr>
        <p:txBody>
          <a:bodyPr wrap="square" lIns="0" rIns="0" tIns="0" bIns="0">
            <a:spAutoFit/>
          </a:bodyPr>
          <a:lstStyle/>
          <a:p>
            <a:pPr>
              <a:spcAft>
                <a:spcPts val="800"/>
              </a:spcAft>
              <a:defRPr sz="1900" b="1">
                <a:solidFill>
                  <a:srgbClr val="244F41"/>
                </a:solidFill>
                <a:latin typeface="Manrope"/>
              </a:defRPr>
            </a:pPr>
            <a:r>
              <a:t>Stakeholder requirements</a:t>
            </a:r>
          </a:p>
        </p:txBody>
      </p:sp>
      <p:sp>
        <p:nvSpPr>
          <p:cNvPr id="9" name="TextBox 8"/>
          <p:cNvSpPr txBox="1"/>
          <p:nvPr/>
        </p:nvSpPr>
        <p:spPr>
          <a:xfrm>
            <a:off x="713232" y="3063240"/>
            <a:ext cx="5020056" cy="2679192"/>
          </a:xfrm>
          <a:prstGeom prst="rect">
            <a:avLst/>
          </a:prstGeom>
          <a:noFill/>
        </p:spPr>
        <p:txBody>
          <a:bodyPr wrap="square" lIns="0" rIns="0" tIns="0" bIns="0">
            <a:spAutoFit/>
          </a:bodyPr>
          <a:lstStyle/>
          <a:p>
            <a:pPr>
              <a:spcAft>
                <a:spcPts val="800"/>
              </a:spcAft>
              <a:defRPr sz="1600" b="0">
                <a:solidFill>
                  <a:srgbClr val="182E26"/>
                </a:solidFill>
                <a:latin typeface="DM Sans"/>
              </a:defRPr>
            </a:pPr>
            <a:r>
              <a:t>20260914_ProjectPresentation-compressed.pdf</a:t>
            </a:r>
          </a:p>
          <a:p>
            <a:pPr>
              <a:spcAft>
                <a:spcPts val="800"/>
              </a:spcAft>
              <a:defRPr sz="1600" b="0">
                <a:solidFill>
                  <a:srgbClr val="182E26"/>
                </a:solidFill>
                <a:latin typeface="DM Sans"/>
              </a:defRPr>
            </a:pPr>
            <a:r>
              <a:t>Pages 19–22: comparisons, scope and POC</a:t>
            </a:r>
          </a:p>
          <a:p>
            <a:pPr>
              <a:spcAft>
                <a:spcPts val="800"/>
              </a:spcAft>
              <a:defRPr sz="1600" b="0">
                <a:solidFill>
                  <a:srgbClr val="182E26"/>
                </a:solidFill>
                <a:latin typeface="DM Sans"/>
              </a:defRPr>
            </a:pPr>
          </a:p>
          <a:p>
            <a:pPr>
              <a:spcAft>
                <a:spcPts val="800"/>
              </a:spcAft>
              <a:defRPr sz="1600" b="0">
                <a:solidFill>
                  <a:srgbClr val="182E26"/>
                </a:solidFill>
                <a:latin typeface="DM Sans"/>
              </a:defRPr>
            </a:pPr>
            <a:r>
              <a:t>use_case_description_beCode_campaign_comparator.docx</a:t>
            </a:r>
          </a:p>
          <a:p>
            <a:pPr>
              <a:spcAft>
                <a:spcPts val="800"/>
              </a:spcAft>
              <a:defRPr sz="1600" b="0">
                <a:solidFill>
                  <a:srgbClr val="182E26"/>
                </a:solidFill>
                <a:latin typeface="DM Sans"/>
              </a:defRPr>
            </a:pPr>
            <a:r>
              <a:t>Objectives, features and expected outputs</a:t>
            </a:r>
          </a:p>
        </p:txBody>
      </p:sp>
      <p:sp>
        <p:nvSpPr>
          <p:cNvPr id="10" name="Rounded Rectangle 9"/>
          <p:cNvSpPr/>
          <p:nvPr/>
        </p:nvSpPr>
        <p:spPr>
          <a:xfrm>
            <a:off x="6172200" y="2240280"/>
            <a:ext cx="5486400" cy="3611880"/>
          </a:xfrm>
          <a:prstGeom prst="roundRect">
            <a:avLst>
              <a:gd name="adj" fmla="val 8000"/>
            </a:avLst>
          </a:prstGeom>
          <a:solidFill>
            <a:srgbClr val="FFFFFF"/>
          </a:solidFill>
          <a:ln>
            <a:solidFill>
              <a:srgbClr val="DC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2512" y="2423160"/>
            <a:ext cx="5065776" cy="502920"/>
          </a:xfrm>
          <a:prstGeom prst="rect">
            <a:avLst/>
          </a:prstGeom>
          <a:noFill/>
        </p:spPr>
        <p:txBody>
          <a:bodyPr wrap="square" lIns="0" rIns="0" tIns="0" bIns="0">
            <a:spAutoFit/>
          </a:bodyPr>
          <a:lstStyle/>
          <a:p>
            <a:pPr>
              <a:spcAft>
                <a:spcPts val="800"/>
              </a:spcAft>
              <a:defRPr sz="1900" b="1">
                <a:solidFill>
                  <a:srgbClr val="244F41"/>
                </a:solidFill>
                <a:latin typeface="Manrope"/>
              </a:defRPr>
            </a:pPr>
            <a:r>
              <a:t>Implementation evidence</a:t>
            </a:r>
          </a:p>
        </p:txBody>
      </p:sp>
      <p:sp>
        <p:nvSpPr>
          <p:cNvPr id="12" name="TextBox 11"/>
          <p:cNvSpPr txBox="1"/>
          <p:nvPr/>
        </p:nvSpPr>
        <p:spPr>
          <a:xfrm>
            <a:off x="6382512" y="3063240"/>
            <a:ext cx="5065776" cy="2679192"/>
          </a:xfrm>
          <a:prstGeom prst="rect">
            <a:avLst/>
          </a:prstGeom>
          <a:noFill/>
        </p:spPr>
        <p:txBody>
          <a:bodyPr wrap="square" lIns="0" rIns="0" tIns="0" bIns="0">
            <a:spAutoFit/>
          </a:bodyPr>
          <a:lstStyle/>
          <a:p>
            <a:pPr>
              <a:spcAft>
                <a:spcPts val="800"/>
              </a:spcAft>
              <a:defRPr sz="1600" b="0">
                <a:solidFill>
                  <a:srgbClr val="182E26"/>
                </a:solidFill>
                <a:latin typeface="DM Sans"/>
              </a:defRPr>
            </a:pPr>
            <a:r>
              <a:t>scraping/README.md and scraping modules</a:t>
            </a:r>
          </a:p>
          <a:p>
            <a:pPr>
              <a:spcAft>
                <a:spcPts val="800"/>
              </a:spcAft>
              <a:defRPr sz="1600" b="0">
                <a:solidFill>
                  <a:srgbClr val="182E26"/>
                </a:solidFill>
                <a:latin typeface="DM Sans"/>
              </a:defRPr>
            </a:pPr>
            <a:r>
              <a:t>services/collection.py and services/compare.py</a:t>
            </a:r>
          </a:p>
          <a:p>
            <a:pPr>
              <a:spcAft>
                <a:spcPts val="800"/>
              </a:spcAft>
              <a:defRPr sz="1600" b="0">
                <a:solidFill>
                  <a:srgbClr val="182E26"/>
                </a:solidFill>
                <a:latin typeface="DM Sans"/>
              </a:defRPr>
            </a:pPr>
            <a:r>
              <a:t>models/features.py and frontend/api/features.ts</a:t>
            </a:r>
          </a:p>
          <a:p>
            <a:pPr>
              <a:spcAft>
                <a:spcPts val="800"/>
              </a:spcAft>
              <a:defRPr sz="1600" b="0">
                <a:solidFill>
                  <a:srgbClr val="182E26"/>
                </a:solidFill>
                <a:latin typeface="DM Sans"/>
              </a:defRPr>
            </a:pPr>
            <a:r>
              <a:t>Scraping, Label and Compare screens</a:t>
            </a:r>
          </a:p>
          <a:p>
            <a:pPr>
              <a:spcAft>
                <a:spcPts val="800"/>
              </a:spcAft>
              <a:defRPr sz="1600" b="0">
                <a:solidFill>
                  <a:srgbClr val="182E26"/>
                </a:solidFill>
                <a:latin typeface="DM Sans"/>
              </a:defRPr>
            </a:pPr>
            <a:r>
              <a:t>Backend tests and frontend/styles.css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