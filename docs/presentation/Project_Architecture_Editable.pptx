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745053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of the implemented local app. Solid arrows show data; dashed arrows show triggers. Configured JSON sources are imported on list load. Only the first supported auto-label action saves automatic labels. All capture modes save evidence. Human review edits saved feature records. Compare reads those records within a single product category. No cloud AI, email, hash-based change detection or automatic website-difference engine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450480"/>
          </a:xfrm>
          <a:prstGeom prst="roundRect">
            <a:avLst>
              <a:gd name="adj" fmla="val 8000"/>
            </a:avLst>
          </a:prstGeom>
          <a:solidFill>
            <a:srgbClr val="F6F8F6"/>
          </a:solidFill>
          <a:ln>
            <a:solidFill>
              <a:srgbClr val="F6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4472" y="149009"/>
            <a:ext cx="9482429" cy="226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1">
                <a:solidFill>
                  <a:srgbClr val="244F41"/>
                </a:solidFill>
                <a:latin typeface="DM Sans"/>
              </a:defRPr>
            </a:pPr>
            <a:r>
              <a:t>BANKING CAMPAIGNS COMPARATOR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4472" y="413163"/>
            <a:ext cx="9482429" cy="4199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19" b="1">
                <a:solidFill>
                  <a:srgbClr val="182E26"/>
                </a:solidFill>
                <a:latin typeface="DM Sans"/>
              </a:defRPr>
            </a:pPr>
            <a:r>
              <a:t>Project 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472" y="751821"/>
            <a:ext cx="11175720" cy="2472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3" b="0">
                <a:solidFill>
                  <a:srgbClr val="63705F"/>
                </a:solidFill>
                <a:latin typeface="DM Sans"/>
              </a:defRPr>
            </a:pPr>
            <a:r>
              <a:t>Current implementation • Public webpages • Rule-based assistance • Human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060" y="1124345"/>
            <a:ext cx="11717573" cy="10566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060" y="1124345"/>
            <a:ext cx="1063386" cy="1056613"/>
          </a:xfrm>
          <a:prstGeom prst="roundRect">
            <a:avLst>
              <a:gd name="adj" fmla="val 8000"/>
            </a:avLst>
          </a:prstGeom>
          <a:solidFill>
            <a:srgbClr val="E8EFE8"/>
          </a:solidFill>
          <a:ln>
            <a:solidFill>
              <a:srgbClr val="DC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658" y="1334313"/>
            <a:ext cx="982108" cy="2370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9" b="1">
                <a:solidFill>
                  <a:srgbClr val="244F41"/>
                </a:solidFill>
                <a:latin typeface="DM Sans"/>
              </a:defRPr>
            </a:pPr>
            <a:r>
              <a:t>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658" y="1571374"/>
            <a:ext cx="982108" cy="1964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6" b="0">
                <a:solidFill>
                  <a:srgbClr val="63705F"/>
                </a:solidFill>
                <a:latin typeface="DM Sans"/>
              </a:defRPr>
            </a:pPr>
            <a:r>
              <a:t>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060" y="2397700"/>
            <a:ext cx="11717573" cy="21470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7060" y="2397700"/>
            <a:ext cx="1063386" cy="2147092"/>
          </a:xfrm>
          <a:prstGeom prst="roundRect">
            <a:avLst>
              <a:gd name="adj" fmla="val 8000"/>
            </a:avLst>
          </a:prstGeom>
          <a:solidFill>
            <a:srgbClr val="E8EFE8"/>
          </a:solidFill>
          <a:ln>
            <a:solidFill>
              <a:srgbClr val="DC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658" y="2607668"/>
            <a:ext cx="982108" cy="2370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9" b="1">
                <a:solidFill>
                  <a:srgbClr val="244F41"/>
                </a:solidFill>
                <a:latin typeface="DM Sans"/>
              </a:defRPr>
            </a:pPr>
            <a: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658" y="2844728"/>
            <a:ext cx="982108" cy="1964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6" b="0">
                <a:solidFill>
                  <a:srgbClr val="63705F"/>
                </a:solidFill>
                <a:latin typeface="DM Sans"/>
              </a:defRPr>
            </a:pPr>
            <a:r>
              <a:t>FastAPI /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060" y="4761534"/>
            <a:ext cx="11717573" cy="12801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7060" y="4761534"/>
            <a:ext cx="1063386" cy="1280127"/>
          </a:xfrm>
          <a:prstGeom prst="roundRect">
            <a:avLst>
              <a:gd name="adj" fmla="val 8000"/>
            </a:avLst>
          </a:prstGeom>
          <a:solidFill>
            <a:srgbClr val="E8EFE8"/>
          </a:solidFill>
          <a:ln>
            <a:solidFill>
              <a:srgbClr val="DC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658" y="4971502"/>
            <a:ext cx="982108" cy="2370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9" b="1">
                <a:solidFill>
                  <a:srgbClr val="244F41"/>
                </a:solidFill>
                <a:latin typeface="DM Sans"/>
              </a:defRPr>
            </a:pPr>
            <a: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658" y="5208563"/>
            <a:ext cx="982108" cy="1964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6" b="0">
                <a:solidFill>
                  <a:srgbClr val="63705F"/>
                </a:solidFill>
                <a:latin typeface="DM Sans"/>
              </a:defRPr>
            </a:pPr>
            <a:r>
              <a:t>PostgreSQL +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23961" y="1307220"/>
            <a:ext cx="1659425" cy="690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32332" y="1361405"/>
            <a:ext cx="1469776" cy="2675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9" b="1">
                <a:solidFill>
                  <a:srgbClr val="244F41"/>
                </a:solidFill>
                <a:latin typeface="DM Sans"/>
              </a:defRPr>
            </a:pPr>
            <a:r>
              <a:t>Scraping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2332" y="1591693"/>
            <a:ext cx="1490096" cy="226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Add URL / choose 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8627" y="1307220"/>
            <a:ext cx="1998083" cy="690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6997" y="1361405"/>
            <a:ext cx="1808434" cy="2675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9" b="1">
                <a:solidFill>
                  <a:srgbClr val="244F41"/>
                </a:solidFill>
                <a:latin typeface="DM Sans"/>
              </a:defRPr>
            </a:pPr>
            <a:r>
              <a:t>Dataset &amp; Labeling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6997" y="1591693"/>
            <a:ext cx="1828754" cy="226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Review evidence and labels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1087" y="1307220"/>
            <a:ext cx="1828754" cy="690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9458" y="1361405"/>
            <a:ext cx="1639105" cy="2675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9" b="1">
                <a:solidFill>
                  <a:srgbClr val="244F41"/>
                </a:solidFill>
                <a:latin typeface="DM Sans"/>
              </a:defRPr>
            </a:pPr>
            <a:r>
              <a:t>Compare workspace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9458" y="1591693"/>
            <a:ext cx="1659425" cy="226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Charts, tables, observations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23961" y="2736358"/>
            <a:ext cx="1659425" cy="690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32332" y="2790543"/>
            <a:ext cx="1469776" cy="2675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9" b="1">
                <a:solidFill>
                  <a:srgbClr val="244F41"/>
                </a:solidFill>
                <a:latin typeface="DM Sans"/>
              </a:defRPr>
            </a:pPr>
            <a:r>
              <a:t>Source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32332" y="3020831"/>
            <a:ext cx="1490096" cy="3996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Import / add sources</a:t>
            </a:r>
          </a:p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Select capture mode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55911" y="2736358"/>
            <a:ext cx="1523961" cy="690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64281" y="2790543"/>
            <a:ext cx="1334313" cy="2675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9" b="1">
                <a:solidFill>
                  <a:srgbClr val="244F41"/>
                </a:solidFill>
                <a:latin typeface="DM Sans"/>
              </a:defRPr>
            </a:pPr>
            <a:r>
              <a:t>Support registry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64281" y="3020831"/>
            <a:ext cx="1354632" cy="3996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Exact bank / category</a:t>
            </a:r>
          </a:p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product / language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52397" y="2736358"/>
            <a:ext cx="1591693" cy="690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60767" y="2790543"/>
            <a:ext cx="1402044" cy="2675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9" b="1">
                <a:solidFill>
                  <a:srgbClr val="244F41"/>
                </a:solidFill>
                <a:latin typeface="DM Sans"/>
              </a:defRPr>
            </a:pPr>
            <a:r>
              <a:t>Playwright capture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60767" y="3020831"/>
            <a:ext cx="1422364" cy="3996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Render public page</a:t>
            </a:r>
          </a:p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Save original 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0480" y="2736358"/>
            <a:ext cx="1591693" cy="690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AA7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8851" y="2790543"/>
            <a:ext cx="1402044" cy="2675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9" b="1">
                <a:solidFill>
                  <a:srgbClr val="AA783D"/>
                </a:solidFill>
                <a:latin typeface="DM Sans"/>
              </a:defRPr>
            </a:pPr>
            <a:r>
              <a:t>Feature extraction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58851" y="3020831"/>
            <a:ext cx="1422364" cy="3996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Text / message / CTA</a:t>
            </a:r>
          </a:p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Registered auto cases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21087" y="2736358"/>
            <a:ext cx="1828754" cy="690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29458" y="2790543"/>
            <a:ext cx="1639105" cy="2675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9" b="1">
                <a:solidFill>
                  <a:srgbClr val="244F41"/>
                </a:solidFill>
                <a:latin typeface="DM Sans"/>
              </a:defRPr>
            </a:pPr>
            <a:r>
              <a:t>Comparison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9458" y="3020831"/>
            <a:ext cx="1659425" cy="3996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Same product category</a:t>
            </a:r>
          </a:p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Saved feature values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23961" y="6197445"/>
            <a:ext cx="10125880" cy="575718"/>
          </a:xfrm>
          <a:prstGeom prst="roundRect">
            <a:avLst>
              <a:gd name="adj" fmla="val 8000"/>
            </a:avLst>
          </a:prstGeom>
          <a:solidFill>
            <a:srgbClr val="F6F8F6"/>
          </a:solidFill>
          <a:ln>
            <a:solidFill>
              <a:srgbClr val="DC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59425" y="6238084"/>
            <a:ext cx="1354632" cy="1964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6" b="1">
                <a:solidFill>
                  <a:srgbClr val="244F41"/>
                </a:solidFill>
                <a:latin typeface="DM Sans"/>
              </a:defRPr>
            </a:pPr>
            <a:r>
              <a:t>ACTION RULES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59425" y="6448052"/>
            <a:ext cx="9787221" cy="2167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3" b="0">
                <a:solidFill>
                  <a:srgbClr val="182E26"/>
                </a:solidFill>
                <a:latin typeface="DM Sans"/>
              </a:defRPr>
            </a:pPr>
            <a:r>
              <a:t>First + supported: Scrape &amp; Auto-label   |   First + unsupported: Capture page   |   Already captured: Capture only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23961" y="5039234"/>
            <a:ext cx="1659425" cy="690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32332" y="5093419"/>
            <a:ext cx="1469776" cy="2675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9" b="1">
                <a:solidFill>
                  <a:srgbClr val="244F41"/>
                </a:solidFill>
                <a:latin typeface="DM Sans"/>
              </a:defRPr>
            </a:pPr>
            <a:r>
              <a:t>Sources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32332" y="5323706"/>
            <a:ext cx="1490096" cy="3996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user_sources / imports</a:t>
            </a:r>
          </a:p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Configured JSON input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13738" y="5039234"/>
            <a:ext cx="1930351" cy="690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22109" y="5093419"/>
            <a:ext cx="1740703" cy="2675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9" b="1">
                <a:solidFill>
                  <a:srgbClr val="244F41"/>
                </a:solidFill>
                <a:latin typeface="DM Sans"/>
              </a:defRPr>
            </a:pPr>
            <a:r>
              <a:t>Capture history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22109" y="5323706"/>
            <a:ext cx="1761022" cy="3996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PageCapture in database</a:t>
            </a:r>
          </a:p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Screenshot + dom.json files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50480" y="5039234"/>
            <a:ext cx="1591693" cy="690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8851" y="5093419"/>
            <a:ext cx="1402044" cy="2675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9" b="1">
                <a:solidFill>
                  <a:srgbClr val="244F41"/>
                </a:solidFill>
                <a:latin typeface="DM Sans"/>
              </a:defRPr>
            </a:pPr>
            <a:r>
              <a:t>Feature records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58851" y="5323706"/>
            <a:ext cx="1422364" cy="3996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CampaignFeature</a:t>
            </a:r>
          </a:p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Notes and review status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21087" y="5039234"/>
            <a:ext cx="1828754" cy="6908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44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29458" y="5093419"/>
            <a:ext cx="1639105" cy="2675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9" b="1">
                <a:solidFill>
                  <a:srgbClr val="244F41"/>
                </a:solidFill>
                <a:latin typeface="DM Sans"/>
              </a:defRPr>
            </a:pPr>
            <a:r>
              <a:t>Research context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9458" y="5323706"/>
            <a:ext cx="1659425" cy="3996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Campaign / bank / category</a:t>
            </a:r>
          </a:p>
          <a:p>
            <a:pPr>
              <a:defRPr sz="906" b="0">
                <a:solidFill>
                  <a:srgbClr val="182E26"/>
                </a:solidFill>
                <a:latin typeface="DM Sans"/>
              </a:defRPr>
            </a:pPr>
            <a:r>
              <a:t>Stored in PostgreSQL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336741" y="1998083"/>
            <a:ext cx="0" cy="738275"/>
          </a:xfrm>
          <a:prstGeom prst="line">
            <a:avLst/>
          </a:prstGeom>
          <a:ln w="15875">
            <a:solidFill>
              <a:srgbClr val="244F4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183387" y="3081789"/>
            <a:ext cx="372524" cy="0"/>
          </a:xfrm>
          <a:prstGeom prst="line">
            <a:avLst/>
          </a:prstGeom>
          <a:ln w="15875">
            <a:solidFill>
              <a:srgbClr val="244F4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079873" y="3081789"/>
            <a:ext cx="372524" cy="0"/>
          </a:xfrm>
          <a:prstGeom prst="line">
            <a:avLst/>
          </a:prstGeom>
          <a:ln w="15875">
            <a:solidFill>
              <a:srgbClr val="244F4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044090" y="3081789"/>
            <a:ext cx="406390" cy="0"/>
          </a:xfrm>
          <a:prstGeom prst="line">
            <a:avLst/>
          </a:prstGeom>
          <a:ln w="15875">
            <a:solidFill>
              <a:srgbClr val="244F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077956" y="2458658"/>
            <a:ext cx="812779" cy="3386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6" b="0">
                <a:solidFill>
                  <a:srgbClr val="AA783D"/>
                </a:solidFill>
                <a:latin typeface="DM Sans"/>
              </a:defRPr>
            </a:pPr>
            <a:r>
              <a:t>Auto-label</a:t>
            </a:r>
          </a:p>
          <a:p>
            <a:pPr>
              <a:defRPr sz="746" b="0">
                <a:solidFill>
                  <a:srgbClr val="AA783D"/>
                </a:solidFill>
                <a:latin typeface="DM Sans"/>
              </a:defRPr>
            </a:pPr>
            <a:r>
              <a:t>path only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244857" y="3427220"/>
            <a:ext cx="0" cy="1612014"/>
          </a:xfrm>
          <a:prstGeom prst="line">
            <a:avLst/>
          </a:prstGeom>
          <a:ln w="15875">
            <a:solidFill>
              <a:srgbClr val="244F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353227" y="4504154"/>
            <a:ext cx="1557827" cy="1964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6" b="0">
                <a:solidFill>
                  <a:srgbClr val="63705F"/>
                </a:solidFill>
                <a:latin typeface="DM Sans"/>
              </a:defRPr>
            </a:pPr>
            <a:r>
              <a:t>Every successful capture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336741" y="3427220"/>
            <a:ext cx="0" cy="1612014"/>
          </a:xfrm>
          <a:prstGeom prst="line">
            <a:avLst/>
          </a:prstGeom>
          <a:ln w="15875">
            <a:solidFill>
              <a:srgbClr val="244F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229394" y="3427220"/>
            <a:ext cx="0" cy="1612014"/>
          </a:xfrm>
          <a:prstGeom prst="line">
            <a:avLst/>
          </a:prstGeom>
          <a:ln w="15875">
            <a:solidFill>
              <a:srgbClr val="244F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330991" y="4538019"/>
            <a:ext cx="1015974" cy="1964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6" b="0">
                <a:solidFill>
                  <a:srgbClr val="63705F"/>
                </a:solidFill>
                <a:latin typeface="DM Sans"/>
              </a:defRPr>
            </a:pPr>
            <a:r>
              <a:t>First auto draft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7247285" y="2059041"/>
            <a:ext cx="0" cy="3305304"/>
          </a:xfrm>
          <a:prstGeom prst="line">
            <a:avLst/>
          </a:prstGeom>
          <a:ln w="15875">
            <a:solidFill>
              <a:srgbClr val="244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247285" y="2059041"/>
            <a:ext cx="338658" cy="0"/>
          </a:xfrm>
          <a:prstGeom prst="line">
            <a:avLst/>
          </a:prstGeom>
          <a:ln w="15875">
            <a:solidFill>
              <a:srgbClr val="244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585943" y="1998083"/>
            <a:ext cx="0" cy="60958"/>
          </a:xfrm>
          <a:prstGeom prst="line">
            <a:avLst/>
          </a:prstGeom>
          <a:ln w="15875">
            <a:solidFill>
              <a:srgbClr val="244F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044090" y="5364345"/>
            <a:ext cx="203195" cy="0"/>
          </a:xfrm>
          <a:prstGeom prst="line">
            <a:avLst/>
          </a:prstGeom>
          <a:ln w="15875">
            <a:solidFill>
              <a:srgbClr val="244F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328563" y="2241917"/>
            <a:ext cx="880511" cy="1964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6" b="0">
                <a:solidFill>
                  <a:srgbClr val="63705F"/>
                </a:solidFill>
                <a:latin typeface="DM Sans"/>
              </a:defRPr>
            </a:pPr>
            <a:r>
              <a:t>Evidence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601918" y="1998083"/>
            <a:ext cx="711182" cy="0"/>
          </a:xfrm>
          <a:prstGeom prst="line">
            <a:avLst/>
          </a:prstGeom>
          <a:ln w="15875">
            <a:solidFill>
              <a:srgbClr val="244F4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313100" y="1998083"/>
            <a:ext cx="0" cy="3386582"/>
          </a:xfrm>
          <a:prstGeom prst="line">
            <a:avLst/>
          </a:prstGeom>
          <a:ln w="15875">
            <a:solidFill>
              <a:srgbClr val="244F4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9042173" y="5384665"/>
            <a:ext cx="270927" cy="0"/>
          </a:xfrm>
          <a:prstGeom prst="line">
            <a:avLst/>
          </a:prstGeom>
          <a:ln w="15875">
            <a:solidFill>
              <a:srgbClr val="244F4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394378" y="3901342"/>
            <a:ext cx="541853" cy="3386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6" b="0">
                <a:solidFill>
                  <a:srgbClr val="63705F"/>
                </a:solidFill>
                <a:latin typeface="DM Sans"/>
              </a:defRPr>
            </a:pPr>
            <a:r>
              <a:t>Review</a:t>
            </a:r>
          </a:p>
          <a:p>
            <a:pPr>
              <a:defRPr sz="746" b="0">
                <a:solidFill>
                  <a:srgbClr val="63705F"/>
                </a:solidFill>
                <a:latin typeface="DM Sans"/>
              </a:defRPr>
            </a:pPr>
            <a:r>
              <a:t>&amp; save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9042173" y="5188243"/>
            <a:ext cx="541854" cy="0"/>
          </a:xfrm>
          <a:prstGeom prst="line">
            <a:avLst/>
          </a:prstGeom>
          <a:ln w="15875">
            <a:solidFill>
              <a:srgbClr val="244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584027" y="3284984"/>
            <a:ext cx="0" cy="1903259"/>
          </a:xfrm>
          <a:prstGeom prst="line">
            <a:avLst/>
          </a:prstGeom>
          <a:ln w="15875">
            <a:solidFill>
              <a:srgbClr val="244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584027" y="3284984"/>
            <a:ext cx="237060" cy="0"/>
          </a:xfrm>
          <a:prstGeom prst="line">
            <a:avLst/>
          </a:prstGeom>
          <a:ln w="15875">
            <a:solidFill>
              <a:srgbClr val="244F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735464" y="3427220"/>
            <a:ext cx="0" cy="1612014"/>
          </a:xfrm>
          <a:prstGeom prst="line">
            <a:avLst/>
          </a:prstGeom>
          <a:ln w="15875">
            <a:solidFill>
              <a:srgbClr val="244F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5464" y="1998083"/>
            <a:ext cx="0" cy="738275"/>
          </a:xfrm>
          <a:prstGeom prst="line">
            <a:avLst/>
          </a:prstGeom>
          <a:ln w="15875">
            <a:solidFill>
              <a:srgbClr val="244F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38658" y="6881534"/>
            <a:ext cx="2709265" cy="226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1">
                <a:solidFill>
                  <a:srgbClr val="244F41"/>
                </a:solidFill>
                <a:latin typeface="DM Sans"/>
              </a:defRPr>
            </a:pPr>
            <a:r>
              <a:t>Solid arrows: data flow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80192" y="6881534"/>
            <a:ext cx="3251118" cy="226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1">
                <a:solidFill>
                  <a:srgbClr val="244F41"/>
                </a:solidFill>
                <a:latin typeface="DM Sans"/>
              </a:defRPr>
            </a:pPr>
            <a:r>
              <a:t>Dashed arrows: user / control trigger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05432" y="6881534"/>
            <a:ext cx="5283067" cy="2269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6" b="1">
                <a:solidFill>
                  <a:srgbClr val="244F41"/>
                </a:solidFill>
                <a:latin typeface="DM Sans"/>
              </a:defRPr>
            </a:pPr>
            <a:r>
              <a:t>Recapture adds evidence and preserves saved labels.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8658" y="7152461"/>
            <a:ext cx="11514378" cy="1964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46" b="0">
                <a:solidFill>
                  <a:srgbClr val="63705F"/>
                </a:solidFill>
                <a:latin typeface="DM Sans"/>
              </a:defRPr>
            </a:pPr>
            <a:r>
              <a:t>Code: api/scraping.py · services/collection.py · scraping/* · services/compare.py     |     24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