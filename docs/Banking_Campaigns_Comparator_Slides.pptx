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61" r:id="rId4"/>
    <p:sldId id="258" r:id="rId5"/>
    <p:sldId id="265" r:id="rId6"/>
    <p:sldId id="264" r:id="rId7"/>
    <p:sldId id="260" r:id="rId8"/>
    <p:sldId id="262" r:id="rId9"/>
    <p:sldId id="263" r:id="rId10"/>
  </p:sldIdLst>
  <p:sldSz cx="16256000" cy="9144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1313" dt="2026-09-25T10:45:27.983"/>
    <p1510:client id="{1E6327EA-951B-1C6B-D89C-EE0DB3924B09}" v="95" dt="2026-09-25T09:50:16.004"/>
    <p1510:client id="{74718DEA-3B67-55BA-8107-9E1239D33727}" v="168" dt="2026-09-25T08:19:39.524"/>
    <p1510:client id="{815EFECA-F850-A884-E69F-F33F5D6ABF66}" v="3151" dt="2026-09-25T08:50:36.449"/>
    <p1510:client id="{F7803878-A6E4-C787-3B5B-C3FE7D260F50}" v="5" dt="2026-09-25T10:04:15.92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2880"/>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0093021-DB12-4099-8A0C-45A4EC7409D4}" type="datetimeFigureOut">
              <a:t>9/30/2026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B6655F4-91A4-408D-9F25-5517D0DA63EE}" type="slidenum">
              <a:t>‹#›</a:t>
            </a:fld>
            <a:endParaRPr lang="en-US"/>
          </a:p>
        </p:txBody>
      </p:sp>
    </p:spTree>
    <p:extLst>
      <p:ext uri="{BB962C8B-B14F-4D97-AF65-F5344CB8AC3E}">
        <p14:creationId xmlns:p14="http://schemas.microsoft.com/office/powerpoint/2010/main" val="2469781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Hello, we are presenting Banking Campaigns Comparator. Our question is simple: when banks offer similar products, how differently do they communicate them? One page may emphasize price, another convenience, and another visual storytelling. We built a workspace that makes those differences easier to examine using the same criteria. Liên KIM leads the team, develops the backend and frontend, and integrates the automation labeling functions contributed by Gaetan and Hussein. The goal is a traceable comparison of communication, rather than a claim about which bank performs best.</a:t>
            </a:r>
          </a:p>
          <a:p>
            <a:endParaRPr/>
          </a:p>
          <a:p>
            <a:r>
              <a:t>Presenter cue: Presenter 1 · 60 seconds. Introduce the contributors; the two speaking roles do not represent the number of team members.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Imagine comparing three current-account pages. If we simply browse them, each person may notice different things and keep different notes. Our workflow creates a common basis. First, capture the page and its source context. Second, record the same features for each page, using automatic drafts where supported and human review where needed. Third, compare those saved values and return to the evidence whenever something needs explanation. Each step produces something the next step can use. That connection is the main value of the application.</a:t>
            </a:r>
          </a:p>
          <a:p>
            <a:endParaRPr/>
          </a:p>
          <a:p>
            <a:r>
              <a:t>Presenter cue: Presenter 1 · 60 seconds. Follow the three visual objects from left to right. The bars are schematic, not bank findings.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Let us show that journey in the application. First, we open an existing page and its saved capture. This is the evidence behind the labels. Next, we open the labeling screen and explain one field, including whether it was automatically drafted or manually reviewed. Finally, we choose another comparable page, open Compare and switch the feature dropdown. We can expand a detailed group and return to the capture if we need more context. The important point is that the evidence, labels and comparison remain connected.</a:t>
            </a:r>
          </a:p>
          <a:p>
            <a:endParaRPr/>
          </a:p>
          <a:p>
            <a:r>
              <a:t>Presenter cue: Presenter 2 speaks; Presenter 1 can navigate. Prepare two existing pages in the same category. Do not rely on live scraping. If the app is unavailable, use this earlier repository screenshot as a fallback; it is not a current dataset count.</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pipeline starts with a source: its bank, product, language and URL. The backend selects the registered scraper for a supported case, or uses generic capture. Playwright renders the page, and the pipeline collects screenshots, DOM and extracted content with the capture date. Records are stored in PostgreSQL, while capture artifacts are stored as files. A registered labeling function can turn this evidence into an automatic draft. If no label function is available, the evidence is still useful for manual review. Recapture creates new evidence while preserving existing labels. I will now hand over to Presenter 2 to show what review and comparison look like.</a:t>
            </a:r>
          </a:p>
          <a:p>
            <a:endParaRPr/>
          </a:p>
          <a:p>
            <a:r>
              <a:t>Presenter cue: Presenter 1 · 75 seconds. Trace the pipeline, then the two branches. Explain DOM as page structure if the audience is nontechnical.</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2B05D7-AB9D-68E4-E334-7CBD8C3951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BD90DD-8187-E725-76CB-A80549BF14B2}"/>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1DDEF2AF-0650-F3CA-3D02-7D9C0EBF9CDF}"/>
              </a:ext>
            </a:extLst>
          </p:cNvPr>
          <p:cNvSpPr>
            <a:spLocks noGrp="1"/>
          </p:cNvSpPr>
          <p:nvPr>
            <p:ph type="body" sz="quarter" idx="3"/>
          </p:nvPr>
        </p:nvSpPr>
        <p:spPr/>
        <p:txBody>
          <a:bodyPr/>
          <a:lstStyle/>
          <a:p>
            <a:r>
              <a:t>The pipeline starts with a source: its bank, product, language and URL. The backend selects the registered scraper for a supported case, or uses generic capture. Playwright renders the page, and the pipeline collects screenshots, DOM and extracted content with the capture date. Records are stored in PostgreSQL, while capture artifacts are stored as files. A registered labeling function can turn this evidence into an automatic draft. If no label function is available, the evidence is still useful for manual review. Recapture creates new evidence while preserving existing labels. I will now hand over to Presenter 2 to show what review and comparison look like.</a:t>
            </a:r>
          </a:p>
          <a:p>
            <a:endParaRPr/>
          </a:p>
          <a:p>
            <a:r>
              <a:t>Presenter cue: Presenter 1 · 75 seconds. Trace the pipeline, then the two branches. Explain DOM as page structure if the audience is nontechnical.</a:t>
            </a:r>
          </a:p>
        </p:txBody>
      </p:sp>
      <p:sp>
        <p:nvSpPr>
          <p:cNvPr id="4" name="Slide Number Placeholder 3">
            <a:extLst>
              <a:ext uri="{FF2B5EF4-FFF2-40B4-BE49-F238E27FC236}">
                <a16:creationId xmlns:a16="http://schemas.microsoft.com/office/drawing/2014/main" id="{91DA2264-498E-C91B-4465-504E766D8677}"/>
              </a:ext>
            </a:extLst>
          </p:cNvPr>
          <p:cNvSpPr>
            <a:spLocks noGrp="1"/>
          </p:cNvSpPr>
          <p:nvPr>
            <p:ph type="sldNum" sz="quarter" idx="5"/>
          </p:nvPr>
        </p:nvSpPr>
        <p:spPr/>
      </p:sp>
    </p:spTree>
    <p:extLst>
      <p:ext uri="{BB962C8B-B14F-4D97-AF65-F5344CB8AC3E}">
        <p14:creationId xmlns:p14="http://schemas.microsoft.com/office/powerpoint/2010/main" val="12995006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026E13-ADE0-39A4-767F-914EFAA972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CF5A28-6810-B199-FB77-40B0554D5802}"/>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E63B076F-D091-BB9F-7FF1-8978FB64AF5F}"/>
              </a:ext>
            </a:extLst>
          </p:cNvPr>
          <p:cNvSpPr>
            <a:spLocks noGrp="1"/>
          </p:cNvSpPr>
          <p:nvPr>
            <p:ph type="body" sz="quarter" idx="3"/>
          </p:nvPr>
        </p:nvSpPr>
        <p:spPr/>
        <p:txBody>
          <a:bodyPr/>
          <a:lstStyle/>
          <a:p>
            <a:r>
              <a:t>The pipeline starts with a source: its bank, product, language and URL. The backend selects the registered scraper for a supported case, or uses generic capture. Playwright renders the page, and the pipeline collects screenshots, DOM and extracted content with the capture date. Records are stored in PostgreSQL, while capture artifacts are stored as files. A registered labeling function can turn this evidence into an automatic draft. If no label function is available, the evidence is still useful for manual review. Recapture creates new evidence while preserving existing labels. I will now hand over to Presenter 2 to show what review and comparison look like.</a:t>
            </a:r>
          </a:p>
          <a:p>
            <a:endParaRPr/>
          </a:p>
          <a:p>
            <a:r>
              <a:t>Presenter cue: Presenter 1 · 75 seconds. Trace the pipeline, then the two branches. Explain DOM as page structure if the audience is nontechnical.</a:t>
            </a:r>
          </a:p>
        </p:txBody>
      </p:sp>
      <p:sp>
        <p:nvSpPr>
          <p:cNvPr id="4" name="Slide Number Placeholder 3">
            <a:extLst>
              <a:ext uri="{FF2B5EF4-FFF2-40B4-BE49-F238E27FC236}">
                <a16:creationId xmlns:a16="http://schemas.microsoft.com/office/drawing/2014/main" id="{4DC27A21-6609-0B43-5A9D-C02AF49A8519}"/>
              </a:ext>
            </a:extLst>
          </p:cNvPr>
          <p:cNvSpPr>
            <a:spLocks noGrp="1"/>
          </p:cNvSpPr>
          <p:nvPr>
            <p:ph type="sldNum" sz="quarter" idx="5"/>
          </p:nvPr>
        </p:nvSpPr>
        <p:spPr/>
      </p:sp>
    </p:spTree>
    <p:extLst>
      <p:ext uri="{BB962C8B-B14F-4D97-AF65-F5344CB8AC3E}">
        <p14:creationId xmlns:p14="http://schemas.microsoft.com/office/powerpoint/2010/main" val="36466444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Suppose we want to compare tone formality. We select suitable pages and choose that feature in the dropdown. The chart shows one bar per page; ING products use shades of orange. In this teaching example, a value of four means more formal than a value of two. It does not mean better communication. Next, we open the detailed comparison to inspect stored values and missing labels. Finally, we return to the capture to understand the context. These example scores are illustrative, not actual bank findings. The app makes differences visible, but a defensible conclusion still depends on comparable pages and reviewed labels.</a:t>
            </a:r>
          </a:p>
          <a:p>
            <a:endParaRPr/>
          </a:p>
          <a:p>
            <a:r>
              <a:t>Presenter cue: Presenter 2 · 75 seconds. Explain one difference between 4 and 2, then follow the three numbered actions.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already have the capture flow and measured text fields. Supported cases also provide draft messaging and CTA labels integrated into the application. That support is configured by source case; it is not universal. The next development direction is to cover more cases, calibrate the rules and compare the drafts against human annotations. We present these as proposed next steps because the active workstream has not been confirmed. Visual clarity, image meaning and ambiguous messaging should remain under human review. Final conclusions also need a person who understands the research question. Automation helps us work consistently and faster, while the analyst remains responsible for interpretation.</a:t>
            </a:r>
          </a:p>
          <a:p>
            <a:endParaRPr/>
          </a:p>
          <a:p>
            <a:r>
              <a:t>Presenter cue: Presenter 2 · 75 seconds. Separate implemented support from proposed continuation. Do not claim fully automatic visual analysis or validated business recommendations.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 close, we started with scattered public webpages and built a shared research workflow. We can keep the evidence, apply the same labeling framework and explore communication differences in one place. The application supports the analysis; it does not turn a chart into a business conclusion on its own. Thank you. We are happy to discuss the scraping pipeline, automation boundaries, labeling choices or how to interpret a comparison.</a:t>
            </a:r>
          </a:p>
          <a:p>
            <a:endParaRPr/>
          </a:p>
          <a:p>
            <a:r>
              <a:t>Presenter cue: Both presenters · Q&amp;A. Liên can cover app architecture and integration. Attribute the labeling-function contributions to Gaetan and Hussein without inventing individual feature ownership.</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9/30/2026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6256000" cy="9144000"/>
          </a:xfrm>
          <a:prstGeom prst="rect">
            <a:avLst/>
          </a:prstGeom>
          <a:solidFill>
            <a:srgbClr val="14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60400" y="381000"/>
            <a:ext cx="13970000" cy="381000"/>
          </a:xfrm>
          <a:prstGeom prst="rect">
            <a:avLst/>
          </a:prstGeom>
          <a:noFill/>
        </p:spPr>
        <p:txBody>
          <a:bodyPr wrap="square" lIns="0" tIns="0" rIns="0" bIns="0">
            <a:spAutoFit/>
          </a:bodyPr>
          <a:lstStyle/>
          <a:p>
            <a:pPr>
              <a:spcAft>
                <a:spcPts val="300"/>
              </a:spcAft>
              <a:defRPr sz="1400" b="1">
                <a:solidFill>
                  <a:srgbClr val="FF792F"/>
                </a:solidFill>
                <a:latin typeface="Arial"/>
              </a:defRPr>
            </a:pPr>
            <a:r>
              <a:t>PROJECT / TEAM</a:t>
            </a:r>
          </a:p>
        </p:txBody>
      </p:sp>
      <p:cxnSp>
        <p:nvCxnSpPr>
          <p:cNvPr id="4" name="Connector 3"/>
          <p:cNvCxnSpPr/>
          <p:nvPr/>
        </p:nvCxnSpPr>
        <p:spPr>
          <a:xfrm>
            <a:off x="660400" y="8534400"/>
            <a:ext cx="14935200" cy="0"/>
          </a:xfrm>
          <a:prstGeom prst="line">
            <a:avLst/>
          </a:prstGeom>
          <a:ln w="12700">
            <a:solidFill>
              <a:srgbClr val="22384E"/>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60400" y="8699500"/>
            <a:ext cx="13335000" cy="355600"/>
          </a:xfrm>
          <a:prstGeom prst="rect">
            <a:avLst/>
          </a:prstGeom>
          <a:noFill/>
        </p:spPr>
        <p:txBody>
          <a:bodyPr wrap="square" lIns="0" tIns="0" rIns="0" bIns="0">
            <a:spAutoFit/>
          </a:bodyPr>
          <a:lstStyle/>
          <a:p>
            <a:pPr>
              <a:spcAft>
                <a:spcPts val="300"/>
              </a:spcAft>
              <a:defRPr sz="1100" b="0">
                <a:solidFill>
                  <a:srgbClr val="BDCCDA"/>
                </a:solidFill>
                <a:latin typeface="Arial"/>
              </a:defRPr>
            </a:pPr>
            <a:r>
              <a:t>BANKING CAMPAIGNS COMPARATOR  /  RESEARCH PROTOTYPE</a:t>
            </a:r>
          </a:p>
        </p:txBody>
      </p:sp>
      <p:sp>
        <p:nvSpPr>
          <p:cNvPr id="6" name="TextBox 5"/>
          <p:cNvSpPr txBox="1"/>
          <p:nvPr/>
        </p:nvSpPr>
        <p:spPr>
          <a:xfrm>
            <a:off x="14668500" y="8636000"/>
            <a:ext cx="1143000" cy="406400"/>
          </a:xfrm>
          <a:prstGeom prst="rect">
            <a:avLst/>
          </a:prstGeom>
          <a:noFill/>
        </p:spPr>
        <p:txBody>
          <a:bodyPr wrap="square" lIns="0" tIns="0" rIns="0" bIns="0">
            <a:spAutoFit/>
          </a:bodyPr>
          <a:lstStyle/>
          <a:p>
            <a:pPr>
              <a:spcAft>
                <a:spcPts val="300"/>
              </a:spcAft>
              <a:defRPr sz="1500" b="0">
                <a:solidFill>
                  <a:srgbClr val="FFFFFF"/>
                </a:solidFill>
                <a:latin typeface="Arial"/>
              </a:defRPr>
            </a:pPr>
            <a:r>
              <a:t>01 / 08</a:t>
            </a:r>
          </a:p>
        </p:txBody>
      </p:sp>
      <p:sp>
        <p:nvSpPr>
          <p:cNvPr id="7" name="Rectangle 6"/>
          <p:cNvSpPr/>
          <p:nvPr/>
        </p:nvSpPr>
        <p:spPr>
          <a:xfrm>
            <a:off x="10287000" y="0"/>
            <a:ext cx="5969000" cy="8255000"/>
          </a:xfrm>
          <a:prstGeom prst="rect">
            <a:avLst/>
          </a:prstGeom>
          <a:solidFill>
            <a:srgbClr val="2238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60400" y="1130300"/>
            <a:ext cx="9525000" cy="2159000"/>
          </a:xfrm>
          <a:prstGeom prst="rect">
            <a:avLst/>
          </a:prstGeom>
          <a:noFill/>
        </p:spPr>
        <p:txBody>
          <a:bodyPr wrap="square" lIns="0" tIns="0" rIns="0" bIns="0">
            <a:spAutoFit/>
          </a:bodyPr>
          <a:lstStyle/>
          <a:p>
            <a:pPr>
              <a:spcAft>
                <a:spcPts val="300"/>
              </a:spcAft>
              <a:defRPr sz="5400" b="1">
                <a:solidFill>
                  <a:srgbClr val="FFFFFF"/>
                </a:solidFill>
                <a:latin typeface="Arial"/>
              </a:defRPr>
            </a:pPr>
            <a:r>
              <a:t>Different banks.</a:t>
            </a:r>
          </a:p>
          <a:p>
            <a:pPr>
              <a:spcAft>
                <a:spcPts val="300"/>
              </a:spcAft>
              <a:defRPr sz="5400" b="1">
                <a:solidFill>
                  <a:srgbClr val="FFFFFF"/>
                </a:solidFill>
                <a:latin typeface="Arial"/>
              </a:defRPr>
            </a:pPr>
            <a:r>
              <a:t>One way to compare.</a:t>
            </a:r>
          </a:p>
        </p:txBody>
      </p:sp>
      <p:sp>
        <p:nvSpPr>
          <p:cNvPr id="9" name="TextBox 8"/>
          <p:cNvSpPr txBox="1"/>
          <p:nvPr/>
        </p:nvSpPr>
        <p:spPr>
          <a:xfrm>
            <a:off x="698500" y="3530600"/>
            <a:ext cx="8890000" cy="952500"/>
          </a:xfrm>
          <a:prstGeom prst="rect">
            <a:avLst/>
          </a:prstGeom>
          <a:noFill/>
        </p:spPr>
        <p:txBody>
          <a:bodyPr wrap="square" lIns="0" tIns="0" rIns="0" bIns="0">
            <a:spAutoFit/>
          </a:bodyPr>
          <a:lstStyle/>
          <a:p>
            <a:pPr>
              <a:spcAft>
                <a:spcPts val="300"/>
              </a:spcAft>
              <a:defRPr sz="2900" b="1">
                <a:solidFill>
                  <a:srgbClr val="FF792F"/>
                </a:solidFill>
                <a:latin typeface="Arial"/>
              </a:defRPr>
            </a:pPr>
            <a:r>
              <a:t>Banking Campaigns Comparator</a:t>
            </a:r>
          </a:p>
        </p:txBody>
      </p:sp>
      <p:sp>
        <p:nvSpPr>
          <p:cNvPr id="10" name="TextBox 9"/>
          <p:cNvSpPr txBox="1"/>
          <p:nvPr/>
        </p:nvSpPr>
        <p:spPr>
          <a:xfrm>
            <a:off x="698500" y="4292600"/>
            <a:ext cx="8636000" cy="1460500"/>
          </a:xfrm>
          <a:prstGeom prst="rect">
            <a:avLst/>
          </a:prstGeom>
          <a:noFill/>
        </p:spPr>
        <p:txBody>
          <a:bodyPr wrap="square" lIns="0" tIns="0" rIns="0" bIns="0">
            <a:spAutoFit/>
          </a:bodyPr>
          <a:lstStyle/>
          <a:p>
            <a:pPr>
              <a:spcAft>
                <a:spcPts val="300"/>
              </a:spcAft>
              <a:defRPr sz="2400" b="0">
                <a:solidFill>
                  <a:srgbClr val="BDCCDA"/>
                </a:solidFill>
                <a:latin typeface="Arial"/>
              </a:defRPr>
            </a:pPr>
            <a:r>
              <a:t>A research workspace to capture public product pages,</a:t>
            </a:r>
          </a:p>
          <a:p>
            <a:pPr>
              <a:spcAft>
                <a:spcPts val="300"/>
              </a:spcAft>
              <a:defRPr sz="2400" b="0">
                <a:solidFill>
                  <a:srgbClr val="BDCCDA"/>
                </a:solidFill>
                <a:latin typeface="Arial"/>
              </a:defRPr>
            </a:pPr>
            <a:r>
              <a:t>review their features and compare how banks communicate.</a:t>
            </a:r>
          </a:p>
        </p:txBody>
      </p:sp>
      <p:sp>
        <p:nvSpPr>
          <p:cNvPr id="11" name="Rounded Rectangle 10"/>
          <p:cNvSpPr/>
          <p:nvPr/>
        </p:nvSpPr>
        <p:spPr>
          <a:xfrm>
            <a:off x="11074400" y="1460500"/>
            <a:ext cx="3556000" cy="23495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11074400" y="1460500"/>
            <a:ext cx="3556000" cy="330200"/>
          </a:xfrm>
          <a:prstGeom prst="roundRect">
            <a:avLst>
              <a:gd name="adj" fmla="val 8000"/>
            </a:avLst>
          </a:prstGeom>
          <a:solidFill>
            <a:srgbClr val="E8ED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11226800" y="1574800"/>
            <a:ext cx="76200" cy="76200"/>
          </a:xfrm>
          <a:prstGeom prst="ellipse">
            <a:avLst/>
          </a:prstGeom>
          <a:solidFill>
            <a:srgbClr val="A2AF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11379200" y="1574800"/>
            <a:ext cx="76200" cy="76200"/>
          </a:xfrm>
          <a:prstGeom prst="ellipse">
            <a:avLst/>
          </a:prstGeom>
          <a:solidFill>
            <a:srgbClr val="A2AF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11531600" y="1574800"/>
            <a:ext cx="76200" cy="76200"/>
          </a:xfrm>
          <a:prstGeom prst="ellipse">
            <a:avLst/>
          </a:prstGeom>
          <a:solidFill>
            <a:srgbClr val="A2AF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11277600" y="2006600"/>
            <a:ext cx="1955800" cy="152400"/>
          </a:xfrm>
          <a:prstGeom prst="rect">
            <a:avLst/>
          </a:prstGeom>
          <a:solidFill>
            <a:srgbClr val="14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11277600" y="2286000"/>
            <a:ext cx="1422400" cy="76200"/>
          </a:xfrm>
          <a:prstGeom prst="rect">
            <a:avLst/>
          </a:prstGeom>
          <a:solidFill>
            <a:srgbClr val="C5CE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11277600" y="2565400"/>
            <a:ext cx="1564640" cy="977900"/>
          </a:xfrm>
          <a:prstGeom prst="roundRect">
            <a:avLst>
              <a:gd name="adj" fmla="val 8000"/>
            </a:avLst>
          </a:prstGeom>
          <a:solidFill>
            <a:srgbClr val="FF7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12994640" y="2616200"/>
            <a:ext cx="1244600" cy="63500"/>
          </a:xfrm>
          <a:prstGeom prst="rect">
            <a:avLst/>
          </a:prstGeom>
          <a:solidFill>
            <a:srgbClr val="C5CE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12994640" y="2794000"/>
            <a:ext cx="1244600" cy="63500"/>
          </a:xfrm>
          <a:prstGeom prst="rect">
            <a:avLst/>
          </a:prstGeom>
          <a:solidFill>
            <a:srgbClr val="C5CE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12994640" y="2971800"/>
            <a:ext cx="1244600" cy="63500"/>
          </a:xfrm>
          <a:prstGeom prst="rect">
            <a:avLst/>
          </a:prstGeom>
          <a:solidFill>
            <a:srgbClr val="C5CE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12994640" y="3149600"/>
            <a:ext cx="1244600" cy="63500"/>
          </a:xfrm>
          <a:prstGeom prst="rect">
            <a:avLst/>
          </a:prstGeom>
          <a:solidFill>
            <a:srgbClr val="C5CE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11634973" y="4270251"/>
            <a:ext cx="3595378" cy="253852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11634973" y="4262375"/>
            <a:ext cx="3587502" cy="369580"/>
          </a:xfrm>
          <a:prstGeom prst="roundRect">
            <a:avLst>
              <a:gd name="adj" fmla="val 8000"/>
            </a:avLst>
          </a:prstGeom>
          <a:solidFill>
            <a:srgbClr val="E8ED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11811000" y="4368800"/>
            <a:ext cx="76200" cy="76200"/>
          </a:xfrm>
          <a:prstGeom prst="ellipse">
            <a:avLst/>
          </a:prstGeom>
          <a:solidFill>
            <a:srgbClr val="A2AF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11963400" y="4368800"/>
            <a:ext cx="76200" cy="76200"/>
          </a:xfrm>
          <a:prstGeom prst="ellipse">
            <a:avLst/>
          </a:prstGeom>
          <a:solidFill>
            <a:srgbClr val="A2AF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12115800" y="4368800"/>
            <a:ext cx="76200" cy="76200"/>
          </a:xfrm>
          <a:prstGeom prst="ellipse">
            <a:avLst/>
          </a:prstGeom>
          <a:solidFill>
            <a:srgbClr val="A2AF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11861800" y="4800600"/>
            <a:ext cx="1955800" cy="152400"/>
          </a:xfrm>
          <a:prstGeom prst="rect">
            <a:avLst/>
          </a:prstGeom>
          <a:solidFill>
            <a:srgbClr val="14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11861800" y="5080000"/>
            <a:ext cx="1422400" cy="76200"/>
          </a:xfrm>
          <a:prstGeom prst="rect">
            <a:avLst/>
          </a:prstGeom>
          <a:solidFill>
            <a:srgbClr val="C5CE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ounded Rectangle 29"/>
          <p:cNvSpPr/>
          <p:nvPr/>
        </p:nvSpPr>
        <p:spPr>
          <a:xfrm>
            <a:off x="11861800" y="5359400"/>
            <a:ext cx="1564640" cy="977900"/>
          </a:xfrm>
          <a:prstGeom prst="roundRect">
            <a:avLst>
              <a:gd name="adj" fmla="val 8000"/>
            </a:avLst>
          </a:prstGeom>
          <a:solidFill>
            <a:srgbClr val="167D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13578840" y="5410200"/>
            <a:ext cx="1244600" cy="63500"/>
          </a:xfrm>
          <a:prstGeom prst="rect">
            <a:avLst/>
          </a:prstGeom>
          <a:solidFill>
            <a:srgbClr val="C5CE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13578840" y="5588000"/>
            <a:ext cx="1244600" cy="63500"/>
          </a:xfrm>
          <a:prstGeom prst="rect">
            <a:avLst/>
          </a:prstGeom>
          <a:solidFill>
            <a:srgbClr val="C5CE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13578840" y="5765800"/>
            <a:ext cx="1244600" cy="63500"/>
          </a:xfrm>
          <a:prstGeom prst="rect">
            <a:avLst/>
          </a:prstGeom>
          <a:solidFill>
            <a:srgbClr val="C5CE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13578840" y="5943600"/>
            <a:ext cx="1244600" cy="63500"/>
          </a:xfrm>
          <a:prstGeom prst="rect">
            <a:avLst/>
          </a:prstGeom>
          <a:solidFill>
            <a:srgbClr val="C5CE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5" name="Connector 34"/>
          <p:cNvCxnSpPr/>
          <p:nvPr/>
        </p:nvCxnSpPr>
        <p:spPr>
          <a:xfrm>
            <a:off x="10998200" y="4089400"/>
            <a:ext cx="3733800" cy="0"/>
          </a:xfrm>
          <a:prstGeom prst="line">
            <a:avLst/>
          </a:prstGeom>
          <a:ln w="38100">
            <a:solidFill>
              <a:srgbClr val="FF792F"/>
            </a:solidFill>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565655" y="6504070"/>
            <a:ext cx="8890000" cy="1600200"/>
          </a:xfrm>
          <a:prstGeom prst="roundRect">
            <a:avLst>
              <a:gd name="adj" fmla="val 8000"/>
            </a:avLst>
          </a:prstGeom>
          <a:solidFill>
            <a:srgbClr val="2238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914400" y="6654800"/>
            <a:ext cx="8382000" cy="369332"/>
          </a:xfrm>
          <a:prstGeom prst="rect">
            <a:avLst/>
          </a:prstGeom>
          <a:noFill/>
        </p:spPr>
        <p:txBody>
          <a:bodyPr wrap="square" lIns="0" tIns="0" rIns="0" bIns="0" anchor="t">
            <a:spAutoFit/>
          </a:bodyPr>
          <a:lstStyle/>
          <a:p>
            <a:pPr>
              <a:spcAft>
                <a:spcPts val="300"/>
              </a:spcAft>
              <a:defRPr sz="2400" b="1">
                <a:solidFill>
                  <a:srgbClr val="FFFFFF"/>
                </a:solidFill>
                <a:latin typeface="Arial"/>
              </a:defRPr>
            </a:pPr>
            <a:r>
              <a:rPr lang="en-US"/>
              <a:t>Lien -</a:t>
            </a:r>
            <a:r>
              <a:t> Team lead</a:t>
            </a:r>
          </a:p>
        </p:txBody>
      </p:sp>
      <p:sp>
        <p:nvSpPr>
          <p:cNvPr id="40" name="TextBox 39">
            <a:extLst>
              <a:ext uri="{FF2B5EF4-FFF2-40B4-BE49-F238E27FC236}">
                <a16:creationId xmlns:a16="http://schemas.microsoft.com/office/drawing/2014/main" id="{2857C686-6CE4-A699-80C9-0558B11D0DEF}"/>
              </a:ext>
            </a:extLst>
          </p:cNvPr>
          <p:cNvSpPr txBox="1"/>
          <p:nvPr/>
        </p:nvSpPr>
        <p:spPr>
          <a:xfrm>
            <a:off x="914528" y="7575308"/>
            <a:ext cx="8382000" cy="369332"/>
          </a:xfrm>
          <a:prstGeom prst="rect">
            <a:avLst/>
          </a:prstGeom>
          <a:noFill/>
        </p:spPr>
        <p:txBody>
          <a:bodyPr wrap="square" lIns="0" tIns="0" rIns="0" bIns="0" anchor="t">
            <a:spAutoFit/>
          </a:bodyPr>
          <a:lstStyle/>
          <a:p>
            <a:pPr>
              <a:spcAft>
                <a:spcPts val="300"/>
              </a:spcAft>
              <a:defRPr sz="2400" b="1">
                <a:solidFill>
                  <a:srgbClr val="FFFFFF"/>
                </a:solidFill>
                <a:latin typeface="Arial"/>
              </a:defRPr>
            </a:pPr>
            <a:r>
              <a:rPr lang="en-US"/>
              <a:t>Hussein - Data scientist &amp; new father </a:t>
            </a:r>
          </a:p>
        </p:txBody>
      </p:sp>
      <p:sp>
        <p:nvSpPr>
          <p:cNvPr id="41" name="TextBox 40">
            <a:extLst>
              <a:ext uri="{FF2B5EF4-FFF2-40B4-BE49-F238E27FC236}">
                <a16:creationId xmlns:a16="http://schemas.microsoft.com/office/drawing/2014/main" id="{741C6B6B-AEB7-CDF4-57F6-2C698C7C8BCA}"/>
              </a:ext>
            </a:extLst>
          </p:cNvPr>
          <p:cNvSpPr txBox="1"/>
          <p:nvPr/>
        </p:nvSpPr>
        <p:spPr>
          <a:xfrm>
            <a:off x="914656" y="7115246"/>
            <a:ext cx="8382000" cy="369332"/>
          </a:xfrm>
          <a:prstGeom prst="rect">
            <a:avLst/>
          </a:prstGeom>
          <a:noFill/>
        </p:spPr>
        <p:txBody>
          <a:bodyPr wrap="square" lIns="0" tIns="0" rIns="0" bIns="0" anchor="t">
            <a:spAutoFit/>
          </a:bodyPr>
          <a:lstStyle/>
          <a:p>
            <a:pPr>
              <a:spcAft>
                <a:spcPts val="300"/>
              </a:spcAft>
              <a:defRPr sz="2400" b="1">
                <a:solidFill>
                  <a:srgbClr val="FFFFFF"/>
                </a:solidFill>
                <a:latin typeface="Arial"/>
              </a:defRPr>
            </a:pPr>
            <a:r>
              <a:rPr lang="en-US"/>
              <a:t>Gaetan - Data scientist </a:t>
            </a:r>
          </a:p>
        </p:txBody>
      </p:sp>
      <p:pic>
        <p:nvPicPr>
          <p:cNvPr id="38" name="Picture 37">
            <a:extLst>
              <a:ext uri="{FF2B5EF4-FFF2-40B4-BE49-F238E27FC236}">
                <a16:creationId xmlns:a16="http://schemas.microsoft.com/office/drawing/2014/main" id="{752C56E6-E9B6-DF0D-51FE-06E901D8AE8B}"/>
              </a:ext>
            </a:extLst>
          </p:cNvPr>
          <p:cNvPicPr>
            <a:picLocks noChangeAspect="1"/>
          </p:cNvPicPr>
          <p:nvPr/>
        </p:nvPicPr>
        <p:blipFill>
          <a:blip r:embed="rId3"/>
          <a:stretch>
            <a:fillRect/>
          </a:stretch>
        </p:blipFill>
        <p:spPr>
          <a:xfrm>
            <a:off x="11072021" y="1792299"/>
            <a:ext cx="3529332" cy="1761439"/>
          </a:xfrm>
          <a:prstGeom prst="rect">
            <a:avLst/>
          </a:prstGeom>
        </p:spPr>
      </p:pic>
      <p:pic>
        <p:nvPicPr>
          <p:cNvPr id="42" name="Picture 41">
            <a:extLst>
              <a:ext uri="{FF2B5EF4-FFF2-40B4-BE49-F238E27FC236}">
                <a16:creationId xmlns:a16="http://schemas.microsoft.com/office/drawing/2014/main" id="{8D215574-BA4E-D5C9-C9F5-856B533454BC}"/>
              </a:ext>
            </a:extLst>
          </p:cNvPr>
          <p:cNvPicPr>
            <a:picLocks noChangeAspect="1"/>
          </p:cNvPicPr>
          <p:nvPr/>
        </p:nvPicPr>
        <p:blipFill>
          <a:blip r:embed="rId4"/>
          <a:stretch>
            <a:fillRect/>
          </a:stretch>
        </p:blipFill>
        <p:spPr>
          <a:xfrm>
            <a:off x="11743787" y="4648760"/>
            <a:ext cx="3393093" cy="194536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19" y="3311"/>
            <a:ext cx="16256000" cy="9144000"/>
          </a:xfrm>
          <a:prstGeom prst="rect">
            <a:avLst/>
          </a:prstGeom>
          <a:solidFill>
            <a:srgbClr val="F7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TextBox 2"/>
          <p:cNvSpPr txBox="1"/>
          <p:nvPr/>
        </p:nvSpPr>
        <p:spPr>
          <a:xfrm>
            <a:off x="660400" y="381000"/>
            <a:ext cx="13970000" cy="381000"/>
          </a:xfrm>
          <a:prstGeom prst="rect">
            <a:avLst/>
          </a:prstGeom>
          <a:noFill/>
        </p:spPr>
        <p:txBody>
          <a:bodyPr wrap="square" lIns="0" tIns="0" rIns="0" bIns="0">
            <a:spAutoFit/>
          </a:bodyPr>
          <a:lstStyle/>
          <a:p>
            <a:pPr>
              <a:spcAft>
                <a:spcPts val="300"/>
              </a:spcAft>
              <a:defRPr sz="1400" b="1">
                <a:solidFill>
                  <a:srgbClr val="167D89"/>
                </a:solidFill>
                <a:latin typeface="Arial"/>
              </a:defRPr>
            </a:pPr>
            <a:r>
              <a:t>01 / THE IDEA</a:t>
            </a:r>
          </a:p>
        </p:txBody>
      </p:sp>
      <p:sp>
        <p:nvSpPr>
          <p:cNvPr id="4" name="TextBox 3"/>
          <p:cNvSpPr txBox="1"/>
          <p:nvPr/>
        </p:nvSpPr>
        <p:spPr>
          <a:xfrm>
            <a:off x="660400" y="1016000"/>
            <a:ext cx="14935200" cy="1524000"/>
          </a:xfrm>
          <a:prstGeom prst="rect">
            <a:avLst/>
          </a:prstGeom>
          <a:noFill/>
        </p:spPr>
        <p:txBody>
          <a:bodyPr wrap="square" lIns="0" tIns="0" rIns="0" bIns="0">
            <a:spAutoFit/>
          </a:bodyPr>
          <a:lstStyle/>
          <a:p>
            <a:pPr>
              <a:spcAft>
                <a:spcPts val="300"/>
              </a:spcAft>
              <a:defRPr sz="4200" b="1">
                <a:solidFill>
                  <a:srgbClr val="14253A"/>
                </a:solidFill>
                <a:latin typeface="Arial"/>
              </a:defRPr>
            </a:pPr>
            <a:r>
              <a:t>One workflow. From page to comparison.</a:t>
            </a:r>
          </a:p>
        </p:txBody>
      </p:sp>
      <p:sp>
        <p:nvSpPr>
          <p:cNvPr id="5" name="TextBox 4"/>
          <p:cNvSpPr txBox="1"/>
          <p:nvPr/>
        </p:nvSpPr>
        <p:spPr>
          <a:xfrm>
            <a:off x="685800" y="1930400"/>
            <a:ext cx="14605000" cy="746358"/>
          </a:xfrm>
          <a:prstGeom prst="rect">
            <a:avLst/>
          </a:prstGeom>
          <a:noFill/>
        </p:spPr>
        <p:txBody>
          <a:bodyPr wrap="square" lIns="0" tIns="0" rIns="0" bIns="0" anchor="t">
            <a:spAutoFit/>
          </a:bodyPr>
          <a:lstStyle/>
          <a:p>
            <a:pPr>
              <a:spcAft>
                <a:spcPts val="300"/>
              </a:spcAft>
              <a:defRPr sz="2300" b="0">
                <a:solidFill>
                  <a:srgbClr val="536577"/>
                </a:solidFill>
                <a:latin typeface="Arial"/>
              </a:defRPr>
            </a:pPr>
            <a:r>
              <a:t>The same evidence follows the page through capture, review and comparison.</a:t>
            </a:r>
            <a:endParaRPr lang="en-US" sz="1700" b="1">
              <a:solidFill>
                <a:srgbClr val="182E26"/>
              </a:solidFill>
              <a:highlight>
                <a:srgbClr val="FFFFFF"/>
              </a:highlight>
              <a:cs typeface="Arial"/>
            </a:endParaRPr>
          </a:p>
          <a:p>
            <a:pPr>
              <a:spcAft>
                <a:spcPts val="300"/>
              </a:spcAft>
              <a:defRPr sz="2300" b="0">
                <a:solidFill>
                  <a:srgbClr val="536577"/>
                </a:solidFill>
                <a:latin typeface="Arial"/>
              </a:defRPr>
            </a:pPr>
            <a:endParaRPr>
              <a:cs typeface="Arial"/>
            </a:endParaRPr>
          </a:p>
        </p:txBody>
      </p:sp>
      <p:cxnSp>
        <p:nvCxnSpPr>
          <p:cNvPr id="6" name="Connector 5"/>
          <p:cNvCxnSpPr/>
          <p:nvPr/>
        </p:nvCxnSpPr>
        <p:spPr>
          <a:xfrm>
            <a:off x="660400" y="8534400"/>
            <a:ext cx="14935200" cy="0"/>
          </a:xfrm>
          <a:prstGeom prst="line">
            <a:avLst/>
          </a:prstGeom>
          <a:ln w="12700">
            <a:solidFill>
              <a:srgbClr val="D9DED9"/>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60400" y="8699500"/>
            <a:ext cx="13335000" cy="355600"/>
          </a:xfrm>
          <a:prstGeom prst="rect">
            <a:avLst/>
          </a:prstGeom>
          <a:noFill/>
        </p:spPr>
        <p:txBody>
          <a:bodyPr wrap="square" lIns="0" tIns="0" rIns="0" bIns="0">
            <a:spAutoFit/>
          </a:bodyPr>
          <a:lstStyle/>
          <a:p>
            <a:pPr>
              <a:spcAft>
                <a:spcPts val="300"/>
              </a:spcAft>
              <a:defRPr sz="1100" b="0">
                <a:solidFill>
                  <a:srgbClr val="536577"/>
                </a:solidFill>
                <a:latin typeface="Arial"/>
              </a:defRPr>
            </a:pPr>
            <a:r>
              <a:t>BANKING CAMPAIGNS COMPARATOR  /  RESEARCH PROTOTYPE</a:t>
            </a:r>
          </a:p>
        </p:txBody>
      </p:sp>
      <p:sp>
        <p:nvSpPr>
          <p:cNvPr id="8" name="TextBox 7"/>
          <p:cNvSpPr txBox="1"/>
          <p:nvPr/>
        </p:nvSpPr>
        <p:spPr>
          <a:xfrm>
            <a:off x="14668500" y="8636000"/>
            <a:ext cx="1143000" cy="406400"/>
          </a:xfrm>
          <a:prstGeom prst="rect">
            <a:avLst/>
          </a:prstGeom>
          <a:noFill/>
        </p:spPr>
        <p:txBody>
          <a:bodyPr wrap="square" lIns="0" tIns="0" rIns="0" bIns="0">
            <a:spAutoFit/>
          </a:bodyPr>
          <a:lstStyle/>
          <a:p>
            <a:pPr>
              <a:spcAft>
                <a:spcPts val="300"/>
              </a:spcAft>
              <a:defRPr sz="1500" b="0">
                <a:solidFill>
                  <a:srgbClr val="14253A"/>
                </a:solidFill>
                <a:latin typeface="Arial"/>
              </a:defRPr>
            </a:pPr>
            <a:r>
              <a:t>02 / 08</a:t>
            </a:r>
          </a:p>
        </p:txBody>
      </p:sp>
      <p:sp>
        <p:nvSpPr>
          <p:cNvPr id="9" name="TextBox 8"/>
          <p:cNvSpPr txBox="1"/>
          <p:nvPr/>
        </p:nvSpPr>
        <p:spPr>
          <a:xfrm>
            <a:off x="646865" y="2630085"/>
            <a:ext cx="1016000" cy="698500"/>
          </a:xfrm>
          <a:prstGeom prst="rect">
            <a:avLst/>
          </a:prstGeom>
          <a:noFill/>
        </p:spPr>
        <p:txBody>
          <a:bodyPr wrap="square" lIns="0" tIns="0" rIns="0" bIns="0">
            <a:spAutoFit/>
          </a:bodyPr>
          <a:lstStyle/>
          <a:p>
            <a:pPr>
              <a:spcAft>
                <a:spcPts val="300"/>
              </a:spcAft>
              <a:defRPr sz="3200" b="1">
                <a:solidFill>
                  <a:srgbClr val="167D89"/>
                </a:solidFill>
                <a:latin typeface="Arial"/>
              </a:defRPr>
            </a:pPr>
            <a:r>
              <a:t>01</a:t>
            </a:r>
          </a:p>
        </p:txBody>
      </p:sp>
      <p:sp>
        <p:nvSpPr>
          <p:cNvPr id="10" name="TextBox 9"/>
          <p:cNvSpPr txBox="1"/>
          <p:nvPr/>
        </p:nvSpPr>
        <p:spPr>
          <a:xfrm>
            <a:off x="1535865" y="2693585"/>
            <a:ext cx="3810000" cy="546100"/>
          </a:xfrm>
          <a:prstGeom prst="rect">
            <a:avLst/>
          </a:prstGeom>
          <a:noFill/>
        </p:spPr>
        <p:txBody>
          <a:bodyPr wrap="square" lIns="0" tIns="0" rIns="0" bIns="0">
            <a:spAutoFit/>
          </a:bodyPr>
          <a:lstStyle/>
          <a:p>
            <a:pPr>
              <a:spcAft>
                <a:spcPts val="300"/>
              </a:spcAft>
              <a:defRPr sz="2600" b="1">
                <a:solidFill>
                  <a:srgbClr val="14253A"/>
                </a:solidFill>
                <a:latin typeface="Arial"/>
              </a:defRPr>
            </a:pPr>
            <a:r>
              <a:t>CAPTURE</a:t>
            </a:r>
          </a:p>
        </p:txBody>
      </p:sp>
      <p:sp>
        <p:nvSpPr>
          <p:cNvPr id="11" name="TextBox 10"/>
          <p:cNvSpPr txBox="1"/>
          <p:nvPr/>
        </p:nvSpPr>
        <p:spPr>
          <a:xfrm>
            <a:off x="660400" y="6874144"/>
            <a:ext cx="3948853" cy="684803"/>
          </a:xfrm>
          <a:prstGeom prst="rect">
            <a:avLst/>
          </a:prstGeom>
          <a:noFill/>
        </p:spPr>
        <p:txBody>
          <a:bodyPr wrap="square" lIns="0" tIns="0" rIns="0" bIns="0" anchor="t">
            <a:spAutoFit/>
          </a:bodyPr>
          <a:lstStyle/>
          <a:p>
            <a:pPr algn="ctr">
              <a:spcAft>
                <a:spcPts val="300"/>
              </a:spcAft>
              <a:defRPr sz="2100" b="0">
                <a:solidFill>
                  <a:srgbClr val="536577"/>
                </a:solidFill>
                <a:latin typeface="Arial"/>
              </a:defRPr>
            </a:pPr>
            <a:r>
              <a:t>Save what the visitor sees</a:t>
            </a:r>
            <a:r>
              <a:rPr lang="en-US"/>
              <a:t> </a:t>
            </a:r>
          </a:p>
          <a:p>
            <a:pPr algn="ctr">
              <a:spcAft>
                <a:spcPts val="300"/>
              </a:spcAft>
              <a:defRPr sz="2100" b="0">
                <a:solidFill>
                  <a:srgbClr val="536577"/>
                </a:solidFill>
                <a:latin typeface="Arial"/>
              </a:defRPr>
            </a:pPr>
            <a:r>
              <a:rPr lang="en-US"/>
              <a:t>(text + image)</a:t>
            </a:r>
            <a:endParaRPr lang="en-US">
              <a:cs typeface="Arial"/>
            </a:endParaRPr>
          </a:p>
        </p:txBody>
      </p:sp>
      <p:sp>
        <p:nvSpPr>
          <p:cNvPr id="12" name="TextBox 11"/>
          <p:cNvSpPr txBox="1"/>
          <p:nvPr/>
        </p:nvSpPr>
        <p:spPr>
          <a:xfrm>
            <a:off x="5866565" y="2630085"/>
            <a:ext cx="1016000" cy="698500"/>
          </a:xfrm>
          <a:prstGeom prst="rect">
            <a:avLst/>
          </a:prstGeom>
          <a:noFill/>
        </p:spPr>
        <p:txBody>
          <a:bodyPr wrap="square" lIns="0" tIns="0" rIns="0" bIns="0">
            <a:spAutoFit/>
          </a:bodyPr>
          <a:lstStyle/>
          <a:p>
            <a:pPr>
              <a:spcAft>
                <a:spcPts val="300"/>
              </a:spcAft>
              <a:defRPr sz="3200" b="1">
                <a:solidFill>
                  <a:srgbClr val="167D89"/>
                </a:solidFill>
                <a:latin typeface="Arial"/>
              </a:defRPr>
            </a:pPr>
            <a:r>
              <a:t>02</a:t>
            </a:r>
          </a:p>
        </p:txBody>
      </p:sp>
      <p:sp>
        <p:nvSpPr>
          <p:cNvPr id="13" name="TextBox 12"/>
          <p:cNvSpPr txBox="1"/>
          <p:nvPr/>
        </p:nvSpPr>
        <p:spPr>
          <a:xfrm>
            <a:off x="6755565" y="2693585"/>
            <a:ext cx="3810000" cy="546100"/>
          </a:xfrm>
          <a:prstGeom prst="rect">
            <a:avLst/>
          </a:prstGeom>
          <a:noFill/>
        </p:spPr>
        <p:txBody>
          <a:bodyPr wrap="square" lIns="0" tIns="0" rIns="0" bIns="0">
            <a:spAutoFit/>
          </a:bodyPr>
          <a:lstStyle/>
          <a:p>
            <a:pPr>
              <a:spcAft>
                <a:spcPts val="300"/>
              </a:spcAft>
              <a:defRPr sz="2600" b="1">
                <a:solidFill>
                  <a:srgbClr val="14253A"/>
                </a:solidFill>
                <a:latin typeface="Arial"/>
              </a:defRPr>
            </a:pPr>
            <a:r>
              <a:t>LABEL</a:t>
            </a:r>
          </a:p>
        </p:txBody>
      </p:sp>
      <p:sp>
        <p:nvSpPr>
          <p:cNvPr id="14" name="TextBox 13"/>
          <p:cNvSpPr txBox="1"/>
          <p:nvPr/>
        </p:nvSpPr>
        <p:spPr>
          <a:xfrm>
            <a:off x="5636621" y="7199099"/>
            <a:ext cx="4572000" cy="323165"/>
          </a:xfrm>
          <a:prstGeom prst="rect">
            <a:avLst/>
          </a:prstGeom>
          <a:noFill/>
        </p:spPr>
        <p:txBody>
          <a:bodyPr wrap="square" lIns="0" tIns="0" rIns="0" bIns="0" anchor="t">
            <a:spAutoFit/>
          </a:bodyPr>
          <a:lstStyle/>
          <a:p>
            <a:pPr algn="ctr">
              <a:spcAft>
                <a:spcPts val="300"/>
              </a:spcAft>
              <a:defRPr sz="2100" b="0">
                <a:solidFill>
                  <a:srgbClr val="536577"/>
                </a:solidFill>
                <a:latin typeface="Arial"/>
              </a:defRPr>
            </a:pPr>
            <a:r>
              <a:t>Describe it with shared criteria.</a:t>
            </a:r>
            <a:endParaRPr lang="en-US">
              <a:cs typeface="Arial"/>
            </a:endParaRPr>
          </a:p>
        </p:txBody>
      </p:sp>
      <p:sp>
        <p:nvSpPr>
          <p:cNvPr id="15" name="TextBox 14"/>
          <p:cNvSpPr txBox="1"/>
          <p:nvPr/>
        </p:nvSpPr>
        <p:spPr>
          <a:xfrm>
            <a:off x="11086265" y="2630085"/>
            <a:ext cx="1016000" cy="698500"/>
          </a:xfrm>
          <a:prstGeom prst="rect">
            <a:avLst/>
          </a:prstGeom>
          <a:noFill/>
        </p:spPr>
        <p:txBody>
          <a:bodyPr wrap="square" lIns="0" tIns="0" rIns="0" bIns="0">
            <a:spAutoFit/>
          </a:bodyPr>
          <a:lstStyle/>
          <a:p>
            <a:pPr>
              <a:spcAft>
                <a:spcPts val="300"/>
              </a:spcAft>
              <a:defRPr sz="3200" b="1">
                <a:solidFill>
                  <a:srgbClr val="167D89"/>
                </a:solidFill>
                <a:latin typeface="Arial"/>
              </a:defRPr>
            </a:pPr>
            <a:r>
              <a:t>03</a:t>
            </a:r>
          </a:p>
        </p:txBody>
      </p:sp>
      <p:sp>
        <p:nvSpPr>
          <p:cNvPr id="16" name="TextBox 15"/>
          <p:cNvSpPr txBox="1"/>
          <p:nvPr/>
        </p:nvSpPr>
        <p:spPr>
          <a:xfrm>
            <a:off x="11975265" y="2693585"/>
            <a:ext cx="3810000" cy="546100"/>
          </a:xfrm>
          <a:prstGeom prst="rect">
            <a:avLst/>
          </a:prstGeom>
          <a:noFill/>
        </p:spPr>
        <p:txBody>
          <a:bodyPr wrap="square" lIns="0" tIns="0" rIns="0" bIns="0">
            <a:spAutoFit/>
          </a:bodyPr>
          <a:lstStyle/>
          <a:p>
            <a:pPr>
              <a:spcAft>
                <a:spcPts val="300"/>
              </a:spcAft>
              <a:defRPr sz="2600" b="1">
                <a:solidFill>
                  <a:srgbClr val="14253A"/>
                </a:solidFill>
                <a:latin typeface="Arial"/>
              </a:defRPr>
            </a:pPr>
            <a:r>
              <a:t>COMPARE</a:t>
            </a:r>
          </a:p>
        </p:txBody>
      </p:sp>
      <p:sp>
        <p:nvSpPr>
          <p:cNvPr id="17" name="TextBox 16"/>
          <p:cNvSpPr txBox="1"/>
          <p:nvPr/>
        </p:nvSpPr>
        <p:spPr>
          <a:xfrm>
            <a:off x="11505850" y="6873356"/>
            <a:ext cx="4572000" cy="323165"/>
          </a:xfrm>
          <a:prstGeom prst="rect">
            <a:avLst/>
          </a:prstGeom>
          <a:noFill/>
        </p:spPr>
        <p:txBody>
          <a:bodyPr wrap="square" lIns="0" tIns="0" rIns="0" bIns="0" anchor="t">
            <a:spAutoFit/>
          </a:bodyPr>
          <a:lstStyle/>
          <a:p>
            <a:pPr>
              <a:spcAft>
                <a:spcPts val="300"/>
              </a:spcAft>
              <a:defRPr sz="2100" b="0">
                <a:solidFill>
                  <a:srgbClr val="536577"/>
                </a:solidFill>
                <a:latin typeface="Arial"/>
              </a:defRPr>
            </a:pPr>
            <a:r>
              <a:t>Explore differences across pages.</a:t>
            </a:r>
            <a:endParaRPr lang="en-US">
              <a:cs typeface="Arial"/>
            </a:endParaRPr>
          </a:p>
        </p:txBody>
      </p:sp>
      <p:sp>
        <p:nvSpPr>
          <p:cNvPr id="18" name="Rounded Rectangle 17"/>
          <p:cNvSpPr/>
          <p:nvPr/>
        </p:nvSpPr>
        <p:spPr>
          <a:xfrm>
            <a:off x="703627" y="3338920"/>
            <a:ext cx="3877733" cy="30226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649534" y="3325443"/>
            <a:ext cx="3945466" cy="303107"/>
          </a:xfrm>
          <a:prstGeom prst="roundRect">
            <a:avLst>
              <a:gd name="adj" fmla="val 8000"/>
            </a:avLst>
          </a:prstGeom>
          <a:solidFill>
            <a:srgbClr val="E8ED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923760" y="3493860"/>
            <a:ext cx="76200" cy="76200"/>
          </a:xfrm>
          <a:prstGeom prst="ellipse">
            <a:avLst/>
          </a:prstGeom>
          <a:solidFill>
            <a:srgbClr val="A2AF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1076160" y="3493860"/>
            <a:ext cx="76200" cy="76200"/>
          </a:xfrm>
          <a:prstGeom prst="ellipse">
            <a:avLst/>
          </a:prstGeom>
          <a:solidFill>
            <a:srgbClr val="A2AF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1228560" y="3493860"/>
            <a:ext cx="76200" cy="76200"/>
          </a:xfrm>
          <a:prstGeom prst="ellipse">
            <a:avLst/>
          </a:prstGeom>
          <a:solidFill>
            <a:srgbClr val="A2AF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974560" y="3925660"/>
            <a:ext cx="2095500" cy="152400"/>
          </a:xfrm>
          <a:prstGeom prst="rect">
            <a:avLst/>
          </a:prstGeom>
          <a:solidFill>
            <a:srgbClr val="14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974560" y="4205060"/>
            <a:ext cx="1524000" cy="76200"/>
          </a:xfrm>
          <a:prstGeom prst="rect">
            <a:avLst/>
          </a:prstGeom>
          <a:solidFill>
            <a:srgbClr val="C5CE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974560" y="4484460"/>
            <a:ext cx="1676400" cy="1041400"/>
          </a:xfrm>
          <a:prstGeom prst="roundRect">
            <a:avLst>
              <a:gd name="adj" fmla="val 8000"/>
            </a:avLst>
          </a:prstGeom>
          <a:solidFill>
            <a:srgbClr val="FF7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2828760" y="4535260"/>
            <a:ext cx="1333500" cy="63500"/>
          </a:xfrm>
          <a:prstGeom prst="rect">
            <a:avLst/>
          </a:prstGeom>
          <a:solidFill>
            <a:srgbClr val="C5CE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2828760" y="4713060"/>
            <a:ext cx="1333500" cy="63500"/>
          </a:xfrm>
          <a:prstGeom prst="rect">
            <a:avLst/>
          </a:prstGeom>
          <a:solidFill>
            <a:srgbClr val="C5CE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2828760" y="4890860"/>
            <a:ext cx="1333500" cy="63500"/>
          </a:xfrm>
          <a:prstGeom prst="rect">
            <a:avLst/>
          </a:prstGeom>
          <a:solidFill>
            <a:srgbClr val="C5CE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2828760" y="5068660"/>
            <a:ext cx="1333500" cy="63500"/>
          </a:xfrm>
          <a:prstGeom prst="rect">
            <a:avLst/>
          </a:prstGeom>
          <a:solidFill>
            <a:srgbClr val="C5CE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ounded Rectangle 29"/>
          <p:cNvSpPr/>
          <p:nvPr/>
        </p:nvSpPr>
        <p:spPr>
          <a:xfrm>
            <a:off x="5866600" y="3338920"/>
            <a:ext cx="3992034" cy="3523826"/>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1" name="TextBox 30"/>
          <p:cNvSpPr txBox="1"/>
          <p:nvPr/>
        </p:nvSpPr>
        <p:spPr>
          <a:xfrm>
            <a:off x="6041860" y="3579420"/>
            <a:ext cx="2209800" cy="646331"/>
          </a:xfrm>
          <a:prstGeom prst="rect">
            <a:avLst/>
          </a:prstGeom>
          <a:noFill/>
        </p:spPr>
        <p:txBody>
          <a:bodyPr wrap="square" lIns="0" tIns="0" rIns="0" bIns="0" anchor="t">
            <a:spAutoFit/>
          </a:bodyPr>
          <a:lstStyle/>
          <a:p>
            <a:pPr>
              <a:defRPr sz="1900" b="1">
                <a:solidFill>
                  <a:srgbClr val="14253A"/>
                </a:solidFill>
                <a:latin typeface="Arial"/>
              </a:defRPr>
            </a:pPr>
            <a:r>
              <a:rPr sz="1400">
                <a:solidFill>
                  <a:srgbClr val="182E26"/>
                </a:solidFill>
                <a:highlight>
                  <a:srgbClr val="FFFFFF"/>
                </a:highlight>
              </a:rPr>
              <a:t>Text </a:t>
            </a:r>
            <a:r>
              <a:rPr lang="en-US" sz="1400">
                <a:solidFill>
                  <a:srgbClr val="182E26"/>
                </a:solidFill>
                <a:highlight>
                  <a:srgbClr val="FFFFFF"/>
                </a:highlight>
              </a:rPr>
              <a:t>&amp; Content </a:t>
            </a:r>
            <a:br>
              <a:rPr lang="en-US" sz="1400"/>
            </a:br>
            <a:endParaRPr lang="en-US" sz="1400">
              <a:cs typeface="Arial"/>
            </a:endParaRPr>
          </a:p>
          <a:p>
            <a:pPr>
              <a:spcAft>
                <a:spcPts val="300"/>
              </a:spcAft>
              <a:defRPr sz="1900" b="1">
                <a:solidFill>
                  <a:srgbClr val="14253A"/>
                </a:solidFill>
                <a:latin typeface="Arial"/>
              </a:defRPr>
            </a:pPr>
            <a:endParaRPr lang="en-US" sz="1400">
              <a:cs typeface="Arial"/>
            </a:endParaRPr>
          </a:p>
        </p:txBody>
      </p:sp>
      <p:sp>
        <p:nvSpPr>
          <p:cNvPr id="32" name="TextBox 31"/>
          <p:cNvSpPr txBox="1"/>
          <p:nvPr/>
        </p:nvSpPr>
        <p:spPr>
          <a:xfrm>
            <a:off x="8302460" y="3633560"/>
            <a:ext cx="1562100" cy="215444"/>
          </a:xfrm>
          <a:prstGeom prst="rect">
            <a:avLst/>
          </a:prstGeom>
          <a:noFill/>
        </p:spPr>
        <p:txBody>
          <a:bodyPr wrap="square" lIns="0" tIns="0" rIns="0" bIns="0" anchor="t">
            <a:spAutoFit/>
          </a:bodyPr>
          <a:lstStyle/>
          <a:p>
            <a:pPr>
              <a:spcAft>
                <a:spcPts val="300"/>
              </a:spcAft>
              <a:defRPr sz="1600" b="0">
                <a:solidFill>
                  <a:srgbClr val="167D89"/>
                </a:solidFill>
                <a:latin typeface="Arial"/>
              </a:defRPr>
            </a:pPr>
            <a:r>
              <a:rPr lang="en-US" sz="1400"/>
              <a:t>Automation</a:t>
            </a:r>
            <a:endParaRPr lang="en-US" sz="1400">
              <a:cs typeface="Arial"/>
            </a:endParaRPr>
          </a:p>
        </p:txBody>
      </p:sp>
      <p:cxnSp>
        <p:nvCxnSpPr>
          <p:cNvPr id="33" name="Connector 32"/>
          <p:cNvCxnSpPr/>
          <p:nvPr/>
        </p:nvCxnSpPr>
        <p:spPr>
          <a:xfrm>
            <a:off x="6028325" y="3992675"/>
            <a:ext cx="3683000" cy="0"/>
          </a:xfrm>
          <a:prstGeom prst="line">
            <a:avLst/>
          </a:prstGeom>
          <a:ln w="12700">
            <a:solidFill>
              <a:srgbClr val="E3E8E8"/>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8302460" y="4090935"/>
            <a:ext cx="1562100" cy="215444"/>
          </a:xfrm>
          <a:prstGeom prst="rect">
            <a:avLst/>
          </a:prstGeom>
          <a:noFill/>
        </p:spPr>
        <p:txBody>
          <a:bodyPr wrap="square" lIns="0" tIns="0" rIns="0" bIns="0" anchor="t">
            <a:spAutoFit/>
          </a:bodyPr>
          <a:lstStyle/>
          <a:p>
            <a:pPr>
              <a:spcAft>
                <a:spcPts val="300"/>
              </a:spcAft>
              <a:defRPr sz="1600" b="0">
                <a:solidFill>
                  <a:srgbClr val="167D89"/>
                </a:solidFill>
                <a:latin typeface="Arial"/>
              </a:defRPr>
            </a:pPr>
            <a:r>
              <a:rPr lang="en-US" sz="1400"/>
              <a:t>Automation</a:t>
            </a:r>
            <a:endParaRPr lang="en-US" sz="1400">
              <a:cs typeface="Arial"/>
            </a:endParaRPr>
          </a:p>
        </p:txBody>
      </p:sp>
      <p:sp>
        <p:nvSpPr>
          <p:cNvPr id="38" name="TextBox 37"/>
          <p:cNvSpPr txBox="1"/>
          <p:nvPr/>
        </p:nvSpPr>
        <p:spPr>
          <a:xfrm>
            <a:off x="8302460" y="4575380"/>
            <a:ext cx="1562100" cy="215444"/>
          </a:xfrm>
          <a:prstGeom prst="rect">
            <a:avLst/>
          </a:prstGeom>
          <a:noFill/>
        </p:spPr>
        <p:txBody>
          <a:bodyPr wrap="square" lIns="0" tIns="0" rIns="0" bIns="0" anchor="t">
            <a:spAutoFit/>
          </a:bodyPr>
          <a:lstStyle/>
          <a:p>
            <a:pPr>
              <a:spcAft>
                <a:spcPts val="300"/>
              </a:spcAft>
              <a:defRPr sz="1600" b="0">
                <a:solidFill>
                  <a:srgbClr val="167D89"/>
                </a:solidFill>
                <a:latin typeface="Arial"/>
              </a:defRPr>
            </a:pPr>
            <a:r>
              <a:rPr lang="en-US" sz="1400"/>
              <a:t>Human review</a:t>
            </a:r>
            <a:endParaRPr lang="en-US" sz="1400">
              <a:cs typeface="Arial"/>
            </a:endParaRPr>
          </a:p>
        </p:txBody>
      </p:sp>
      <p:sp>
        <p:nvSpPr>
          <p:cNvPr id="40" name="Rounded Rectangle 39"/>
          <p:cNvSpPr/>
          <p:nvPr/>
        </p:nvSpPr>
        <p:spPr>
          <a:xfrm>
            <a:off x="11045660" y="3379560"/>
            <a:ext cx="4191000" cy="2413000"/>
          </a:xfrm>
          <a:prstGeom prst="roundRect">
            <a:avLst>
              <a:gd name="adj" fmla="val 8000"/>
            </a:avLst>
          </a:prstGeom>
          <a:solidFill>
            <a:srgbClr val="14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11502860" y="4573360"/>
            <a:ext cx="419100" cy="889000"/>
          </a:xfrm>
          <a:prstGeom prst="rect">
            <a:avLst/>
          </a:prstGeom>
          <a:solidFill>
            <a:srgbClr val="FF7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12315660" y="4090760"/>
            <a:ext cx="419100" cy="1371600"/>
          </a:xfrm>
          <a:prstGeom prst="rect">
            <a:avLst/>
          </a:prstGeom>
          <a:solidFill>
            <a:srgbClr val="FFA6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p:cNvSpPr/>
          <p:nvPr/>
        </p:nvSpPr>
        <p:spPr>
          <a:xfrm>
            <a:off x="13128460" y="4357460"/>
            <a:ext cx="419100" cy="1104900"/>
          </a:xfrm>
          <a:prstGeom prst="rect">
            <a:avLst/>
          </a:prstGeom>
          <a:solidFill>
            <a:srgbClr val="55C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ectangle 43"/>
          <p:cNvSpPr/>
          <p:nvPr/>
        </p:nvSpPr>
        <p:spPr>
          <a:xfrm>
            <a:off x="13941260" y="4763860"/>
            <a:ext cx="419100" cy="698500"/>
          </a:xfrm>
          <a:prstGeom prst="rect">
            <a:avLst/>
          </a:prstGeom>
          <a:solidFill>
            <a:srgbClr val="A5A0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45" name="Connector 44"/>
          <p:cNvCxnSpPr/>
          <p:nvPr/>
        </p:nvCxnSpPr>
        <p:spPr>
          <a:xfrm>
            <a:off x="4797260" y="4586060"/>
            <a:ext cx="762000" cy="0"/>
          </a:xfrm>
          <a:prstGeom prst="line">
            <a:avLst/>
          </a:prstGeom>
          <a:ln w="25400">
            <a:solidFill>
              <a:srgbClr val="167D89"/>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5444960" y="4509860"/>
            <a:ext cx="114300" cy="76200"/>
          </a:xfrm>
          <a:prstGeom prst="line">
            <a:avLst/>
          </a:prstGeom>
          <a:ln w="25400">
            <a:solidFill>
              <a:srgbClr val="167D89"/>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V="1">
            <a:off x="5444960" y="4586060"/>
            <a:ext cx="114300" cy="76200"/>
          </a:xfrm>
          <a:prstGeom prst="line">
            <a:avLst/>
          </a:prstGeom>
          <a:ln w="25400">
            <a:solidFill>
              <a:srgbClr val="167D89"/>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10207460" y="4586060"/>
            <a:ext cx="584200" cy="0"/>
          </a:xfrm>
          <a:prstGeom prst="line">
            <a:avLst/>
          </a:prstGeom>
          <a:ln w="25400">
            <a:solidFill>
              <a:srgbClr val="167D89"/>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10677360" y="4509860"/>
            <a:ext cx="114300" cy="76200"/>
          </a:xfrm>
          <a:prstGeom prst="line">
            <a:avLst/>
          </a:prstGeom>
          <a:ln w="25400">
            <a:solidFill>
              <a:srgbClr val="167D89"/>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V="1">
            <a:off x="10677360" y="4586060"/>
            <a:ext cx="114300" cy="76200"/>
          </a:xfrm>
          <a:prstGeom prst="line">
            <a:avLst/>
          </a:prstGeom>
          <a:ln w="25400">
            <a:solidFill>
              <a:srgbClr val="167D89"/>
            </a:solidFill>
          </a:ln>
        </p:spPr>
        <p:style>
          <a:lnRef idx="2">
            <a:schemeClr val="accent1"/>
          </a:lnRef>
          <a:fillRef idx="0">
            <a:schemeClr val="accent1"/>
          </a:fillRef>
          <a:effectRef idx="1">
            <a:schemeClr val="accent1"/>
          </a:effectRef>
          <a:fontRef idx="minor">
            <a:schemeClr val="tx1"/>
          </a:fontRef>
        </p:style>
      </p:cxnSp>
      <p:sp>
        <p:nvSpPr>
          <p:cNvPr id="51" name="Rounded Rectangle 50"/>
          <p:cNvSpPr/>
          <p:nvPr/>
        </p:nvSpPr>
        <p:spPr>
          <a:xfrm>
            <a:off x="660400" y="7683500"/>
            <a:ext cx="14630400" cy="495300"/>
          </a:xfrm>
          <a:prstGeom prst="roundRect">
            <a:avLst>
              <a:gd name="adj" fmla="val 8000"/>
            </a:avLst>
          </a:prstGeom>
          <a:solidFill>
            <a:srgbClr val="DDED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889000" y="7772400"/>
            <a:ext cx="14097000" cy="393700"/>
          </a:xfrm>
          <a:prstGeom prst="rect">
            <a:avLst/>
          </a:prstGeom>
          <a:noFill/>
        </p:spPr>
        <p:txBody>
          <a:bodyPr wrap="square" lIns="0" tIns="0" rIns="0" bIns="0">
            <a:spAutoFit/>
          </a:bodyPr>
          <a:lstStyle/>
          <a:p>
            <a:pPr>
              <a:spcAft>
                <a:spcPts val="300"/>
              </a:spcAft>
              <a:defRPr sz="1900" b="0">
                <a:solidFill>
                  <a:srgbClr val="14253A"/>
                </a:solidFill>
                <a:latin typeface="Arial"/>
              </a:defRPr>
            </a:pPr>
            <a:r>
              <a:t>Why it matters: one framework replaces scattered screenshots and inconsistent notes.</a:t>
            </a:r>
          </a:p>
        </p:txBody>
      </p:sp>
      <p:pic>
        <p:nvPicPr>
          <p:cNvPr id="53" name="Picture 52">
            <a:extLst>
              <a:ext uri="{FF2B5EF4-FFF2-40B4-BE49-F238E27FC236}">
                <a16:creationId xmlns:a16="http://schemas.microsoft.com/office/drawing/2014/main" id="{067849B0-C14E-C2F7-79C2-18754629DA3C}"/>
              </a:ext>
            </a:extLst>
          </p:cNvPr>
          <p:cNvPicPr>
            <a:picLocks noChangeAspect="1"/>
          </p:cNvPicPr>
          <p:nvPr/>
        </p:nvPicPr>
        <p:blipFill>
          <a:blip r:embed="rId3"/>
          <a:stretch>
            <a:fillRect/>
          </a:stretch>
        </p:blipFill>
        <p:spPr>
          <a:xfrm>
            <a:off x="965698" y="3768770"/>
            <a:ext cx="3387543" cy="2370669"/>
          </a:xfrm>
          <a:prstGeom prst="rect">
            <a:avLst/>
          </a:prstGeom>
        </p:spPr>
      </p:pic>
      <p:sp>
        <p:nvSpPr>
          <p:cNvPr id="34" name="TextBox 33">
            <a:extLst>
              <a:ext uri="{FF2B5EF4-FFF2-40B4-BE49-F238E27FC236}">
                <a16:creationId xmlns:a16="http://schemas.microsoft.com/office/drawing/2014/main" id="{F79F568D-F0E3-AA66-9B80-0381BFA99F1A}"/>
              </a:ext>
            </a:extLst>
          </p:cNvPr>
          <p:cNvSpPr txBox="1"/>
          <p:nvPr/>
        </p:nvSpPr>
        <p:spPr>
          <a:xfrm>
            <a:off x="6028453" y="4053273"/>
            <a:ext cx="2209800" cy="430887"/>
          </a:xfrm>
          <a:prstGeom prst="rect">
            <a:avLst/>
          </a:prstGeom>
          <a:noFill/>
        </p:spPr>
        <p:txBody>
          <a:bodyPr wrap="square" lIns="0" tIns="0" rIns="0" bIns="0" anchor="t">
            <a:spAutoFit/>
          </a:bodyPr>
          <a:lstStyle/>
          <a:p>
            <a:pPr>
              <a:defRPr sz="1900" b="1">
                <a:solidFill>
                  <a:srgbClr val="14253A"/>
                </a:solidFill>
                <a:latin typeface="Arial"/>
              </a:defRPr>
            </a:pPr>
            <a:r>
              <a:rPr lang="en-US" sz="1400">
                <a:solidFill>
                  <a:srgbClr val="182E26"/>
                </a:solidFill>
                <a:highlight>
                  <a:srgbClr val="FFFFFF"/>
                </a:highlight>
              </a:rPr>
              <a:t>Messaging &amp; Tone</a:t>
            </a:r>
            <a:endParaRPr lang="en-US" sz="1400">
              <a:cs typeface="Arial"/>
            </a:endParaRPr>
          </a:p>
          <a:p>
            <a:pPr>
              <a:spcAft>
                <a:spcPts val="300"/>
              </a:spcAft>
              <a:defRPr sz="1900" b="1">
                <a:solidFill>
                  <a:srgbClr val="14253A"/>
                </a:solidFill>
                <a:latin typeface="Arial"/>
              </a:defRPr>
            </a:pPr>
            <a:endParaRPr lang="en-US" sz="1400">
              <a:cs typeface="Arial"/>
            </a:endParaRPr>
          </a:p>
        </p:txBody>
      </p:sp>
      <p:cxnSp>
        <p:nvCxnSpPr>
          <p:cNvPr id="36" name="Connector 32">
            <a:extLst>
              <a:ext uri="{FF2B5EF4-FFF2-40B4-BE49-F238E27FC236}">
                <a16:creationId xmlns:a16="http://schemas.microsoft.com/office/drawing/2014/main" id="{16F459D8-A0C9-70B0-C5A3-F28AC760C7B9}"/>
              </a:ext>
            </a:extLst>
          </p:cNvPr>
          <p:cNvCxnSpPr>
            <a:cxnSpLocks/>
          </p:cNvCxnSpPr>
          <p:nvPr/>
        </p:nvCxnSpPr>
        <p:spPr>
          <a:xfrm>
            <a:off x="6028453" y="4899648"/>
            <a:ext cx="3683000" cy="0"/>
          </a:xfrm>
          <a:prstGeom prst="line">
            <a:avLst/>
          </a:prstGeom>
          <a:ln w="12700">
            <a:solidFill>
              <a:srgbClr val="E3E8E8"/>
            </a:solidFill>
          </a:ln>
        </p:spPr>
        <p:style>
          <a:lnRef idx="2">
            <a:schemeClr val="accent1"/>
          </a:lnRef>
          <a:fillRef idx="0">
            <a:schemeClr val="accent1"/>
          </a:fillRef>
          <a:effectRef idx="1">
            <a:schemeClr val="accent1"/>
          </a:effectRef>
          <a:fontRef idx="minor">
            <a:schemeClr val="tx1"/>
          </a:fontRef>
        </p:style>
      </p:cxnSp>
      <p:sp>
        <p:nvSpPr>
          <p:cNvPr id="37" name="TextBox 36">
            <a:extLst>
              <a:ext uri="{FF2B5EF4-FFF2-40B4-BE49-F238E27FC236}">
                <a16:creationId xmlns:a16="http://schemas.microsoft.com/office/drawing/2014/main" id="{1AAB5002-192E-C47E-F10F-3B9A0BF11FFA}"/>
              </a:ext>
            </a:extLst>
          </p:cNvPr>
          <p:cNvSpPr txBox="1"/>
          <p:nvPr/>
        </p:nvSpPr>
        <p:spPr>
          <a:xfrm>
            <a:off x="6042116" y="4540661"/>
            <a:ext cx="2209800" cy="430887"/>
          </a:xfrm>
          <a:prstGeom prst="rect">
            <a:avLst/>
          </a:prstGeom>
          <a:noFill/>
        </p:spPr>
        <p:txBody>
          <a:bodyPr wrap="square" lIns="0" tIns="0" rIns="0" bIns="0" anchor="t">
            <a:spAutoFit/>
          </a:bodyPr>
          <a:lstStyle/>
          <a:p>
            <a:pPr>
              <a:defRPr sz="1900" b="1">
                <a:solidFill>
                  <a:srgbClr val="14253A"/>
                </a:solidFill>
                <a:latin typeface="Arial"/>
              </a:defRPr>
            </a:pPr>
            <a:r>
              <a:rPr lang="en-US" sz="1400">
                <a:solidFill>
                  <a:srgbClr val="182E26"/>
                </a:solidFill>
                <a:highlight>
                  <a:srgbClr val="FFFFFF"/>
                </a:highlight>
              </a:rPr>
              <a:t>Images &amp; Visuals</a:t>
            </a:r>
            <a:endParaRPr lang="en-US" sz="1400">
              <a:cs typeface="Arial"/>
            </a:endParaRPr>
          </a:p>
          <a:p>
            <a:pPr>
              <a:spcAft>
                <a:spcPts val="300"/>
              </a:spcAft>
              <a:defRPr sz="1900" b="1">
                <a:solidFill>
                  <a:srgbClr val="14253A"/>
                </a:solidFill>
                <a:latin typeface="Arial"/>
              </a:defRPr>
            </a:pPr>
            <a:endParaRPr lang="en-US" sz="1400">
              <a:cs typeface="Arial"/>
            </a:endParaRPr>
          </a:p>
        </p:txBody>
      </p:sp>
      <p:cxnSp>
        <p:nvCxnSpPr>
          <p:cNvPr id="39" name="Connector 32">
            <a:extLst>
              <a:ext uri="{FF2B5EF4-FFF2-40B4-BE49-F238E27FC236}">
                <a16:creationId xmlns:a16="http://schemas.microsoft.com/office/drawing/2014/main" id="{E2C24BEC-CD2A-8CFC-12BA-BE420F250C9A}"/>
              </a:ext>
            </a:extLst>
          </p:cNvPr>
          <p:cNvCxnSpPr>
            <a:cxnSpLocks/>
          </p:cNvCxnSpPr>
          <p:nvPr/>
        </p:nvCxnSpPr>
        <p:spPr>
          <a:xfrm>
            <a:off x="6028581" y="4466656"/>
            <a:ext cx="3683000" cy="0"/>
          </a:xfrm>
          <a:prstGeom prst="line">
            <a:avLst/>
          </a:prstGeom>
          <a:ln w="12700">
            <a:solidFill>
              <a:srgbClr val="E3E8E8"/>
            </a:solidFill>
          </a:ln>
        </p:spPr>
        <p:style>
          <a:lnRef idx="2">
            <a:schemeClr val="accent1"/>
          </a:lnRef>
          <a:fillRef idx="0">
            <a:schemeClr val="accent1"/>
          </a:fillRef>
          <a:effectRef idx="1">
            <a:schemeClr val="accent1"/>
          </a:effectRef>
          <a:fontRef idx="minor">
            <a:schemeClr val="tx1"/>
          </a:fontRef>
        </p:style>
      </p:cxnSp>
      <p:sp>
        <p:nvSpPr>
          <p:cNvPr id="63" name="TextBox 62">
            <a:extLst>
              <a:ext uri="{FF2B5EF4-FFF2-40B4-BE49-F238E27FC236}">
                <a16:creationId xmlns:a16="http://schemas.microsoft.com/office/drawing/2014/main" id="{BEC31D55-E679-298E-F6AA-E296EF93CBFB}"/>
              </a:ext>
            </a:extLst>
          </p:cNvPr>
          <p:cNvSpPr txBox="1"/>
          <p:nvPr/>
        </p:nvSpPr>
        <p:spPr>
          <a:xfrm>
            <a:off x="6041977" y="5027794"/>
            <a:ext cx="2426546" cy="215444"/>
          </a:xfrm>
          <a:prstGeom prst="rect">
            <a:avLst/>
          </a:prstGeom>
          <a:noFill/>
        </p:spPr>
        <p:txBody>
          <a:bodyPr wrap="square" lIns="0" tIns="0" rIns="0" bIns="0" anchor="t">
            <a:spAutoFit/>
          </a:bodyPr>
          <a:lstStyle/>
          <a:p>
            <a:pPr>
              <a:defRPr sz="1900" b="1">
                <a:solidFill>
                  <a:srgbClr val="14253A"/>
                </a:solidFill>
                <a:latin typeface="Arial"/>
              </a:defRPr>
            </a:pPr>
            <a:r>
              <a:rPr lang="en-US" sz="1400">
                <a:solidFill>
                  <a:srgbClr val="182E26"/>
                </a:solidFill>
                <a:highlight>
                  <a:srgbClr val="FFFFFF"/>
                </a:highlight>
              </a:rPr>
              <a:t>Layout &amp; Page Structure</a:t>
            </a:r>
            <a:endParaRPr lang="en-US" sz="1400">
              <a:cs typeface="Arial"/>
            </a:endParaRPr>
          </a:p>
        </p:txBody>
      </p:sp>
      <p:sp>
        <p:nvSpPr>
          <p:cNvPr id="64" name="TextBox 63">
            <a:extLst>
              <a:ext uri="{FF2B5EF4-FFF2-40B4-BE49-F238E27FC236}">
                <a16:creationId xmlns:a16="http://schemas.microsoft.com/office/drawing/2014/main" id="{CA8E4BC5-BA0D-D7DC-D774-AFCE1D3FBC1D}"/>
              </a:ext>
            </a:extLst>
          </p:cNvPr>
          <p:cNvSpPr txBox="1"/>
          <p:nvPr/>
        </p:nvSpPr>
        <p:spPr>
          <a:xfrm>
            <a:off x="8316123" y="5081934"/>
            <a:ext cx="1562100" cy="215444"/>
          </a:xfrm>
          <a:prstGeom prst="rect">
            <a:avLst/>
          </a:prstGeom>
          <a:noFill/>
        </p:spPr>
        <p:txBody>
          <a:bodyPr wrap="square" lIns="0" tIns="0" rIns="0" bIns="0" anchor="t">
            <a:spAutoFit/>
          </a:bodyPr>
          <a:lstStyle/>
          <a:p>
            <a:pPr>
              <a:spcAft>
                <a:spcPts val="300"/>
              </a:spcAft>
              <a:defRPr sz="1600" b="0">
                <a:solidFill>
                  <a:srgbClr val="167D89"/>
                </a:solidFill>
                <a:latin typeface="Arial"/>
              </a:defRPr>
            </a:pPr>
            <a:r>
              <a:rPr lang="en-US" sz="1400"/>
              <a:t>Human review</a:t>
            </a:r>
            <a:endParaRPr lang="en-US" sz="1400">
              <a:cs typeface="Arial"/>
            </a:endParaRPr>
          </a:p>
        </p:txBody>
      </p:sp>
      <p:sp>
        <p:nvSpPr>
          <p:cNvPr id="65" name="TextBox 64">
            <a:extLst>
              <a:ext uri="{FF2B5EF4-FFF2-40B4-BE49-F238E27FC236}">
                <a16:creationId xmlns:a16="http://schemas.microsoft.com/office/drawing/2014/main" id="{18089967-082B-D204-EE97-487D97B97F4D}"/>
              </a:ext>
            </a:extLst>
          </p:cNvPr>
          <p:cNvSpPr txBox="1"/>
          <p:nvPr/>
        </p:nvSpPr>
        <p:spPr>
          <a:xfrm>
            <a:off x="8343193" y="5945359"/>
            <a:ext cx="1562100" cy="215444"/>
          </a:xfrm>
          <a:prstGeom prst="rect">
            <a:avLst/>
          </a:prstGeom>
          <a:noFill/>
        </p:spPr>
        <p:txBody>
          <a:bodyPr wrap="square" lIns="0" tIns="0" rIns="0" bIns="0" anchor="t">
            <a:spAutoFit/>
          </a:bodyPr>
          <a:lstStyle/>
          <a:p>
            <a:pPr>
              <a:spcAft>
                <a:spcPts val="300"/>
              </a:spcAft>
              <a:defRPr sz="1600" b="0">
                <a:solidFill>
                  <a:srgbClr val="167D89"/>
                </a:solidFill>
                <a:latin typeface="Arial"/>
              </a:defRPr>
            </a:pPr>
            <a:r>
              <a:rPr lang="en-US" sz="1400"/>
              <a:t>Automation</a:t>
            </a:r>
            <a:endParaRPr lang="en-US" sz="1400">
              <a:cs typeface="Arial"/>
            </a:endParaRPr>
          </a:p>
        </p:txBody>
      </p:sp>
      <p:sp>
        <p:nvSpPr>
          <p:cNvPr id="66" name="TextBox 65">
            <a:extLst>
              <a:ext uri="{FF2B5EF4-FFF2-40B4-BE49-F238E27FC236}">
                <a16:creationId xmlns:a16="http://schemas.microsoft.com/office/drawing/2014/main" id="{EB805B0F-507D-BD25-6039-F527AE218940}"/>
              </a:ext>
            </a:extLst>
          </p:cNvPr>
          <p:cNvSpPr txBox="1"/>
          <p:nvPr/>
        </p:nvSpPr>
        <p:spPr>
          <a:xfrm>
            <a:off x="6055651" y="5948302"/>
            <a:ext cx="2209800" cy="215444"/>
          </a:xfrm>
          <a:prstGeom prst="rect">
            <a:avLst/>
          </a:prstGeom>
          <a:noFill/>
        </p:spPr>
        <p:txBody>
          <a:bodyPr wrap="square" lIns="0" tIns="0" rIns="0" bIns="0" anchor="t">
            <a:spAutoFit/>
          </a:bodyPr>
          <a:lstStyle/>
          <a:p>
            <a:pPr>
              <a:defRPr sz="1900" b="1">
                <a:solidFill>
                  <a:srgbClr val="14253A"/>
                </a:solidFill>
                <a:latin typeface="Arial"/>
              </a:defRPr>
            </a:pPr>
            <a:r>
              <a:rPr lang="en-US" sz="1400">
                <a:solidFill>
                  <a:srgbClr val="182E26"/>
                </a:solidFill>
                <a:highlight>
                  <a:srgbClr val="FFFFFF"/>
                </a:highlight>
              </a:rPr>
              <a:t>Call to Action</a:t>
            </a:r>
            <a:endParaRPr lang="en-US" sz="1400">
              <a:solidFill>
                <a:srgbClr val="000000"/>
              </a:solidFill>
              <a:cs typeface="Arial"/>
            </a:endParaRPr>
          </a:p>
        </p:txBody>
      </p:sp>
      <p:sp>
        <p:nvSpPr>
          <p:cNvPr id="68" name="TextBox 67">
            <a:extLst>
              <a:ext uri="{FF2B5EF4-FFF2-40B4-BE49-F238E27FC236}">
                <a16:creationId xmlns:a16="http://schemas.microsoft.com/office/drawing/2014/main" id="{8D7F63F0-4015-3B72-A752-D73C92E2B0D8}"/>
              </a:ext>
            </a:extLst>
          </p:cNvPr>
          <p:cNvSpPr txBox="1"/>
          <p:nvPr/>
        </p:nvSpPr>
        <p:spPr>
          <a:xfrm>
            <a:off x="6055768" y="6395085"/>
            <a:ext cx="3076786" cy="369332"/>
          </a:xfrm>
          <a:prstGeom prst="rect">
            <a:avLst/>
          </a:prstGeom>
          <a:noFill/>
        </p:spPr>
        <p:txBody>
          <a:bodyPr wrap="square" lIns="0" tIns="0" rIns="0" bIns="0" anchor="t">
            <a:spAutoFit/>
          </a:bodyPr>
          <a:lstStyle/>
          <a:p>
            <a:pPr>
              <a:defRPr sz="1900" b="1">
                <a:solidFill>
                  <a:srgbClr val="14253A"/>
                </a:solidFill>
                <a:latin typeface="Arial"/>
              </a:defRPr>
            </a:pPr>
            <a:r>
              <a:rPr lang="en-US" sz="1200">
                <a:solidFill>
                  <a:srgbClr val="182E26"/>
                </a:solidFill>
                <a:highlight>
                  <a:srgbClr val="FFFFFF"/>
                </a:highlight>
              </a:rPr>
              <a:t>Product &amp; Value Proposition</a:t>
            </a:r>
            <a:endParaRPr lang="en-US" sz="1200">
              <a:cs typeface="Arial"/>
            </a:endParaRPr>
          </a:p>
          <a:p>
            <a:pPr>
              <a:spcAft>
                <a:spcPts val="300"/>
              </a:spcAft>
              <a:defRPr sz="1900" b="1">
                <a:solidFill>
                  <a:srgbClr val="14253A"/>
                </a:solidFill>
                <a:latin typeface="Arial"/>
              </a:defRPr>
            </a:pPr>
            <a:endParaRPr lang="en-US" sz="1200">
              <a:cs typeface="Arial"/>
            </a:endParaRPr>
          </a:p>
        </p:txBody>
      </p:sp>
      <p:cxnSp>
        <p:nvCxnSpPr>
          <p:cNvPr id="69" name="Connector 32">
            <a:extLst>
              <a:ext uri="{FF2B5EF4-FFF2-40B4-BE49-F238E27FC236}">
                <a16:creationId xmlns:a16="http://schemas.microsoft.com/office/drawing/2014/main" id="{114C445D-E703-7EAB-3241-A1820447F5F5}"/>
              </a:ext>
            </a:extLst>
          </p:cNvPr>
          <p:cNvCxnSpPr>
            <a:cxnSpLocks/>
          </p:cNvCxnSpPr>
          <p:nvPr/>
        </p:nvCxnSpPr>
        <p:spPr>
          <a:xfrm>
            <a:off x="6028709" y="6321080"/>
            <a:ext cx="3683000" cy="0"/>
          </a:xfrm>
          <a:prstGeom prst="line">
            <a:avLst/>
          </a:prstGeom>
          <a:ln w="12700">
            <a:solidFill>
              <a:srgbClr val="E3E8E8"/>
            </a:solidFill>
          </a:ln>
        </p:spPr>
        <p:style>
          <a:lnRef idx="2">
            <a:schemeClr val="accent1"/>
          </a:lnRef>
          <a:fillRef idx="0">
            <a:schemeClr val="accent1"/>
          </a:fillRef>
          <a:effectRef idx="1">
            <a:schemeClr val="accent1"/>
          </a:effectRef>
          <a:fontRef idx="minor">
            <a:schemeClr val="tx1"/>
          </a:fontRef>
        </p:style>
      </p:cxnSp>
      <p:sp>
        <p:nvSpPr>
          <p:cNvPr id="71" name="TextBox 70">
            <a:extLst>
              <a:ext uri="{FF2B5EF4-FFF2-40B4-BE49-F238E27FC236}">
                <a16:creationId xmlns:a16="http://schemas.microsoft.com/office/drawing/2014/main" id="{0902499A-7696-3AEF-0FD8-2D4BC97675D1}"/>
              </a:ext>
            </a:extLst>
          </p:cNvPr>
          <p:cNvSpPr txBox="1"/>
          <p:nvPr/>
        </p:nvSpPr>
        <p:spPr>
          <a:xfrm>
            <a:off x="8329786" y="6394957"/>
            <a:ext cx="1562100" cy="215444"/>
          </a:xfrm>
          <a:prstGeom prst="rect">
            <a:avLst/>
          </a:prstGeom>
          <a:noFill/>
        </p:spPr>
        <p:txBody>
          <a:bodyPr wrap="square" lIns="0" tIns="0" rIns="0" bIns="0" anchor="t">
            <a:spAutoFit/>
          </a:bodyPr>
          <a:lstStyle/>
          <a:p>
            <a:pPr>
              <a:spcAft>
                <a:spcPts val="300"/>
              </a:spcAft>
              <a:defRPr sz="1600" b="0">
                <a:solidFill>
                  <a:srgbClr val="167D89"/>
                </a:solidFill>
                <a:latin typeface="Arial"/>
              </a:defRPr>
            </a:pPr>
            <a:r>
              <a:rPr lang="en-US" sz="1400"/>
              <a:t>Human review</a:t>
            </a:r>
            <a:endParaRPr lang="en-US" sz="1400">
              <a:cs typeface="Arial"/>
            </a:endParaRPr>
          </a:p>
        </p:txBody>
      </p:sp>
      <p:cxnSp>
        <p:nvCxnSpPr>
          <p:cNvPr id="72" name="Connector 32">
            <a:extLst>
              <a:ext uri="{FF2B5EF4-FFF2-40B4-BE49-F238E27FC236}">
                <a16:creationId xmlns:a16="http://schemas.microsoft.com/office/drawing/2014/main" id="{273A1A9A-F398-17B0-931F-5B53D90D65BE}"/>
              </a:ext>
            </a:extLst>
          </p:cNvPr>
          <p:cNvCxnSpPr>
            <a:cxnSpLocks/>
          </p:cNvCxnSpPr>
          <p:nvPr/>
        </p:nvCxnSpPr>
        <p:spPr>
          <a:xfrm>
            <a:off x="6028581" y="5874296"/>
            <a:ext cx="3683000" cy="0"/>
          </a:xfrm>
          <a:prstGeom prst="line">
            <a:avLst/>
          </a:prstGeom>
          <a:ln w="12700">
            <a:solidFill>
              <a:srgbClr val="E3E8E8"/>
            </a:solidFill>
          </a:ln>
        </p:spPr>
        <p:style>
          <a:lnRef idx="2">
            <a:schemeClr val="accent1"/>
          </a:lnRef>
          <a:fillRef idx="0">
            <a:schemeClr val="accent1"/>
          </a:fillRef>
          <a:effectRef idx="1">
            <a:schemeClr val="accent1"/>
          </a:effectRef>
          <a:fontRef idx="minor">
            <a:schemeClr val="tx1"/>
          </a:fontRef>
        </p:style>
      </p:cxnSp>
      <p:cxnSp>
        <p:nvCxnSpPr>
          <p:cNvPr id="54" name="Connector 32">
            <a:extLst>
              <a:ext uri="{FF2B5EF4-FFF2-40B4-BE49-F238E27FC236}">
                <a16:creationId xmlns:a16="http://schemas.microsoft.com/office/drawing/2014/main" id="{7BDA807E-D909-8190-F208-60C5B991273A}"/>
              </a:ext>
            </a:extLst>
          </p:cNvPr>
          <p:cNvCxnSpPr>
            <a:cxnSpLocks/>
          </p:cNvCxnSpPr>
          <p:nvPr/>
        </p:nvCxnSpPr>
        <p:spPr>
          <a:xfrm>
            <a:off x="6028581" y="5319361"/>
            <a:ext cx="3683000" cy="0"/>
          </a:xfrm>
          <a:prstGeom prst="line">
            <a:avLst/>
          </a:prstGeom>
          <a:ln w="12700">
            <a:solidFill>
              <a:srgbClr val="E3E8E8"/>
            </a:solidFill>
          </a:ln>
        </p:spPr>
        <p:style>
          <a:lnRef idx="2">
            <a:schemeClr val="accent1"/>
          </a:lnRef>
          <a:fillRef idx="0">
            <a:schemeClr val="accent1"/>
          </a:fillRef>
          <a:effectRef idx="1">
            <a:schemeClr val="accent1"/>
          </a:effectRef>
          <a:fontRef idx="minor">
            <a:schemeClr val="tx1"/>
          </a:fontRef>
        </p:style>
      </p:cxnSp>
      <p:sp>
        <p:nvSpPr>
          <p:cNvPr id="55" name="TextBox 54">
            <a:extLst>
              <a:ext uri="{FF2B5EF4-FFF2-40B4-BE49-F238E27FC236}">
                <a16:creationId xmlns:a16="http://schemas.microsoft.com/office/drawing/2014/main" id="{51871DD2-EE74-6B6E-7AC7-C72EB8DBAA38}"/>
              </a:ext>
            </a:extLst>
          </p:cNvPr>
          <p:cNvSpPr txBox="1"/>
          <p:nvPr/>
        </p:nvSpPr>
        <p:spPr>
          <a:xfrm>
            <a:off x="6042244" y="5461170"/>
            <a:ext cx="2209800" cy="215444"/>
          </a:xfrm>
          <a:prstGeom prst="rect">
            <a:avLst/>
          </a:prstGeom>
          <a:noFill/>
        </p:spPr>
        <p:txBody>
          <a:bodyPr wrap="square" lIns="0" tIns="0" rIns="0" bIns="0" anchor="t">
            <a:spAutoFit/>
          </a:bodyPr>
          <a:lstStyle/>
          <a:p>
            <a:pPr>
              <a:defRPr sz="1900" b="1">
                <a:solidFill>
                  <a:srgbClr val="14253A"/>
                </a:solidFill>
                <a:latin typeface="Arial"/>
              </a:defRPr>
            </a:pPr>
            <a:r>
              <a:rPr lang="en-US" sz="1400" err="1">
                <a:solidFill>
                  <a:srgbClr val="182E26"/>
                </a:solidFill>
                <a:highlight>
                  <a:srgbClr val="FFFFFF"/>
                </a:highlight>
              </a:rPr>
              <a:t>Colour</a:t>
            </a:r>
            <a:r>
              <a:rPr lang="en-US" sz="1400">
                <a:solidFill>
                  <a:srgbClr val="182E26"/>
                </a:solidFill>
                <a:highlight>
                  <a:srgbClr val="FFFFFF"/>
                </a:highlight>
              </a:rPr>
              <a:t> &amp; Design</a:t>
            </a:r>
            <a:endParaRPr lang="en-US" sz="1400">
              <a:cs typeface="Arial"/>
            </a:endParaRPr>
          </a:p>
        </p:txBody>
      </p:sp>
      <p:sp>
        <p:nvSpPr>
          <p:cNvPr id="56" name="TextBox 55">
            <a:extLst>
              <a:ext uri="{FF2B5EF4-FFF2-40B4-BE49-F238E27FC236}">
                <a16:creationId xmlns:a16="http://schemas.microsoft.com/office/drawing/2014/main" id="{93BD302D-E017-7932-FA3F-FEEC49432B4A}"/>
              </a:ext>
            </a:extLst>
          </p:cNvPr>
          <p:cNvSpPr txBox="1"/>
          <p:nvPr/>
        </p:nvSpPr>
        <p:spPr>
          <a:xfrm>
            <a:off x="8343449" y="5461169"/>
            <a:ext cx="1562100" cy="215444"/>
          </a:xfrm>
          <a:prstGeom prst="rect">
            <a:avLst/>
          </a:prstGeom>
          <a:noFill/>
        </p:spPr>
        <p:txBody>
          <a:bodyPr wrap="square" lIns="0" tIns="0" rIns="0" bIns="0" anchor="t">
            <a:spAutoFit/>
          </a:bodyPr>
          <a:lstStyle/>
          <a:p>
            <a:pPr>
              <a:spcAft>
                <a:spcPts val="300"/>
              </a:spcAft>
              <a:defRPr sz="1600" b="0">
                <a:solidFill>
                  <a:srgbClr val="167D89"/>
                </a:solidFill>
                <a:latin typeface="Arial"/>
              </a:defRPr>
            </a:pPr>
            <a:r>
              <a:rPr lang="en-US" sz="1400"/>
              <a:t>Human review</a:t>
            </a:r>
            <a:endParaRPr lang="en-US" sz="1400">
              <a:cs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6256000" cy="9144000"/>
          </a:xfrm>
          <a:prstGeom prst="rect">
            <a:avLst/>
          </a:prstGeom>
          <a:solidFill>
            <a:srgbClr val="14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60400" y="381000"/>
            <a:ext cx="13970000" cy="381000"/>
          </a:xfrm>
          <a:prstGeom prst="rect">
            <a:avLst/>
          </a:prstGeom>
          <a:noFill/>
        </p:spPr>
        <p:txBody>
          <a:bodyPr wrap="square" lIns="0" tIns="0" rIns="0" bIns="0">
            <a:spAutoFit/>
          </a:bodyPr>
          <a:lstStyle/>
          <a:p>
            <a:pPr>
              <a:spcAft>
                <a:spcPts val="300"/>
              </a:spcAft>
              <a:defRPr sz="1400" b="1">
                <a:solidFill>
                  <a:srgbClr val="FF792F"/>
                </a:solidFill>
                <a:latin typeface="Arial"/>
              </a:defRPr>
            </a:pPr>
            <a:r>
              <a:t>05 / LIVE DEMO</a:t>
            </a:r>
          </a:p>
        </p:txBody>
      </p:sp>
      <p:sp>
        <p:nvSpPr>
          <p:cNvPr id="4" name="TextBox 3"/>
          <p:cNvSpPr txBox="1"/>
          <p:nvPr/>
        </p:nvSpPr>
        <p:spPr>
          <a:xfrm>
            <a:off x="660400" y="1016000"/>
            <a:ext cx="14935200" cy="1524000"/>
          </a:xfrm>
          <a:prstGeom prst="rect">
            <a:avLst/>
          </a:prstGeom>
          <a:noFill/>
        </p:spPr>
        <p:txBody>
          <a:bodyPr wrap="square" lIns="0" tIns="0" rIns="0" bIns="0">
            <a:spAutoFit/>
          </a:bodyPr>
          <a:lstStyle/>
          <a:p>
            <a:pPr>
              <a:spcAft>
                <a:spcPts val="300"/>
              </a:spcAft>
              <a:defRPr sz="4200" b="1">
                <a:solidFill>
                  <a:srgbClr val="FFFFFF"/>
                </a:solidFill>
                <a:latin typeface="Arial"/>
              </a:defRPr>
            </a:pPr>
            <a:r>
              <a:t>Let’s follow one page through the app.</a:t>
            </a:r>
          </a:p>
        </p:txBody>
      </p:sp>
      <p:sp>
        <p:nvSpPr>
          <p:cNvPr id="5" name="TextBox 4"/>
          <p:cNvSpPr txBox="1"/>
          <p:nvPr/>
        </p:nvSpPr>
        <p:spPr>
          <a:xfrm>
            <a:off x="685800" y="1930400"/>
            <a:ext cx="14605000" cy="990600"/>
          </a:xfrm>
          <a:prstGeom prst="rect">
            <a:avLst/>
          </a:prstGeom>
          <a:noFill/>
        </p:spPr>
        <p:txBody>
          <a:bodyPr wrap="square" lIns="0" tIns="0" rIns="0" bIns="0">
            <a:spAutoFit/>
          </a:bodyPr>
          <a:lstStyle/>
          <a:p>
            <a:pPr>
              <a:spcAft>
                <a:spcPts val="300"/>
              </a:spcAft>
              <a:defRPr sz="2300" b="0">
                <a:solidFill>
                  <a:srgbClr val="BDCCDA"/>
                </a:solidFill>
                <a:latin typeface="Arial"/>
              </a:defRPr>
            </a:pPr>
            <a:r>
              <a:t>A 90-second walkthrough using saved evidence, so we can focus on the research process.</a:t>
            </a:r>
          </a:p>
        </p:txBody>
      </p:sp>
      <p:cxnSp>
        <p:nvCxnSpPr>
          <p:cNvPr id="6" name="Connector 5"/>
          <p:cNvCxnSpPr/>
          <p:nvPr/>
        </p:nvCxnSpPr>
        <p:spPr>
          <a:xfrm>
            <a:off x="660400" y="8534400"/>
            <a:ext cx="14935200" cy="0"/>
          </a:xfrm>
          <a:prstGeom prst="line">
            <a:avLst/>
          </a:prstGeom>
          <a:ln w="12700">
            <a:solidFill>
              <a:srgbClr val="22384E"/>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60400" y="8699500"/>
            <a:ext cx="13335000" cy="355600"/>
          </a:xfrm>
          <a:prstGeom prst="rect">
            <a:avLst/>
          </a:prstGeom>
          <a:noFill/>
        </p:spPr>
        <p:txBody>
          <a:bodyPr wrap="square" lIns="0" tIns="0" rIns="0" bIns="0">
            <a:spAutoFit/>
          </a:bodyPr>
          <a:lstStyle/>
          <a:p>
            <a:pPr>
              <a:spcAft>
                <a:spcPts val="300"/>
              </a:spcAft>
              <a:defRPr sz="1100" b="0">
                <a:solidFill>
                  <a:srgbClr val="BDCCDA"/>
                </a:solidFill>
                <a:latin typeface="Arial"/>
              </a:defRPr>
            </a:pPr>
            <a:r>
              <a:t>BANKING CAMPAIGNS COMPARATOR  /  RESEARCH PROTOTYPE</a:t>
            </a:r>
          </a:p>
        </p:txBody>
      </p:sp>
      <p:sp>
        <p:nvSpPr>
          <p:cNvPr id="8" name="TextBox 7"/>
          <p:cNvSpPr txBox="1"/>
          <p:nvPr/>
        </p:nvSpPr>
        <p:spPr>
          <a:xfrm>
            <a:off x="14668500" y="8636000"/>
            <a:ext cx="1143000" cy="230832"/>
          </a:xfrm>
          <a:prstGeom prst="rect">
            <a:avLst/>
          </a:prstGeom>
          <a:noFill/>
        </p:spPr>
        <p:txBody>
          <a:bodyPr wrap="square" lIns="0" tIns="0" rIns="0" bIns="0" anchor="t">
            <a:spAutoFit/>
          </a:bodyPr>
          <a:lstStyle/>
          <a:p>
            <a:pPr>
              <a:spcAft>
                <a:spcPts val="300"/>
              </a:spcAft>
              <a:defRPr sz="1500" b="0">
                <a:solidFill>
                  <a:srgbClr val="FFFFFF"/>
                </a:solidFill>
                <a:latin typeface="Arial"/>
              </a:defRPr>
            </a:pPr>
            <a:r>
              <a:rPr lang="en-US"/>
              <a:t>03</a:t>
            </a:r>
            <a:r>
              <a:t> / 08</a:t>
            </a:r>
          </a:p>
        </p:txBody>
      </p:sp>
      <p:sp>
        <p:nvSpPr>
          <p:cNvPr id="9" name="Rounded Rectangle 8"/>
          <p:cNvSpPr/>
          <p:nvPr/>
        </p:nvSpPr>
        <p:spPr>
          <a:xfrm>
            <a:off x="660400" y="2895600"/>
            <a:ext cx="9372600" cy="46609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image.png"/>
          <p:cNvPicPr>
            <a:picLocks noChangeAspect="1"/>
          </p:cNvPicPr>
          <p:nvPr/>
        </p:nvPicPr>
        <p:blipFill>
          <a:blip r:embed="rId3"/>
          <a:stretch>
            <a:fillRect/>
          </a:stretch>
        </p:blipFill>
        <p:spPr>
          <a:xfrm>
            <a:off x="1390650" y="3035300"/>
            <a:ext cx="7912100" cy="4368800"/>
          </a:xfrm>
          <a:prstGeom prst="rect">
            <a:avLst/>
          </a:prstGeom>
        </p:spPr>
      </p:pic>
      <p:sp>
        <p:nvSpPr>
          <p:cNvPr id="11" name="TextBox 10"/>
          <p:cNvSpPr txBox="1"/>
          <p:nvPr/>
        </p:nvSpPr>
        <p:spPr>
          <a:xfrm>
            <a:off x="10579100" y="2959100"/>
            <a:ext cx="952500" cy="635000"/>
          </a:xfrm>
          <a:prstGeom prst="rect">
            <a:avLst/>
          </a:prstGeom>
          <a:noFill/>
        </p:spPr>
        <p:txBody>
          <a:bodyPr wrap="square" lIns="0" tIns="0" rIns="0" bIns="0">
            <a:spAutoFit/>
          </a:bodyPr>
          <a:lstStyle/>
          <a:p>
            <a:pPr>
              <a:spcAft>
                <a:spcPts val="300"/>
              </a:spcAft>
              <a:defRPr sz="3000" b="1">
                <a:solidFill>
                  <a:srgbClr val="FF792F"/>
                </a:solidFill>
                <a:latin typeface="Arial"/>
              </a:defRPr>
            </a:pPr>
            <a:r>
              <a:t>01</a:t>
            </a:r>
          </a:p>
        </p:txBody>
      </p:sp>
      <p:sp>
        <p:nvSpPr>
          <p:cNvPr id="12" name="TextBox 11"/>
          <p:cNvSpPr txBox="1"/>
          <p:nvPr/>
        </p:nvSpPr>
        <p:spPr>
          <a:xfrm>
            <a:off x="11430000" y="2959100"/>
            <a:ext cx="4064000" cy="533400"/>
          </a:xfrm>
          <a:prstGeom prst="rect">
            <a:avLst/>
          </a:prstGeom>
          <a:noFill/>
        </p:spPr>
        <p:txBody>
          <a:bodyPr wrap="square" lIns="0" tIns="0" rIns="0" bIns="0">
            <a:spAutoFit/>
          </a:bodyPr>
          <a:lstStyle/>
          <a:p>
            <a:pPr>
              <a:spcAft>
                <a:spcPts val="300"/>
              </a:spcAft>
              <a:defRPr sz="2600" b="1">
                <a:solidFill>
                  <a:srgbClr val="FFFFFF"/>
                </a:solidFill>
                <a:latin typeface="Arial"/>
              </a:defRPr>
            </a:pPr>
            <a:r>
              <a:t>Open its capture</a:t>
            </a:r>
          </a:p>
        </p:txBody>
      </p:sp>
      <p:sp>
        <p:nvSpPr>
          <p:cNvPr id="13" name="TextBox 12"/>
          <p:cNvSpPr txBox="1"/>
          <p:nvPr/>
        </p:nvSpPr>
        <p:spPr>
          <a:xfrm>
            <a:off x="10591800" y="3683000"/>
            <a:ext cx="4826000" cy="711200"/>
          </a:xfrm>
          <a:prstGeom prst="rect">
            <a:avLst/>
          </a:prstGeom>
          <a:noFill/>
        </p:spPr>
        <p:txBody>
          <a:bodyPr wrap="square" lIns="0" tIns="0" rIns="0" bIns="0">
            <a:spAutoFit/>
          </a:bodyPr>
          <a:lstStyle/>
          <a:p>
            <a:pPr>
              <a:spcAft>
                <a:spcPts val="300"/>
              </a:spcAft>
              <a:defRPr sz="2000" b="0">
                <a:solidFill>
                  <a:srgbClr val="BDCCDA"/>
                </a:solidFill>
                <a:latin typeface="Arial"/>
              </a:defRPr>
            </a:pPr>
            <a:r>
              <a:t>What did we collect?</a:t>
            </a:r>
          </a:p>
        </p:txBody>
      </p:sp>
      <p:sp>
        <p:nvSpPr>
          <p:cNvPr id="14" name="TextBox 13"/>
          <p:cNvSpPr txBox="1"/>
          <p:nvPr/>
        </p:nvSpPr>
        <p:spPr>
          <a:xfrm>
            <a:off x="10579100" y="4495800"/>
            <a:ext cx="952500" cy="635000"/>
          </a:xfrm>
          <a:prstGeom prst="rect">
            <a:avLst/>
          </a:prstGeom>
          <a:noFill/>
        </p:spPr>
        <p:txBody>
          <a:bodyPr wrap="square" lIns="0" tIns="0" rIns="0" bIns="0">
            <a:spAutoFit/>
          </a:bodyPr>
          <a:lstStyle/>
          <a:p>
            <a:pPr>
              <a:spcAft>
                <a:spcPts val="300"/>
              </a:spcAft>
              <a:defRPr sz="3000" b="1">
                <a:solidFill>
                  <a:srgbClr val="FF792F"/>
                </a:solidFill>
                <a:latin typeface="Arial"/>
              </a:defRPr>
            </a:pPr>
            <a:r>
              <a:t>02</a:t>
            </a:r>
          </a:p>
        </p:txBody>
      </p:sp>
      <p:sp>
        <p:nvSpPr>
          <p:cNvPr id="15" name="TextBox 14"/>
          <p:cNvSpPr txBox="1"/>
          <p:nvPr/>
        </p:nvSpPr>
        <p:spPr>
          <a:xfrm>
            <a:off x="11430000" y="4495800"/>
            <a:ext cx="4064000" cy="533400"/>
          </a:xfrm>
          <a:prstGeom prst="rect">
            <a:avLst/>
          </a:prstGeom>
          <a:noFill/>
        </p:spPr>
        <p:txBody>
          <a:bodyPr wrap="square" lIns="0" tIns="0" rIns="0" bIns="0">
            <a:spAutoFit/>
          </a:bodyPr>
          <a:lstStyle/>
          <a:p>
            <a:pPr>
              <a:spcAft>
                <a:spcPts val="300"/>
              </a:spcAft>
              <a:defRPr sz="2600" b="1">
                <a:solidFill>
                  <a:srgbClr val="FFFFFF"/>
                </a:solidFill>
                <a:latin typeface="Arial"/>
              </a:defRPr>
            </a:pPr>
            <a:r>
              <a:t>Review a label</a:t>
            </a:r>
          </a:p>
        </p:txBody>
      </p:sp>
      <p:sp>
        <p:nvSpPr>
          <p:cNvPr id="16" name="TextBox 15"/>
          <p:cNvSpPr txBox="1"/>
          <p:nvPr/>
        </p:nvSpPr>
        <p:spPr>
          <a:xfrm>
            <a:off x="10591800" y="5219700"/>
            <a:ext cx="4826000" cy="711200"/>
          </a:xfrm>
          <a:prstGeom prst="rect">
            <a:avLst/>
          </a:prstGeom>
          <a:noFill/>
        </p:spPr>
        <p:txBody>
          <a:bodyPr wrap="square" lIns="0" tIns="0" rIns="0" bIns="0">
            <a:spAutoFit/>
          </a:bodyPr>
          <a:lstStyle/>
          <a:p>
            <a:pPr>
              <a:spcAft>
                <a:spcPts val="300"/>
              </a:spcAft>
              <a:defRPr sz="2000" b="0">
                <a:solidFill>
                  <a:srgbClr val="BDCCDA"/>
                </a:solidFill>
                <a:latin typeface="Arial"/>
              </a:defRPr>
            </a:pPr>
            <a:r>
              <a:t>What does this value mean?</a:t>
            </a:r>
          </a:p>
        </p:txBody>
      </p:sp>
      <p:sp>
        <p:nvSpPr>
          <p:cNvPr id="17" name="TextBox 16"/>
          <p:cNvSpPr txBox="1"/>
          <p:nvPr/>
        </p:nvSpPr>
        <p:spPr>
          <a:xfrm>
            <a:off x="10579100" y="6032500"/>
            <a:ext cx="952500" cy="635000"/>
          </a:xfrm>
          <a:prstGeom prst="rect">
            <a:avLst/>
          </a:prstGeom>
          <a:noFill/>
        </p:spPr>
        <p:txBody>
          <a:bodyPr wrap="square" lIns="0" tIns="0" rIns="0" bIns="0">
            <a:spAutoFit/>
          </a:bodyPr>
          <a:lstStyle/>
          <a:p>
            <a:pPr>
              <a:spcAft>
                <a:spcPts val="300"/>
              </a:spcAft>
              <a:defRPr sz="3000" b="1">
                <a:solidFill>
                  <a:srgbClr val="FF792F"/>
                </a:solidFill>
                <a:latin typeface="Arial"/>
              </a:defRPr>
            </a:pPr>
            <a:r>
              <a:t>03</a:t>
            </a:r>
          </a:p>
        </p:txBody>
      </p:sp>
      <p:sp>
        <p:nvSpPr>
          <p:cNvPr id="18" name="TextBox 17"/>
          <p:cNvSpPr txBox="1"/>
          <p:nvPr/>
        </p:nvSpPr>
        <p:spPr>
          <a:xfrm>
            <a:off x="11430000" y="6032500"/>
            <a:ext cx="4064000" cy="533400"/>
          </a:xfrm>
          <a:prstGeom prst="rect">
            <a:avLst/>
          </a:prstGeom>
          <a:noFill/>
        </p:spPr>
        <p:txBody>
          <a:bodyPr wrap="square" lIns="0" tIns="0" rIns="0" bIns="0">
            <a:spAutoFit/>
          </a:bodyPr>
          <a:lstStyle/>
          <a:p>
            <a:pPr>
              <a:spcAft>
                <a:spcPts val="300"/>
              </a:spcAft>
              <a:defRPr sz="2600" b="1">
                <a:solidFill>
                  <a:srgbClr val="FFFFFF"/>
                </a:solidFill>
                <a:latin typeface="Arial"/>
              </a:defRPr>
            </a:pPr>
            <a:r>
              <a:t>Compare two pages</a:t>
            </a:r>
          </a:p>
        </p:txBody>
      </p:sp>
      <p:sp>
        <p:nvSpPr>
          <p:cNvPr id="19" name="TextBox 18"/>
          <p:cNvSpPr txBox="1"/>
          <p:nvPr/>
        </p:nvSpPr>
        <p:spPr>
          <a:xfrm>
            <a:off x="10591800" y="6756400"/>
            <a:ext cx="4826000" cy="711200"/>
          </a:xfrm>
          <a:prstGeom prst="rect">
            <a:avLst/>
          </a:prstGeom>
          <a:noFill/>
        </p:spPr>
        <p:txBody>
          <a:bodyPr wrap="square" lIns="0" tIns="0" rIns="0" bIns="0">
            <a:spAutoFit/>
          </a:bodyPr>
          <a:lstStyle/>
          <a:p>
            <a:pPr>
              <a:spcAft>
                <a:spcPts val="300"/>
              </a:spcAft>
              <a:defRPr sz="2000" b="0">
                <a:solidFill>
                  <a:srgbClr val="BDCCDA"/>
                </a:solidFill>
                <a:latin typeface="Arial"/>
              </a:defRPr>
            </a:pPr>
            <a:r>
              <a:t>Where do they differ?</a:t>
            </a:r>
          </a:p>
        </p:txBody>
      </p:sp>
      <p:sp>
        <p:nvSpPr>
          <p:cNvPr id="20" name="TextBox 19"/>
          <p:cNvSpPr txBox="1"/>
          <p:nvPr/>
        </p:nvSpPr>
        <p:spPr>
          <a:xfrm>
            <a:off x="685800" y="7835900"/>
            <a:ext cx="14668500" cy="419100"/>
          </a:xfrm>
          <a:prstGeom prst="rect">
            <a:avLst/>
          </a:prstGeom>
          <a:noFill/>
        </p:spPr>
        <p:txBody>
          <a:bodyPr wrap="square" lIns="0" tIns="0" rIns="0" bIns="0">
            <a:spAutoFit/>
          </a:bodyPr>
          <a:lstStyle/>
          <a:p>
            <a:pPr>
              <a:spcAft>
                <a:spcPts val="300"/>
              </a:spcAft>
              <a:defRPr sz="2200" b="1">
                <a:solidFill>
                  <a:srgbClr val="FF792F"/>
                </a:solidFill>
                <a:latin typeface="Arial"/>
              </a:defRPr>
            </a:pPr>
            <a:r>
              <a:t>Demo route: Dataset → Page details → Labels → Compare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6256000" cy="9144000"/>
          </a:xfrm>
          <a:prstGeom prst="rect">
            <a:avLst/>
          </a:prstGeom>
          <a:solidFill>
            <a:srgbClr val="F7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60400" y="381000"/>
            <a:ext cx="13970000" cy="215444"/>
          </a:xfrm>
          <a:prstGeom prst="rect">
            <a:avLst/>
          </a:prstGeom>
          <a:noFill/>
        </p:spPr>
        <p:txBody>
          <a:bodyPr wrap="square" lIns="0" tIns="0" rIns="0" bIns="0" anchor="t">
            <a:spAutoFit/>
          </a:bodyPr>
          <a:lstStyle/>
          <a:p>
            <a:pPr>
              <a:spcAft>
                <a:spcPts val="300"/>
              </a:spcAft>
              <a:defRPr sz="1400" b="1">
                <a:solidFill>
                  <a:srgbClr val="167D89"/>
                </a:solidFill>
                <a:latin typeface="Arial"/>
              </a:defRPr>
            </a:pPr>
            <a:r>
              <a:t>02 / </a:t>
            </a:r>
            <a:r>
              <a:rPr lang="en-US"/>
              <a:t>CATEGORIZE BANKS URLS</a:t>
            </a:r>
            <a:endParaRPr lang="en-US">
              <a:cs typeface="Arial"/>
            </a:endParaRPr>
          </a:p>
        </p:txBody>
      </p:sp>
      <p:sp>
        <p:nvSpPr>
          <p:cNvPr id="4" name="TextBox 3"/>
          <p:cNvSpPr txBox="1"/>
          <p:nvPr/>
        </p:nvSpPr>
        <p:spPr>
          <a:xfrm>
            <a:off x="660400" y="1016000"/>
            <a:ext cx="14935200" cy="646331"/>
          </a:xfrm>
          <a:prstGeom prst="rect">
            <a:avLst/>
          </a:prstGeom>
          <a:noFill/>
        </p:spPr>
        <p:txBody>
          <a:bodyPr wrap="square" lIns="0" tIns="0" rIns="0" bIns="0" anchor="t">
            <a:spAutoFit/>
          </a:bodyPr>
          <a:lstStyle/>
          <a:p>
            <a:pPr>
              <a:spcAft>
                <a:spcPts val="300"/>
              </a:spcAft>
              <a:defRPr sz="4200" b="1">
                <a:solidFill>
                  <a:srgbClr val="14253A"/>
                </a:solidFill>
                <a:latin typeface="Arial"/>
              </a:defRPr>
            </a:pPr>
            <a:r>
              <a:rPr lang="en-US"/>
              <a:t>Retrieve automatically product </a:t>
            </a:r>
            <a:r>
              <a:rPr lang="en-US" err="1"/>
              <a:t>urls</a:t>
            </a:r>
            <a:endParaRPr lang="en-US" err="1">
              <a:cs typeface="Arial"/>
            </a:endParaRPr>
          </a:p>
        </p:txBody>
      </p:sp>
      <p:sp>
        <p:nvSpPr>
          <p:cNvPr id="5" name="TextBox 4"/>
          <p:cNvSpPr txBox="1"/>
          <p:nvPr/>
        </p:nvSpPr>
        <p:spPr>
          <a:xfrm>
            <a:off x="685800" y="1930400"/>
            <a:ext cx="14605000" cy="353943"/>
          </a:xfrm>
          <a:prstGeom prst="rect">
            <a:avLst/>
          </a:prstGeom>
          <a:noFill/>
        </p:spPr>
        <p:txBody>
          <a:bodyPr wrap="square" lIns="0" tIns="0" rIns="0" bIns="0" anchor="t">
            <a:spAutoFit/>
          </a:bodyPr>
          <a:lstStyle/>
          <a:p>
            <a:pPr>
              <a:spcAft>
                <a:spcPts val="300"/>
              </a:spcAft>
              <a:defRPr sz="2300" b="0">
                <a:solidFill>
                  <a:srgbClr val="536577"/>
                </a:solidFill>
                <a:latin typeface="Arial"/>
              </a:defRPr>
            </a:pPr>
            <a:r>
              <a:rPr lang="en-US"/>
              <a:t>For each bank, we first need to automatically find the </a:t>
            </a:r>
            <a:r>
              <a:rPr lang="en-US" err="1"/>
              <a:t>urls</a:t>
            </a:r>
            <a:r>
              <a:rPr lang="en-US"/>
              <a:t> of the different product categories.</a:t>
            </a:r>
            <a:endParaRPr lang="en-US">
              <a:cs typeface="Arial"/>
            </a:endParaRPr>
          </a:p>
        </p:txBody>
      </p:sp>
      <p:cxnSp>
        <p:nvCxnSpPr>
          <p:cNvPr id="6" name="Connector 5"/>
          <p:cNvCxnSpPr/>
          <p:nvPr/>
        </p:nvCxnSpPr>
        <p:spPr>
          <a:xfrm>
            <a:off x="660400" y="8534400"/>
            <a:ext cx="14935200" cy="0"/>
          </a:xfrm>
          <a:prstGeom prst="line">
            <a:avLst/>
          </a:prstGeom>
          <a:ln w="12700">
            <a:solidFill>
              <a:srgbClr val="D9DED9"/>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60400" y="8699500"/>
            <a:ext cx="13335000" cy="355600"/>
          </a:xfrm>
          <a:prstGeom prst="rect">
            <a:avLst/>
          </a:prstGeom>
          <a:noFill/>
        </p:spPr>
        <p:txBody>
          <a:bodyPr wrap="square" lIns="0" tIns="0" rIns="0" bIns="0">
            <a:spAutoFit/>
          </a:bodyPr>
          <a:lstStyle/>
          <a:p>
            <a:pPr>
              <a:spcAft>
                <a:spcPts val="300"/>
              </a:spcAft>
              <a:defRPr sz="1100" b="0">
                <a:solidFill>
                  <a:srgbClr val="536577"/>
                </a:solidFill>
                <a:latin typeface="Arial"/>
              </a:defRPr>
            </a:pPr>
            <a:r>
              <a:t>BANKING CAMPAIGNS COMPARATOR  /  RESEARCH PROTOTYPE</a:t>
            </a:r>
          </a:p>
        </p:txBody>
      </p:sp>
      <p:sp>
        <p:nvSpPr>
          <p:cNvPr id="8" name="TextBox 7"/>
          <p:cNvSpPr txBox="1"/>
          <p:nvPr/>
        </p:nvSpPr>
        <p:spPr>
          <a:xfrm>
            <a:off x="14668500" y="8636000"/>
            <a:ext cx="1143000" cy="230832"/>
          </a:xfrm>
          <a:prstGeom prst="rect">
            <a:avLst/>
          </a:prstGeom>
          <a:noFill/>
        </p:spPr>
        <p:txBody>
          <a:bodyPr wrap="square" lIns="0" tIns="0" rIns="0" bIns="0" anchor="t">
            <a:spAutoFit/>
          </a:bodyPr>
          <a:lstStyle/>
          <a:p>
            <a:pPr>
              <a:spcAft>
                <a:spcPts val="300"/>
              </a:spcAft>
              <a:defRPr sz="1500" b="0">
                <a:solidFill>
                  <a:srgbClr val="14253A"/>
                </a:solidFill>
                <a:latin typeface="Arial"/>
              </a:defRPr>
            </a:pPr>
            <a:r>
              <a:rPr lang="en-US"/>
              <a:t>04</a:t>
            </a:r>
            <a:r>
              <a:t> / 08</a:t>
            </a:r>
          </a:p>
        </p:txBody>
      </p:sp>
      <p:sp>
        <p:nvSpPr>
          <p:cNvPr id="9" name="Rounded Rectangle 8"/>
          <p:cNvSpPr/>
          <p:nvPr/>
        </p:nvSpPr>
        <p:spPr>
          <a:xfrm>
            <a:off x="660400" y="3124200"/>
            <a:ext cx="3581400" cy="20193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89000" y="3365500"/>
            <a:ext cx="3175000" cy="369332"/>
          </a:xfrm>
          <a:prstGeom prst="rect">
            <a:avLst/>
          </a:prstGeom>
          <a:noFill/>
        </p:spPr>
        <p:txBody>
          <a:bodyPr wrap="square" lIns="0" tIns="0" rIns="0" bIns="0" anchor="t">
            <a:spAutoFit/>
          </a:bodyPr>
          <a:lstStyle/>
          <a:p>
            <a:pPr>
              <a:spcAft>
                <a:spcPts val="300"/>
              </a:spcAft>
              <a:defRPr sz="2400" b="1">
                <a:solidFill>
                  <a:srgbClr val="14253A"/>
                </a:solidFill>
                <a:latin typeface="Arial"/>
              </a:defRPr>
            </a:pPr>
            <a:r>
              <a:t>1. </a:t>
            </a:r>
            <a:r>
              <a:rPr lang="en-US"/>
              <a:t>Crawling</a:t>
            </a:r>
          </a:p>
        </p:txBody>
      </p:sp>
      <p:sp>
        <p:nvSpPr>
          <p:cNvPr id="11" name="TextBox 10"/>
          <p:cNvSpPr txBox="1"/>
          <p:nvPr/>
        </p:nvSpPr>
        <p:spPr>
          <a:xfrm>
            <a:off x="889000" y="4025900"/>
            <a:ext cx="3149600" cy="1015663"/>
          </a:xfrm>
          <a:prstGeom prst="rect">
            <a:avLst/>
          </a:prstGeom>
          <a:noFill/>
        </p:spPr>
        <p:txBody>
          <a:bodyPr wrap="square" lIns="0" tIns="0" rIns="0" bIns="0" anchor="t">
            <a:spAutoFit/>
          </a:bodyPr>
          <a:lstStyle/>
          <a:p>
            <a:pPr>
              <a:spcAft>
                <a:spcPts val="300"/>
              </a:spcAft>
              <a:defRPr sz="2200" b="0">
                <a:solidFill>
                  <a:srgbClr val="536577"/>
                </a:solidFill>
                <a:latin typeface="Arial"/>
              </a:defRPr>
            </a:pPr>
            <a:r>
              <a:rPr lang="en-US"/>
              <a:t>Returns a list of all </a:t>
            </a:r>
            <a:r>
              <a:rPr lang="en-US" err="1"/>
              <a:t>urls</a:t>
            </a:r>
            <a:r>
              <a:rPr lang="en-US"/>
              <a:t> of a bank by reading sitemap (+1000 / bank)</a:t>
            </a:r>
          </a:p>
        </p:txBody>
      </p:sp>
      <p:cxnSp>
        <p:nvCxnSpPr>
          <p:cNvPr id="12" name="Connector 11"/>
          <p:cNvCxnSpPr/>
          <p:nvPr/>
        </p:nvCxnSpPr>
        <p:spPr>
          <a:xfrm>
            <a:off x="4279900" y="4114800"/>
            <a:ext cx="254000" cy="0"/>
          </a:xfrm>
          <a:prstGeom prst="line">
            <a:avLst/>
          </a:prstGeom>
          <a:ln w="25400">
            <a:solidFill>
              <a:srgbClr val="167D89"/>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4419600" y="4038600"/>
            <a:ext cx="114300" cy="76200"/>
          </a:xfrm>
          <a:prstGeom prst="line">
            <a:avLst/>
          </a:prstGeom>
          <a:ln w="25400">
            <a:solidFill>
              <a:srgbClr val="167D89"/>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4419600" y="4114800"/>
            <a:ext cx="114300" cy="76200"/>
          </a:xfrm>
          <a:prstGeom prst="line">
            <a:avLst/>
          </a:prstGeom>
          <a:ln w="25400">
            <a:solidFill>
              <a:srgbClr val="167D89"/>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588329" y="3124200"/>
            <a:ext cx="2991758" cy="1937658"/>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889500" y="3365500"/>
            <a:ext cx="3175000" cy="369332"/>
          </a:xfrm>
          <a:prstGeom prst="rect">
            <a:avLst/>
          </a:prstGeom>
          <a:noFill/>
        </p:spPr>
        <p:txBody>
          <a:bodyPr wrap="square" lIns="0" tIns="0" rIns="0" bIns="0" anchor="t">
            <a:spAutoFit/>
          </a:bodyPr>
          <a:lstStyle/>
          <a:p>
            <a:pPr>
              <a:spcAft>
                <a:spcPts val="300"/>
              </a:spcAft>
              <a:defRPr sz="2400" b="1">
                <a:solidFill>
                  <a:srgbClr val="14253A"/>
                </a:solidFill>
                <a:latin typeface="Arial"/>
              </a:defRPr>
            </a:pPr>
            <a:r>
              <a:t>2. </a:t>
            </a:r>
            <a:r>
              <a:rPr lang="en-US"/>
              <a:t>Scraping</a:t>
            </a:r>
            <a:endParaRPr/>
          </a:p>
        </p:txBody>
      </p:sp>
      <p:sp>
        <p:nvSpPr>
          <p:cNvPr id="17" name="TextBox 16"/>
          <p:cNvSpPr txBox="1"/>
          <p:nvPr/>
        </p:nvSpPr>
        <p:spPr>
          <a:xfrm>
            <a:off x="4889500" y="4034971"/>
            <a:ext cx="2387601" cy="1015663"/>
          </a:xfrm>
          <a:prstGeom prst="rect">
            <a:avLst/>
          </a:prstGeom>
          <a:noFill/>
        </p:spPr>
        <p:txBody>
          <a:bodyPr wrap="square" lIns="0" tIns="0" rIns="0" bIns="0" anchor="t">
            <a:spAutoFit/>
          </a:bodyPr>
          <a:lstStyle/>
          <a:p>
            <a:pPr>
              <a:spcAft>
                <a:spcPts val="300"/>
              </a:spcAft>
              <a:defRPr sz="2200" b="0">
                <a:solidFill>
                  <a:srgbClr val="536577"/>
                </a:solidFill>
                <a:latin typeface="Arial"/>
              </a:defRPr>
            </a:pPr>
            <a:r>
              <a:rPr lang="en-US"/>
              <a:t>Reads the text of the web pages and cleans it</a:t>
            </a:r>
          </a:p>
        </p:txBody>
      </p:sp>
      <p:cxnSp>
        <p:nvCxnSpPr>
          <p:cNvPr id="18" name="Connector 17"/>
          <p:cNvCxnSpPr/>
          <p:nvPr/>
        </p:nvCxnSpPr>
        <p:spPr>
          <a:xfrm>
            <a:off x="7664143" y="4114800"/>
            <a:ext cx="254000" cy="0"/>
          </a:xfrm>
          <a:prstGeom prst="line">
            <a:avLst/>
          </a:prstGeom>
          <a:ln w="25400">
            <a:solidFill>
              <a:srgbClr val="167D89"/>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7803843" y="4038600"/>
            <a:ext cx="114300" cy="76200"/>
          </a:xfrm>
          <a:prstGeom prst="line">
            <a:avLst/>
          </a:prstGeom>
          <a:ln w="25400">
            <a:solidFill>
              <a:srgbClr val="167D89"/>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7803843" y="4114800"/>
            <a:ext cx="114300" cy="76200"/>
          </a:xfrm>
          <a:prstGeom prst="line">
            <a:avLst/>
          </a:prstGeom>
          <a:ln w="25400">
            <a:solidFill>
              <a:srgbClr val="167D89"/>
            </a:solidFill>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8027018" y="3124200"/>
            <a:ext cx="3581400" cy="20193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255618" y="3365500"/>
            <a:ext cx="3175000" cy="369332"/>
          </a:xfrm>
          <a:prstGeom prst="rect">
            <a:avLst/>
          </a:prstGeom>
          <a:noFill/>
        </p:spPr>
        <p:txBody>
          <a:bodyPr wrap="square" lIns="0" tIns="0" rIns="0" bIns="0" anchor="t">
            <a:spAutoFit/>
          </a:bodyPr>
          <a:lstStyle/>
          <a:p>
            <a:pPr>
              <a:spcAft>
                <a:spcPts val="300"/>
              </a:spcAft>
              <a:defRPr sz="2400" b="1">
                <a:solidFill>
                  <a:srgbClr val="14253A"/>
                </a:solidFill>
                <a:latin typeface="Arial"/>
              </a:defRPr>
            </a:pPr>
            <a:r>
              <a:t>3. </a:t>
            </a:r>
            <a:r>
              <a:rPr lang="en-US"/>
              <a:t>Categorize</a:t>
            </a:r>
            <a:endParaRPr/>
          </a:p>
        </p:txBody>
      </p:sp>
      <p:sp>
        <p:nvSpPr>
          <p:cNvPr id="23" name="TextBox 22"/>
          <p:cNvSpPr txBox="1"/>
          <p:nvPr/>
        </p:nvSpPr>
        <p:spPr>
          <a:xfrm>
            <a:off x="8255618" y="4025900"/>
            <a:ext cx="3149600" cy="1015663"/>
          </a:xfrm>
          <a:prstGeom prst="rect">
            <a:avLst/>
          </a:prstGeom>
          <a:noFill/>
        </p:spPr>
        <p:txBody>
          <a:bodyPr wrap="square" lIns="0" tIns="0" rIns="0" bIns="0" anchor="t">
            <a:spAutoFit/>
          </a:bodyPr>
          <a:lstStyle/>
          <a:p>
            <a:pPr>
              <a:spcAft>
                <a:spcPts val="300"/>
              </a:spcAft>
              <a:defRPr sz="2200" b="0">
                <a:solidFill>
                  <a:srgbClr val="536577"/>
                </a:solidFill>
                <a:latin typeface="Arial"/>
              </a:defRPr>
            </a:pPr>
            <a:r>
              <a:rPr lang="en-US">
                <a:cs typeface="Arial"/>
              </a:rPr>
              <a:t>Finds the product category related to the web page using NLP</a:t>
            </a:r>
          </a:p>
        </p:txBody>
      </p:sp>
      <p:sp>
        <p:nvSpPr>
          <p:cNvPr id="24" name="Rounded Rectangle 23"/>
          <p:cNvSpPr/>
          <p:nvPr/>
        </p:nvSpPr>
        <p:spPr>
          <a:xfrm>
            <a:off x="12101886" y="3124200"/>
            <a:ext cx="3231242" cy="1973943"/>
          </a:xfrm>
          <a:prstGeom prst="roundRect">
            <a:avLst>
              <a:gd name="adj" fmla="val 8000"/>
            </a:avLst>
          </a:prstGeom>
          <a:solidFill>
            <a:srgbClr val="14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2375843" y="3378200"/>
            <a:ext cx="2425700" cy="338554"/>
          </a:xfrm>
          <a:prstGeom prst="rect">
            <a:avLst/>
          </a:prstGeom>
          <a:noFill/>
        </p:spPr>
        <p:txBody>
          <a:bodyPr wrap="square" lIns="0" tIns="0" rIns="0" bIns="0" anchor="t">
            <a:spAutoFit/>
          </a:bodyPr>
          <a:lstStyle/>
          <a:p>
            <a:pPr>
              <a:spcAft>
                <a:spcPts val="300"/>
              </a:spcAft>
              <a:defRPr sz="2200" b="1">
                <a:solidFill>
                  <a:srgbClr val="FFFFFF"/>
                </a:solidFill>
                <a:latin typeface="Arial"/>
              </a:defRPr>
            </a:pPr>
            <a:r>
              <a:t>4. </a:t>
            </a:r>
            <a:r>
              <a:rPr lang="en-US"/>
              <a:t>Retrieve </a:t>
            </a:r>
            <a:r>
              <a:rPr lang="en-US" err="1"/>
              <a:t>urls</a:t>
            </a:r>
            <a:endParaRPr err="1"/>
          </a:p>
        </p:txBody>
      </p:sp>
      <p:sp>
        <p:nvSpPr>
          <p:cNvPr id="26" name="TextBox 25"/>
          <p:cNvSpPr txBox="1"/>
          <p:nvPr/>
        </p:nvSpPr>
        <p:spPr>
          <a:xfrm>
            <a:off x="12375843" y="4038600"/>
            <a:ext cx="2657928" cy="923330"/>
          </a:xfrm>
          <a:prstGeom prst="rect">
            <a:avLst/>
          </a:prstGeom>
          <a:noFill/>
        </p:spPr>
        <p:txBody>
          <a:bodyPr wrap="square" lIns="0" tIns="0" rIns="0" bIns="0" anchor="t">
            <a:spAutoFit/>
          </a:bodyPr>
          <a:lstStyle/>
          <a:p>
            <a:pPr>
              <a:spcAft>
                <a:spcPts val="300"/>
              </a:spcAft>
              <a:defRPr sz="2000" b="0">
                <a:solidFill>
                  <a:srgbClr val="BDCCDA"/>
                </a:solidFill>
                <a:latin typeface="Arial"/>
              </a:defRPr>
            </a:pPr>
            <a:r>
              <a:rPr lang="en-US"/>
              <a:t>Retrieve </a:t>
            </a:r>
            <a:r>
              <a:rPr lang="en-US" err="1"/>
              <a:t>urls</a:t>
            </a:r>
            <a:r>
              <a:rPr lang="en-US"/>
              <a:t> with highest score for each product category</a:t>
            </a:r>
          </a:p>
        </p:txBody>
      </p:sp>
      <p:cxnSp>
        <p:nvCxnSpPr>
          <p:cNvPr id="27" name="Connector 26"/>
          <p:cNvCxnSpPr/>
          <p:nvPr/>
        </p:nvCxnSpPr>
        <p:spPr>
          <a:xfrm>
            <a:off x="11690043" y="4114800"/>
            <a:ext cx="342900" cy="0"/>
          </a:xfrm>
          <a:prstGeom prst="line">
            <a:avLst/>
          </a:prstGeom>
          <a:ln w="25400">
            <a:solidFill>
              <a:srgbClr val="167D89"/>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11918643" y="4038600"/>
            <a:ext cx="114300" cy="76200"/>
          </a:xfrm>
          <a:prstGeom prst="line">
            <a:avLst/>
          </a:prstGeom>
          <a:ln w="25400">
            <a:solidFill>
              <a:srgbClr val="167D89"/>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11918643" y="4114800"/>
            <a:ext cx="114300" cy="76200"/>
          </a:xfrm>
          <a:prstGeom prst="line">
            <a:avLst/>
          </a:prstGeom>
          <a:ln w="25400">
            <a:solidFill>
              <a:srgbClr val="167D89"/>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9672717" y="5143500"/>
            <a:ext cx="0" cy="393700"/>
          </a:xfrm>
          <a:prstGeom prst="line">
            <a:avLst/>
          </a:prstGeom>
          <a:ln w="25400">
            <a:solidFill>
              <a:srgbClr val="167D89"/>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4508500" y="5537200"/>
            <a:ext cx="8953500" cy="0"/>
          </a:xfrm>
          <a:prstGeom prst="line">
            <a:avLst/>
          </a:prstGeom>
          <a:ln w="25400">
            <a:solidFill>
              <a:srgbClr val="167D89"/>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4508500" y="5537200"/>
            <a:ext cx="0" cy="254000"/>
          </a:xfrm>
          <a:prstGeom prst="line">
            <a:avLst/>
          </a:prstGeom>
          <a:ln w="25400">
            <a:solidFill>
              <a:srgbClr val="167D89"/>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13462000" y="5537200"/>
            <a:ext cx="0" cy="254000"/>
          </a:xfrm>
          <a:prstGeom prst="line">
            <a:avLst/>
          </a:prstGeom>
          <a:ln w="25400">
            <a:solidFill>
              <a:srgbClr val="167D89"/>
            </a:solidFill>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660400" y="5794829"/>
            <a:ext cx="7284357" cy="1863270"/>
          </a:xfrm>
          <a:prstGeom prst="roundRect">
            <a:avLst>
              <a:gd name="adj" fmla="val 8000"/>
            </a:avLst>
          </a:prstGeom>
          <a:solidFill>
            <a:srgbClr val="DDED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914400" y="5956300"/>
            <a:ext cx="6731000" cy="369332"/>
          </a:xfrm>
          <a:prstGeom prst="rect">
            <a:avLst/>
          </a:prstGeom>
          <a:noFill/>
        </p:spPr>
        <p:txBody>
          <a:bodyPr wrap="square" lIns="0" tIns="0" rIns="0" bIns="0" anchor="t">
            <a:spAutoFit/>
          </a:bodyPr>
          <a:lstStyle/>
          <a:p>
            <a:pPr>
              <a:spcAft>
                <a:spcPts val="300"/>
              </a:spcAft>
              <a:defRPr sz="2400" b="1">
                <a:solidFill>
                  <a:srgbClr val="14253A"/>
                </a:solidFill>
                <a:latin typeface="Arial"/>
              </a:defRPr>
            </a:pPr>
            <a:r>
              <a:rPr lang="en-US"/>
              <a:t>NLP (Natural Language Processing)</a:t>
            </a:r>
          </a:p>
        </p:txBody>
      </p:sp>
      <p:sp>
        <p:nvSpPr>
          <p:cNvPr id="36" name="TextBox 35"/>
          <p:cNvSpPr txBox="1"/>
          <p:nvPr/>
        </p:nvSpPr>
        <p:spPr>
          <a:xfrm>
            <a:off x="914400" y="6477000"/>
            <a:ext cx="6731000" cy="1046440"/>
          </a:xfrm>
          <a:prstGeom prst="rect">
            <a:avLst/>
          </a:prstGeom>
          <a:noFill/>
        </p:spPr>
        <p:txBody>
          <a:bodyPr wrap="square" lIns="0" tIns="0" rIns="0" bIns="0" anchor="t">
            <a:spAutoFit/>
          </a:bodyPr>
          <a:lstStyle/>
          <a:p>
            <a:pPr>
              <a:spcAft>
                <a:spcPts val="300"/>
              </a:spcAft>
              <a:defRPr sz="2100" b="0">
                <a:solidFill>
                  <a:srgbClr val="536577"/>
                </a:solidFill>
                <a:latin typeface="Arial"/>
              </a:defRPr>
            </a:pPr>
            <a:r>
              <a:rPr lang="en-US"/>
              <a:t>Light and pre-trained machine learning model</a:t>
            </a:r>
          </a:p>
          <a:p>
            <a:pPr>
              <a:spcAft>
                <a:spcPts val="300"/>
              </a:spcAft>
              <a:defRPr sz="2100" b="0">
                <a:solidFill>
                  <a:srgbClr val="536577"/>
                </a:solidFill>
                <a:latin typeface="Arial"/>
              </a:defRPr>
            </a:pPr>
            <a:r>
              <a:rPr lang="en-US">
                <a:cs typeface="Arial"/>
              </a:rPr>
              <a:t>Runs locally (no key, no quota)</a:t>
            </a:r>
          </a:p>
          <a:p>
            <a:pPr>
              <a:spcAft>
                <a:spcPts val="300"/>
              </a:spcAft>
              <a:defRPr sz="2100" b="0">
                <a:solidFill>
                  <a:srgbClr val="536577"/>
                </a:solidFill>
                <a:latin typeface="Arial"/>
              </a:defRPr>
            </a:pPr>
            <a:r>
              <a:rPr lang="en-US">
                <a:cs typeface="Arial"/>
              </a:rPr>
              <a:t>Still takes hours on our machine</a:t>
            </a:r>
          </a:p>
        </p:txBody>
      </p:sp>
      <p:sp>
        <p:nvSpPr>
          <p:cNvPr id="37" name="Rounded Rectangle 36"/>
          <p:cNvSpPr/>
          <p:nvPr/>
        </p:nvSpPr>
        <p:spPr>
          <a:xfrm>
            <a:off x="8274958" y="5794829"/>
            <a:ext cx="7311571" cy="1863270"/>
          </a:xfrm>
          <a:prstGeom prst="roundRect">
            <a:avLst>
              <a:gd name="adj" fmla="val 8000"/>
            </a:avLst>
          </a:prstGeom>
          <a:solidFill>
            <a:srgbClr val="FCE4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8559800" y="5956300"/>
            <a:ext cx="6731000" cy="353943"/>
          </a:xfrm>
          <a:prstGeom prst="rect">
            <a:avLst/>
          </a:prstGeom>
          <a:noFill/>
        </p:spPr>
        <p:txBody>
          <a:bodyPr wrap="square" lIns="0" tIns="0" rIns="0" bIns="0" anchor="t">
            <a:spAutoFit/>
          </a:bodyPr>
          <a:lstStyle/>
          <a:p>
            <a:pPr>
              <a:spcAft>
                <a:spcPts val="300"/>
              </a:spcAft>
              <a:defRPr sz="2300" b="1">
                <a:solidFill>
                  <a:srgbClr val="14253A"/>
                </a:solidFill>
                <a:latin typeface="Arial"/>
              </a:defRPr>
            </a:pPr>
            <a:r>
              <a:rPr lang="en-US"/>
              <a:t>Returns a score for each predefined category</a:t>
            </a:r>
          </a:p>
        </p:txBody>
      </p:sp>
      <p:sp>
        <p:nvSpPr>
          <p:cNvPr id="39" name="TextBox 38"/>
          <p:cNvSpPr txBox="1"/>
          <p:nvPr/>
        </p:nvSpPr>
        <p:spPr>
          <a:xfrm>
            <a:off x="8559800" y="6477000"/>
            <a:ext cx="6731000" cy="1007968"/>
          </a:xfrm>
          <a:prstGeom prst="rect">
            <a:avLst/>
          </a:prstGeom>
          <a:noFill/>
        </p:spPr>
        <p:txBody>
          <a:bodyPr wrap="square" lIns="0" tIns="0" rIns="0" bIns="0" anchor="t">
            <a:spAutoFit/>
          </a:bodyPr>
          <a:lstStyle/>
          <a:p>
            <a:pPr>
              <a:spcAft>
                <a:spcPts val="300"/>
              </a:spcAft>
              <a:defRPr sz="2100" b="0">
                <a:solidFill>
                  <a:srgbClr val="536577"/>
                </a:solidFill>
                <a:latin typeface="Arial"/>
              </a:defRPr>
            </a:pPr>
            <a:r>
              <a:rPr lang="en-US"/>
              <a:t>Predefined list of product categories (current account, savings account, mortgage loan, family insurance, ...)</a:t>
            </a:r>
          </a:p>
          <a:p>
            <a:pPr>
              <a:spcAft>
                <a:spcPts val="300"/>
              </a:spcAft>
              <a:defRPr sz="2100" b="0">
                <a:solidFill>
                  <a:srgbClr val="536577"/>
                </a:solidFill>
                <a:latin typeface="Arial"/>
              </a:defRPr>
            </a:pPr>
            <a:r>
              <a:rPr lang="en-US">
                <a:cs typeface="Arial"/>
              </a:rPr>
              <a:t>Computes a score (0-1) = match with the categories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210EB3-2888-1FAB-6742-CA512CC436C5}"/>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BCCE7DD7-F5A4-D760-87E9-2C9ADABD76C9}"/>
              </a:ext>
            </a:extLst>
          </p:cNvPr>
          <p:cNvSpPr/>
          <p:nvPr/>
        </p:nvSpPr>
        <p:spPr>
          <a:xfrm>
            <a:off x="0" y="0"/>
            <a:ext cx="16256000" cy="9144000"/>
          </a:xfrm>
          <a:prstGeom prst="rect">
            <a:avLst/>
          </a:prstGeom>
          <a:solidFill>
            <a:srgbClr val="F7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87AD527A-45F9-1F9D-E46B-BB9DFE0FDB56}"/>
              </a:ext>
            </a:extLst>
          </p:cNvPr>
          <p:cNvSpPr txBox="1"/>
          <p:nvPr/>
        </p:nvSpPr>
        <p:spPr>
          <a:xfrm>
            <a:off x="660400" y="381000"/>
            <a:ext cx="13970000" cy="215444"/>
          </a:xfrm>
          <a:prstGeom prst="rect">
            <a:avLst/>
          </a:prstGeom>
          <a:noFill/>
        </p:spPr>
        <p:txBody>
          <a:bodyPr wrap="square" lIns="0" tIns="0" rIns="0" bIns="0" anchor="t">
            <a:spAutoFit/>
          </a:bodyPr>
          <a:lstStyle/>
          <a:p>
            <a:pPr>
              <a:spcAft>
                <a:spcPts val="300"/>
              </a:spcAft>
              <a:defRPr sz="1400" b="1">
                <a:solidFill>
                  <a:srgbClr val="167D89"/>
                </a:solidFill>
                <a:latin typeface="Arial"/>
              </a:defRPr>
            </a:pPr>
            <a:r>
              <a:t>02 / </a:t>
            </a:r>
            <a:r>
              <a:rPr lang="en-US"/>
              <a:t>CATEGORIZE BANKS URLS</a:t>
            </a:r>
            <a:endParaRPr lang="en-US">
              <a:cs typeface="Arial"/>
            </a:endParaRPr>
          </a:p>
        </p:txBody>
      </p:sp>
      <p:sp>
        <p:nvSpPr>
          <p:cNvPr id="4" name="TextBox 3">
            <a:extLst>
              <a:ext uri="{FF2B5EF4-FFF2-40B4-BE49-F238E27FC236}">
                <a16:creationId xmlns:a16="http://schemas.microsoft.com/office/drawing/2014/main" id="{9823354D-ADCE-149D-DB6E-E83EBB45DB2F}"/>
              </a:ext>
            </a:extLst>
          </p:cNvPr>
          <p:cNvSpPr txBox="1"/>
          <p:nvPr/>
        </p:nvSpPr>
        <p:spPr>
          <a:xfrm>
            <a:off x="660400" y="1016000"/>
            <a:ext cx="14935200" cy="646331"/>
          </a:xfrm>
          <a:prstGeom prst="rect">
            <a:avLst/>
          </a:prstGeom>
          <a:noFill/>
        </p:spPr>
        <p:txBody>
          <a:bodyPr wrap="square" lIns="0" tIns="0" rIns="0" bIns="0" anchor="t">
            <a:spAutoFit/>
          </a:bodyPr>
          <a:lstStyle/>
          <a:p>
            <a:pPr>
              <a:spcAft>
                <a:spcPts val="300"/>
              </a:spcAft>
              <a:defRPr sz="4200" b="1">
                <a:solidFill>
                  <a:srgbClr val="14253A"/>
                </a:solidFill>
                <a:latin typeface="Arial"/>
              </a:defRPr>
            </a:pPr>
            <a:r>
              <a:rPr lang="en-US"/>
              <a:t>Test categorization</a:t>
            </a:r>
          </a:p>
        </p:txBody>
      </p:sp>
      <p:sp>
        <p:nvSpPr>
          <p:cNvPr id="5" name="TextBox 4">
            <a:extLst>
              <a:ext uri="{FF2B5EF4-FFF2-40B4-BE49-F238E27FC236}">
                <a16:creationId xmlns:a16="http://schemas.microsoft.com/office/drawing/2014/main" id="{8BE82160-A705-B449-6BF0-80F289BE16F7}"/>
              </a:ext>
            </a:extLst>
          </p:cNvPr>
          <p:cNvSpPr txBox="1"/>
          <p:nvPr/>
        </p:nvSpPr>
        <p:spPr>
          <a:xfrm>
            <a:off x="685800" y="1930400"/>
            <a:ext cx="14605000" cy="353943"/>
          </a:xfrm>
          <a:prstGeom prst="rect">
            <a:avLst/>
          </a:prstGeom>
          <a:noFill/>
        </p:spPr>
        <p:txBody>
          <a:bodyPr wrap="square" lIns="0" tIns="0" rIns="0" bIns="0" anchor="t">
            <a:spAutoFit/>
          </a:bodyPr>
          <a:lstStyle/>
          <a:p>
            <a:pPr>
              <a:spcAft>
                <a:spcPts val="300"/>
              </a:spcAft>
              <a:defRPr sz="2300" b="0">
                <a:solidFill>
                  <a:srgbClr val="536577"/>
                </a:solidFill>
                <a:latin typeface="Arial"/>
              </a:defRPr>
            </a:pPr>
            <a:r>
              <a:rPr lang="en-US"/>
              <a:t>Subset of </a:t>
            </a:r>
            <a:r>
              <a:rPr lang="en-US" err="1"/>
              <a:t>urls</a:t>
            </a:r>
            <a:r>
              <a:rPr lang="en-US"/>
              <a:t> : 5 banks, 5 products, compute matching score with NLP</a:t>
            </a:r>
          </a:p>
        </p:txBody>
      </p:sp>
      <p:cxnSp>
        <p:nvCxnSpPr>
          <p:cNvPr id="6" name="Connector 5">
            <a:extLst>
              <a:ext uri="{FF2B5EF4-FFF2-40B4-BE49-F238E27FC236}">
                <a16:creationId xmlns:a16="http://schemas.microsoft.com/office/drawing/2014/main" id="{A93388D3-9821-FD98-95E6-6F0D6904A8DB}"/>
              </a:ext>
            </a:extLst>
          </p:cNvPr>
          <p:cNvCxnSpPr/>
          <p:nvPr/>
        </p:nvCxnSpPr>
        <p:spPr>
          <a:xfrm>
            <a:off x="660400" y="8389398"/>
            <a:ext cx="14935200" cy="0"/>
          </a:xfrm>
          <a:prstGeom prst="line">
            <a:avLst/>
          </a:prstGeom>
          <a:ln w="12700">
            <a:solidFill>
              <a:srgbClr val="D9DED9"/>
            </a:solidFill>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03DF7324-29F3-B7EB-153C-819787A2A000}"/>
              </a:ext>
            </a:extLst>
          </p:cNvPr>
          <p:cNvSpPr txBox="1"/>
          <p:nvPr/>
        </p:nvSpPr>
        <p:spPr>
          <a:xfrm>
            <a:off x="660400" y="8699500"/>
            <a:ext cx="13335000" cy="355600"/>
          </a:xfrm>
          <a:prstGeom prst="rect">
            <a:avLst/>
          </a:prstGeom>
          <a:noFill/>
        </p:spPr>
        <p:txBody>
          <a:bodyPr wrap="square" lIns="0" tIns="0" rIns="0" bIns="0">
            <a:spAutoFit/>
          </a:bodyPr>
          <a:lstStyle/>
          <a:p>
            <a:pPr>
              <a:spcAft>
                <a:spcPts val="300"/>
              </a:spcAft>
              <a:defRPr sz="1100" b="0">
                <a:solidFill>
                  <a:srgbClr val="536577"/>
                </a:solidFill>
                <a:latin typeface="Arial"/>
              </a:defRPr>
            </a:pPr>
            <a:r>
              <a:t>BANKING CAMPAIGNS COMPARATOR  /  RESEARCH PROTOTYPE</a:t>
            </a:r>
          </a:p>
        </p:txBody>
      </p:sp>
      <p:sp>
        <p:nvSpPr>
          <p:cNvPr id="8" name="TextBox 7">
            <a:extLst>
              <a:ext uri="{FF2B5EF4-FFF2-40B4-BE49-F238E27FC236}">
                <a16:creationId xmlns:a16="http://schemas.microsoft.com/office/drawing/2014/main" id="{AD38753A-5E45-90C3-65BD-86384A4180E8}"/>
              </a:ext>
            </a:extLst>
          </p:cNvPr>
          <p:cNvSpPr txBox="1"/>
          <p:nvPr/>
        </p:nvSpPr>
        <p:spPr>
          <a:xfrm>
            <a:off x="14668500" y="8636000"/>
            <a:ext cx="1143000" cy="230832"/>
          </a:xfrm>
          <a:prstGeom prst="rect">
            <a:avLst/>
          </a:prstGeom>
          <a:noFill/>
        </p:spPr>
        <p:txBody>
          <a:bodyPr wrap="square" lIns="0" tIns="0" rIns="0" bIns="0" anchor="t">
            <a:spAutoFit/>
          </a:bodyPr>
          <a:lstStyle/>
          <a:p>
            <a:pPr>
              <a:spcAft>
                <a:spcPts val="300"/>
              </a:spcAft>
              <a:defRPr sz="1500" b="0">
                <a:solidFill>
                  <a:srgbClr val="14253A"/>
                </a:solidFill>
                <a:latin typeface="Arial"/>
              </a:defRPr>
            </a:pPr>
            <a:r>
              <a:rPr lang="en-US"/>
              <a:t>05</a:t>
            </a:r>
            <a:r>
              <a:t> / 08</a:t>
            </a:r>
          </a:p>
        </p:txBody>
      </p:sp>
      <p:sp>
        <p:nvSpPr>
          <p:cNvPr id="34" name="Rounded Rectangle 33">
            <a:extLst>
              <a:ext uri="{FF2B5EF4-FFF2-40B4-BE49-F238E27FC236}">
                <a16:creationId xmlns:a16="http://schemas.microsoft.com/office/drawing/2014/main" id="{2EEA760D-2C12-261C-B698-5A14C16E6204}"/>
              </a:ext>
            </a:extLst>
          </p:cNvPr>
          <p:cNvSpPr/>
          <p:nvPr/>
        </p:nvSpPr>
        <p:spPr>
          <a:xfrm>
            <a:off x="687528" y="6483585"/>
            <a:ext cx="10386781" cy="1872341"/>
          </a:xfrm>
          <a:prstGeom prst="roundRect">
            <a:avLst>
              <a:gd name="adj" fmla="val 8000"/>
            </a:avLst>
          </a:prstGeom>
          <a:solidFill>
            <a:srgbClr val="DDED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a:extLst>
              <a:ext uri="{FF2B5EF4-FFF2-40B4-BE49-F238E27FC236}">
                <a16:creationId xmlns:a16="http://schemas.microsoft.com/office/drawing/2014/main" id="{A08CEFAD-53AE-40F0-B585-E3EEA7A7E658}"/>
              </a:ext>
            </a:extLst>
          </p:cNvPr>
          <p:cNvSpPr txBox="1"/>
          <p:nvPr/>
        </p:nvSpPr>
        <p:spPr>
          <a:xfrm>
            <a:off x="914400" y="6663181"/>
            <a:ext cx="6731000" cy="369332"/>
          </a:xfrm>
          <a:prstGeom prst="rect">
            <a:avLst/>
          </a:prstGeom>
          <a:noFill/>
        </p:spPr>
        <p:txBody>
          <a:bodyPr wrap="square" lIns="0" tIns="0" rIns="0" bIns="0" anchor="t">
            <a:spAutoFit/>
          </a:bodyPr>
          <a:lstStyle/>
          <a:p>
            <a:pPr>
              <a:spcAft>
                <a:spcPts val="300"/>
              </a:spcAft>
              <a:defRPr sz="2400" b="1">
                <a:solidFill>
                  <a:srgbClr val="14253A"/>
                </a:solidFill>
                <a:latin typeface="Arial"/>
              </a:defRPr>
            </a:pPr>
            <a:r>
              <a:rPr lang="en-US">
                <a:cs typeface="Arial"/>
              </a:rPr>
              <a:t>Importance of a good matching</a:t>
            </a:r>
          </a:p>
        </p:txBody>
      </p:sp>
      <p:sp>
        <p:nvSpPr>
          <p:cNvPr id="36" name="TextBox 35">
            <a:extLst>
              <a:ext uri="{FF2B5EF4-FFF2-40B4-BE49-F238E27FC236}">
                <a16:creationId xmlns:a16="http://schemas.microsoft.com/office/drawing/2014/main" id="{AC03115B-D52A-B9EC-2459-F0AC8353C2CC}"/>
              </a:ext>
            </a:extLst>
          </p:cNvPr>
          <p:cNvSpPr txBox="1"/>
          <p:nvPr/>
        </p:nvSpPr>
        <p:spPr>
          <a:xfrm>
            <a:off x="914400" y="7183881"/>
            <a:ext cx="10178142" cy="1046440"/>
          </a:xfrm>
          <a:prstGeom prst="rect">
            <a:avLst/>
          </a:prstGeom>
          <a:noFill/>
        </p:spPr>
        <p:txBody>
          <a:bodyPr wrap="square" lIns="0" tIns="0" rIns="0" bIns="0" anchor="t">
            <a:spAutoFit/>
          </a:bodyPr>
          <a:lstStyle/>
          <a:p>
            <a:pPr marL="342900" indent="-342900">
              <a:spcAft>
                <a:spcPts val="300"/>
              </a:spcAft>
              <a:buFont typeface="Arial"/>
              <a:buChar char="•"/>
              <a:defRPr sz="2100" b="0">
                <a:solidFill>
                  <a:srgbClr val="536577"/>
                </a:solidFill>
                <a:latin typeface="Arial"/>
              </a:defRPr>
            </a:pPr>
            <a:r>
              <a:rPr lang="en-US"/>
              <a:t>SEO (search engine optimization) : google search</a:t>
            </a:r>
          </a:p>
          <a:p>
            <a:pPr marL="342900" indent="-342900">
              <a:spcAft>
                <a:spcPts val="300"/>
              </a:spcAft>
              <a:buFont typeface="Arial"/>
              <a:buChar char="•"/>
              <a:defRPr sz="2100" b="0">
                <a:solidFill>
                  <a:srgbClr val="536577"/>
                </a:solidFill>
                <a:latin typeface="Arial"/>
              </a:defRPr>
            </a:pPr>
            <a:r>
              <a:rPr lang="en-US">
                <a:cs typeface="Arial"/>
              </a:rPr>
              <a:t>GEO (generative engine optimization) : what LLMs thinks about your product </a:t>
            </a:r>
          </a:p>
          <a:p>
            <a:pPr>
              <a:spcAft>
                <a:spcPts val="300"/>
              </a:spcAft>
              <a:defRPr sz="2100" b="0">
                <a:solidFill>
                  <a:srgbClr val="536577"/>
                </a:solidFill>
                <a:latin typeface="Arial"/>
              </a:defRPr>
            </a:pPr>
            <a:r>
              <a:rPr lang="en-US">
                <a:cs typeface="Arial"/>
              </a:rPr>
              <a:t>  ​  based on your website, customer rating on forums, and coherence</a:t>
            </a:r>
          </a:p>
        </p:txBody>
      </p:sp>
      <p:pic>
        <p:nvPicPr>
          <p:cNvPr id="40" name="Picture 39">
            <a:extLst>
              <a:ext uri="{FF2B5EF4-FFF2-40B4-BE49-F238E27FC236}">
                <a16:creationId xmlns:a16="http://schemas.microsoft.com/office/drawing/2014/main" id="{7E08E8D8-02A2-9343-E0CC-6C7D4191EDFE}"/>
              </a:ext>
            </a:extLst>
          </p:cNvPr>
          <p:cNvPicPr>
            <a:picLocks noChangeAspect="1"/>
          </p:cNvPicPr>
          <p:nvPr/>
        </p:nvPicPr>
        <p:blipFill>
          <a:blip r:embed="rId3"/>
          <a:stretch>
            <a:fillRect/>
          </a:stretch>
        </p:blipFill>
        <p:spPr>
          <a:xfrm>
            <a:off x="3364960" y="2354339"/>
            <a:ext cx="8557080" cy="3953618"/>
          </a:xfrm>
          <a:prstGeom prst="rect">
            <a:avLst/>
          </a:prstGeom>
        </p:spPr>
      </p:pic>
    </p:spTree>
    <p:extLst>
      <p:ext uri="{BB962C8B-B14F-4D97-AF65-F5344CB8AC3E}">
        <p14:creationId xmlns:p14="http://schemas.microsoft.com/office/powerpoint/2010/main" val="20105025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0E713F-4ED2-FC9D-FE34-B206F678EC0A}"/>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302B10B3-BAB9-1BA7-65AA-026565B75B46}"/>
              </a:ext>
            </a:extLst>
          </p:cNvPr>
          <p:cNvSpPr/>
          <p:nvPr/>
        </p:nvSpPr>
        <p:spPr>
          <a:xfrm>
            <a:off x="0" y="0"/>
            <a:ext cx="16256000" cy="9144000"/>
          </a:xfrm>
          <a:prstGeom prst="rect">
            <a:avLst/>
          </a:prstGeom>
          <a:solidFill>
            <a:srgbClr val="F7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680B28A1-17FD-F210-E5A4-9C1474A362B3}"/>
              </a:ext>
            </a:extLst>
          </p:cNvPr>
          <p:cNvSpPr txBox="1"/>
          <p:nvPr/>
        </p:nvSpPr>
        <p:spPr>
          <a:xfrm>
            <a:off x="660400" y="381000"/>
            <a:ext cx="13970000" cy="215444"/>
          </a:xfrm>
          <a:prstGeom prst="rect">
            <a:avLst/>
          </a:prstGeom>
          <a:noFill/>
        </p:spPr>
        <p:txBody>
          <a:bodyPr wrap="square" lIns="0" tIns="0" rIns="0" bIns="0" anchor="t">
            <a:spAutoFit/>
          </a:bodyPr>
          <a:lstStyle/>
          <a:p>
            <a:pPr>
              <a:spcAft>
                <a:spcPts val="300"/>
              </a:spcAft>
              <a:defRPr sz="1400" b="1">
                <a:solidFill>
                  <a:srgbClr val="167D89"/>
                </a:solidFill>
                <a:latin typeface="Arial"/>
              </a:defRPr>
            </a:pPr>
            <a:r>
              <a:rPr lang="en-US"/>
              <a:t>03</a:t>
            </a:r>
            <a:r>
              <a:t> / SCRAPING </a:t>
            </a:r>
            <a:r>
              <a:rPr lang="en-US"/>
              <a:t>AND LABELING PIPELINE</a:t>
            </a:r>
            <a:endParaRPr/>
          </a:p>
        </p:txBody>
      </p:sp>
      <p:sp>
        <p:nvSpPr>
          <p:cNvPr id="4" name="TextBox 3">
            <a:extLst>
              <a:ext uri="{FF2B5EF4-FFF2-40B4-BE49-F238E27FC236}">
                <a16:creationId xmlns:a16="http://schemas.microsoft.com/office/drawing/2014/main" id="{CE3FC1B2-732E-B7D0-7393-DFEFE331BFC9}"/>
              </a:ext>
            </a:extLst>
          </p:cNvPr>
          <p:cNvSpPr txBox="1"/>
          <p:nvPr/>
        </p:nvSpPr>
        <p:spPr>
          <a:xfrm>
            <a:off x="660400" y="1016000"/>
            <a:ext cx="14935200" cy="646331"/>
          </a:xfrm>
          <a:prstGeom prst="rect">
            <a:avLst/>
          </a:prstGeom>
          <a:noFill/>
        </p:spPr>
        <p:txBody>
          <a:bodyPr wrap="square" lIns="0" tIns="0" rIns="0" bIns="0" anchor="t">
            <a:spAutoFit/>
          </a:bodyPr>
          <a:lstStyle/>
          <a:p>
            <a:pPr>
              <a:spcAft>
                <a:spcPts val="300"/>
              </a:spcAft>
              <a:defRPr sz="4200" b="1">
                <a:solidFill>
                  <a:srgbClr val="14253A"/>
                </a:solidFill>
                <a:latin typeface="Arial"/>
              </a:defRPr>
            </a:pPr>
            <a:r>
              <a:rPr lang="en-US"/>
              <a:t>Analyze objectively a webpage</a:t>
            </a:r>
            <a:r>
              <a:t>.</a:t>
            </a:r>
          </a:p>
        </p:txBody>
      </p:sp>
      <p:sp>
        <p:nvSpPr>
          <p:cNvPr id="5" name="TextBox 4">
            <a:extLst>
              <a:ext uri="{FF2B5EF4-FFF2-40B4-BE49-F238E27FC236}">
                <a16:creationId xmlns:a16="http://schemas.microsoft.com/office/drawing/2014/main" id="{13EB29BB-BD5B-C0B1-30C5-951DEE3E64FE}"/>
              </a:ext>
            </a:extLst>
          </p:cNvPr>
          <p:cNvSpPr txBox="1"/>
          <p:nvPr/>
        </p:nvSpPr>
        <p:spPr>
          <a:xfrm>
            <a:off x="685800" y="1930400"/>
            <a:ext cx="14605000" cy="353943"/>
          </a:xfrm>
          <a:prstGeom prst="rect">
            <a:avLst/>
          </a:prstGeom>
          <a:noFill/>
        </p:spPr>
        <p:txBody>
          <a:bodyPr wrap="square" lIns="0" tIns="0" rIns="0" bIns="0" anchor="t">
            <a:spAutoFit/>
          </a:bodyPr>
          <a:lstStyle/>
          <a:p>
            <a:pPr>
              <a:spcAft>
                <a:spcPts val="300"/>
              </a:spcAft>
              <a:defRPr sz="2300" b="0">
                <a:solidFill>
                  <a:srgbClr val="536577"/>
                </a:solidFill>
                <a:latin typeface="Arial"/>
              </a:defRPr>
            </a:pPr>
            <a:r>
              <a:t>Capture </a:t>
            </a:r>
            <a:r>
              <a:rPr lang="en-US"/>
              <a:t>web pages and label their content to further compare them.</a:t>
            </a:r>
            <a:endParaRPr/>
          </a:p>
        </p:txBody>
      </p:sp>
      <p:cxnSp>
        <p:nvCxnSpPr>
          <p:cNvPr id="6" name="Connector 5">
            <a:extLst>
              <a:ext uri="{FF2B5EF4-FFF2-40B4-BE49-F238E27FC236}">
                <a16:creationId xmlns:a16="http://schemas.microsoft.com/office/drawing/2014/main" id="{017FC6BD-60E8-CFA8-945D-11B226EACC42}"/>
              </a:ext>
            </a:extLst>
          </p:cNvPr>
          <p:cNvCxnSpPr/>
          <p:nvPr/>
        </p:nvCxnSpPr>
        <p:spPr>
          <a:xfrm>
            <a:off x="660400" y="8534400"/>
            <a:ext cx="14935200" cy="0"/>
          </a:xfrm>
          <a:prstGeom prst="line">
            <a:avLst/>
          </a:prstGeom>
          <a:ln w="12700">
            <a:solidFill>
              <a:srgbClr val="D9DED9"/>
            </a:solidFill>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B88CB8B0-61C1-81E4-E9AD-85C064AE7C2A}"/>
              </a:ext>
            </a:extLst>
          </p:cNvPr>
          <p:cNvSpPr txBox="1"/>
          <p:nvPr/>
        </p:nvSpPr>
        <p:spPr>
          <a:xfrm>
            <a:off x="660400" y="8699500"/>
            <a:ext cx="13335000" cy="355600"/>
          </a:xfrm>
          <a:prstGeom prst="rect">
            <a:avLst/>
          </a:prstGeom>
          <a:noFill/>
        </p:spPr>
        <p:txBody>
          <a:bodyPr wrap="square" lIns="0" tIns="0" rIns="0" bIns="0">
            <a:spAutoFit/>
          </a:bodyPr>
          <a:lstStyle/>
          <a:p>
            <a:pPr>
              <a:spcAft>
                <a:spcPts val="300"/>
              </a:spcAft>
              <a:defRPr sz="1100" b="0">
                <a:solidFill>
                  <a:srgbClr val="536577"/>
                </a:solidFill>
                <a:latin typeface="Arial"/>
              </a:defRPr>
            </a:pPr>
            <a:r>
              <a:t>BANKING CAMPAIGNS COMPARATOR  /  RESEARCH PROTOTYPE</a:t>
            </a:r>
          </a:p>
        </p:txBody>
      </p:sp>
      <p:sp>
        <p:nvSpPr>
          <p:cNvPr id="8" name="TextBox 7">
            <a:extLst>
              <a:ext uri="{FF2B5EF4-FFF2-40B4-BE49-F238E27FC236}">
                <a16:creationId xmlns:a16="http://schemas.microsoft.com/office/drawing/2014/main" id="{548E7F9E-FE4A-499B-B001-A1B3AF3227F5}"/>
              </a:ext>
            </a:extLst>
          </p:cNvPr>
          <p:cNvSpPr txBox="1"/>
          <p:nvPr/>
        </p:nvSpPr>
        <p:spPr>
          <a:xfrm>
            <a:off x="14668500" y="8636000"/>
            <a:ext cx="1143000" cy="230832"/>
          </a:xfrm>
          <a:prstGeom prst="rect">
            <a:avLst/>
          </a:prstGeom>
          <a:noFill/>
        </p:spPr>
        <p:txBody>
          <a:bodyPr wrap="square" lIns="0" tIns="0" rIns="0" bIns="0" anchor="t">
            <a:spAutoFit/>
          </a:bodyPr>
          <a:lstStyle/>
          <a:p>
            <a:pPr>
              <a:spcAft>
                <a:spcPts val="300"/>
              </a:spcAft>
              <a:defRPr sz="1500" b="0">
                <a:solidFill>
                  <a:srgbClr val="14253A"/>
                </a:solidFill>
                <a:latin typeface="Arial"/>
              </a:defRPr>
            </a:pPr>
            <a:r>
              <a:rPr lang="en-US"/>
              <a:t>06</a:t>
            </a:r>
            <a:r>
              <a:t>/ 08</a:t>
            </a:r>
          </a:p>
        </p:txBody>
      </p:sp>
      <p:sp>
        <p:nvSpPr>
          <p:cNvPr id="9" name="Rounded Rectangle 8">
            <a:extLst>
              <a:ext uri="{FF2B5EF4-FFF2-40B4-BE49-F238E27FC236}">
                <a16:creationId xmlns:a16="http://schemas.microsoft.com/office/drawing/2014/main" id="{E5D34437-4ED9-071C-9059-2C2959AF9AB2}"/>
              </a:ext>
            </a:extLst>
          </p:cNvPr>
          <p:cNvSpPr/>
          <p:nvPr/>
        </p:nvSpPr>
        <p:spPr>
          <a:xfrm>
            <a:off x="660400" y="3124200"/>
            <a:ext cx="3581400" cy="20193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a:extLst>
              <a:ext uri="{FF2B5EF4-FFF2-40B4-BE49-F238E27FC236}">
                <a16:creationId xmlns:a16="http://schemas.microsoft.com/office/drawing/2014/main" id="{53C5367E-2AB7-0F01-0BD0-4101D278B169}"/>
              </a:ext>
            </a:extLst>
          </p:cNvPr>
          <p:cNvSpPr txBox="1"/>
          <p:nvPr/>
        </p:nvSpPr>
        <p:spPr>
          <a:xfrm>
            <a:off x="889000" y="3365500"/>
            <a:ext cx="3175000" cy="571500"/>
          </a:xfrm>
          <a:prstGeom prst="rect">
            <a:avLst/>
          </a:prstGeom>
          <a:noFill/>
        </p:spPr>
        <p:txBody>
          <a:bodyPr wrap="square" lIns="0" tIns="0" rIns="0" bIns="0">
            <a:spAutoFit/>
          </a:bodyPr>
          <a:lstStyle/>
          <a:p>
            <a:pPr>
              <a:spcAft>
                <a:spcPts val="300"/>
              </a:spcAft>
              <a:defRPr sz="2400" b="1">
                <a:solidFill>
                  <a:srgbClr val="14253A"/>
                </a:solidFill>
                <a:latin typeface="Arial"/>
              </a:defRPr>
            </a:pPr>
            <a:r>
              <a:t>1. Select source</a:t>
            </a:r>
          </a:p>
        </p:txBody>
      </p:sp>
      <p:sp>
        <p:nvSpPr>
          <p:cNvPr id="11" name="TextBox 10">
            <a:extLst>
              <a:ext uri="{FF2B5EF4-FFF2-40B4-BE49-F238E27FC236}">
                <a16:creationId xmlns:a16="http://schemas.microsoft.com/office/drawing/2014/main" id="{98700A8F-B884-35A5-743E-D0C4FCC24EC1}"/>
              </a:ext>
            </a:extLst>
          </p:cNvPr>
          <p:cNvSpPr txBox="1"/>
          <p:nvPr/>
        </p:nvSpPr>
        <p:spPr>
          <a:xfrm>
            <a:off x="889000" y="4025900"/>
            <a:ext cx="3149600" cy="677108"/>
          </a:xfrm>
          <a:prstGeom prst="rect">
            <a:avLst/>
          </a:prstGeom>
          <a:noFill/>
        </p:spPr>
        <p:txBody>
          <a:bodyPr wrap="square" lIns="0" tIns="0" rIns="0" bIns="0" anchor="t">
            <a:spAutoFit/>
          </a:bodyPr>
          <a:lstStyle/>
          <a:p>
            <a:pPr>
              <a:spcAft>
                <a:spcPts val="300"/>
              </a:spcAft>
              <a:defRPr sz="2200" b="0">
                <a:solidFill>
                  <a:srgbClr val="536577"/>
                </a:solidFill>
                <a:latin typeface="Arial"/>
              </a:defRPr>
            </a:pPr>
            <a:r>
              <a:rPr lang="en-US"/>
              <a:t>URL, filter by bank</a:t>
            </a:r>
            <a:r>
              <a:t>, product,</a:t>
            </a:r>
            <a:r>
              <a:rPr lang="en-US"/>
              <a:t> </a:t>
            </a:r>
            <a:r>
              <a:t>language</a:t>
            </a:r>
            <a:endParaRPr lang="en-US">
              <a:cs typeface="Arial"/>
            </a:endParaRPr>
          </a:p>
        </p:txBody>
      </p:sp>
      <p:cxnSp>
        <p:nvCxnSpPr>
          <p:cNvPr id="12" name="Connector 11">
            <a:extLst>
              <a:ext uri="{FF2B5EF4-FFF2-40B4-BE49-F238E27FC236}">
                <a16:creationId xmlns:a16="http://schemas.microsoft.com/office/drawing/2014/main" id="{243566BE-50F6-21EC-5C42-60602FD6BCFD}"/>
              </a:ext>
            </a:extLst>
          </p:cNvPr>
          <p:cNvCxnSpPr/>
          <p:nvPr/>
        </p:nvCxnSpPr>
        <p:spPr>
          <a:xfrm>
            <a:off x="4279900" y="4114800"/>
            <a:ext cx="254000" cy="0"/>
          </a:xfrm>
          <a:prstGeom prst="line">
            <a:avLst/>
          </a:prstGeom>
          <a:ln w="25400">
            <a:solidFill>
              <a:srgbClr val="167D89"/>
            </a:solidFill>
          </a:ln>
        </p:spPr>
        <p:style>
          <a:lnRef idx="2">
            <a:schemeClr val="accent1"/>
          </a:lnRef>
          <a:fillRef idx="0">
            <a:schemeClr val="accent1"/>
          </a:fillRef>
          <a:effectRef idx="1">
            <a:schemeClr val="accent1"/>
          </a:effectRef>
          <a:fontRef idx="minor">
            <a:schemeClr val="tx1"/>
          </a:fontRef>
        </p:style>
      </p:cxnSp>
      <p:cxnSp>
        <p:nvCxnSpPr>
          <p:cNvPr id="13" name="Connector 12">
            <a:extLst>
              <a:ext uri="{FF2B5EF4-FFF2-40B4-BE49-F238E27FC236}">
                <a16:creationId xmlns:a16="http://schemas.microsoft.com/office/drawing/2014/main" id="{41333203-CB71-612D-2C26-382909F5B2ED}"/>
              </a:ext>
            </a:extLst>
          </p:cNvPr>
          <p:cNvCxnSpPr/>
          <p:nvPr/>
        </p:nvCxnSpPr>
        <p:spPr>
          <a:xfrm>
            <a:off x="4419600" y="4038600"/>
            <a:ext cx="114300" cy="76200"/>
          </a:xfrm>
          <a:prstGeom prst="line">
            <a:avLst/>
          </a:prstGeom>
          <a:ln w="25400">
            <a:solidFill>
              <a:srgbClr val="167D89"/>
            </a:solidFill>
          </a:ln>
        </p:spPr>
        <p:style>
          <a:lnRef idx="2">
            <a:schemeClr val="accent1"/>
          </a:lnRef>
          <a:fillRef idx="0">
            <a:schemeClr val="accent1"/>
          </a:fillRef>
          <a:effectRef idx="1">
            <a:schemeClr val="accent1"/>
          </a:effectRef>
          <a:fontRef idx="minor">
            <a:schemeClr val="tx1"/>
          </a:fontRef>
        </p:style>
      </p:cxnSp>
      <p:cxnSp>
        <p:nvCxnSpPr>
          <p:cNvPr id="14" name="Connector 13">
            <a:extLst>
              <a:ext uri="{FF2B5EF4-FFF2-40B4-BE49-F238E27FC236}">
                <a16:creationId xmlns:a16="http://schemas.microsoft.com/office/drawing/2014/main" id="{12AC0107-9E7D-59E3-8EDD-36AC043B24E7}"/>
              </a:ext>
            </a:extLst>
          </p:cNvPr>
          <p:cNvCxnSpPr/>
          <p:nvPr/>
        </p:nvCxnSpPr>
        <p:spPr>
          <a:xfrm flipV="1">
            <a:off x="4419600" y="4114800"/>
            <a:ext cx="114300" cy="76200"/>
          </a:xfrm>
          <a:prstGeom prst="line">
            <a:avLst/>
          </a:prstGeom>
          <a:ln w="25400">
            <a:solidFill>
              <a:srgbClr val="167D89"/>
            </a:solidFill>
          </a:ln>
        </p:spPr>
        <p:style>
          <a:lnRef idx="2">
            <a:schemeClr val="accent1"/>
          </a:lnRef>
          <a:fillRef idx="0">
            <a:schemeClr val="accent1"/>
          </a:fillRef>
          <a:effectRef idx="1">
            <a:schemeClr val="accent1"/>
          </a:effectRef>
          <a:fontRef idx="minor">
            <a:schemeClr val="tx1"/>
          </a:fontRef>
        </p:style>
      </p:cxnSp>
      <p:sp>
        <p:nvSpPr>
          <p:cNvPr id="15" name="Rounded Rectangle 14">
            <a:extLst>
              <a:ext uri="{FF2B5EF4-FFF2-40B4-BE49-F238E27FC236}">
                <a16:creationId xmlns:a16="http://schemas.microsoft.com/office/drawing/2014/main" id="{4F819ACC-6908-F022-E06A-A91E50813481}"/>
              </a:ext>
            </a:extLst>
          </p:cNvPr>
          <p:cNvSpPr/>
          <p:nvPr/>
        </p:nvSpPr>
        <p:spPr>
          <a:xfrm>
            <a:off x="4660900" y="3124200"/>
            <a:ext cx="3581400" cy="20193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a:extLst>
              <a:ext uri="{FF2B5EF4-FFF2-40B4-BE49-F238E27FC236}">
                <a16:creationId xmlns:a16="http://schemas.microsoft.com/office/drawing/2014/main" id="{E5B1F695-BD17-7CC5-3B9D-AD482338C6A4}"/>
              </a:ext>
            </a:extLst>
          </p:cNvPr>
          <p:cNvSpPr txBox="1"/>
          <p:nvPr/>
        </p:nvSpPr>
        <p:spPr>
          <a:xfrm>
            <a:off x="4889500" y="3365500"/>
            <a:ext cx="3175000" cy="369332"/>
          </a:xfrm>
          <a:prstGeom prst="rect">
            <a:avLst/>
          </a:prstGeom>
          <a:noFill/>
        </p:spPr>
        <p:txBody>
          <a:bodyPr wrap="square" lIns="0" tIns="0" rIns="0" bIns="0" anchor="t">
            <a:spAutoFit/>
          </a:bodyPr>
          <a:lstStyle/>
          <a:p>
            <a:pPr>
              <a:spcAft>
                <a:spcPts val="300"/>
              </a:spcAft>
              <a:defRPr sz="2400" b="1">
                <a:solidFill>
                  <a:srgbClr val="14253A"/>
                </a:solidFill>
                <a:latin typeface="Arial"/>
              </a:defRPr>
            </a:pPr>
            <a:r>
              <a:t>2. </a:t>
            </a:r>
            <a:r>
              <a:rPr lang="en-US"/>
              <a:t>Scrape </a:t>
            </a:r>
            <a:r>
              <a:t>page</a:t>
            </a:r>
          </a:p>
        </p:txBody>
      </p:sp>
      <p:sp>
        <p:nvSpPr>
          <p:cNvPr id="17" name="TextBox 16">
            <a:extLst>
              <a:ext uri="{FF2B5EF4-FFF2-40B4-BE49-F238E27FC236}">
                <a16:creationId xmlns:a16="http://schemas.microsoft.com/office/drawing/2014/main" id="{A58333EA-60A2-335E-9E82-AD5B00FDA29F}"/>
              </a:ext>
            </a:extLst>
          </p:cNvPr>
          <p:cNvSpPr txBox="1"/>
          <p:nvPr/>
        </p:nvSpPr>
        <p:spPr>
          <a:xfrm>
            <a:off x="4889500" y="4025900"/>
            <a:ext cx="3149600" cy="1092607"/>
          </a:xfrm>
          <a:prstGeom prst="rect">
            <a:avLst/>
          </a:prstGeom>
          <a:noFill/>
        </p:spPr>
        <p:txBody>
          <a:bodyPr wrap="square" lIns="0" tIns="0" rIns="0" bIns="0" anchor="t">
            <a:spAutoFit/>
          </a:bodyPr>
          <a:lstStyle/>
          <a:p>
            <a:pPr>
              <a:spcAft>
                <a:spcPts val="300"/>
              </a:spcAft>
              <a:defRPr sz="2200" b="0">
                <a:solidFill>
                  <a:srgbClr val="536577"/>
                </a:solidFill>
                <a:latin typeface="Arial"/>
              </a:defRPr>
            </a:pPr>
            <a:r>
              <a:rPr lang="en-US"/>
              <a:t>Read text</a:t>
            </a:r>
          </a:p>
          <a:p>
            <a:pPr>
              <a:spcAft>
                <a:spcPts val="300"/>
              </a:spcAft>
              <a:defRPr sz="2200" b="0">
                <a:solidFill>
                  <a:srgbClr val="536577"/>
                </a:solidFill>
                <a:latin typeface="Arial"/>
              </a:defRPr>
            </a:pPr>
            <a:r>
              <a:rPr lang="en-US">
                <a:cs typeface="Arial"/>
              </a:rPr>
              <a:t>Extract images</a:t>
            </a:r>
          </a:p>
          <a:p>
            <a:pPr>
              <a:spcAft>
                <a:spcPts val="300"/>
              </a:spcAft>
              <a:defRPr sz="2200" b="0">
                <a:solidFill>
                  <a:srgbClr val="536577"/>
                </a:solidFill>
                <a:latin typeface="Arial"/>
              </a:defRPr>
            </a:pPr>
            <a:endParaRPr lang="en-US">
              <a:cs typeface="Arial"/>
            </a:endParaRPr>
          </a:p>
        </p:txBody>
      </p:sp>
      <p:cxnSp>
        <p:nvCxnSpPr>
          <p:cNvPr id="18" name="Connector 17">
            <a:extLst>
              <a:ext uri="{FF2B5EF4-FFF2-40B4-BE49-F238E27FC236}">
                <a16:creationId xmlns:a16="http://schemas.microsoft.com/office/drawing/2014/main" id="{C53BC5AD-2DC5-E785-7C05-DB9CF4A97DAC}"/>
              </a:ext>
            </a:extLst>
          </p:cNvPr>
          <p:cNvCxnSpPr/>
          <p:nvPr/>
        </p:nvCxnSpPr>
        <p:spPr>
          <a:xfrm>
            <a:off x="8280400" y="4114800"/>
            <a:ext cx="254000" cy="0"/>
          </a:xfrm>
          <a:prstGeom prst="line">
            <a:avLst/>
          </a:prstGeom>
          <a:ln w="25400">
            <a:solidFill>
              <a:srgbClr val="167D89"/>
            </a:solidFill>
          </a:ln>
        </p:spPr>
        <p:style>
          <a:lnRef idx="2">
            <a:schemeClr val="accent1"/>
          </a:lnRef>
          <a:fillRef idx="0">
            <a:schemeClr val="accent1"/>
          </a:fillRef>
          <a:effectRef idx="1">
            <a:schemeClr val="accent1"/>
          </a:effectRef>
          <a:fontRef idx="minor">
            <a:schemeClr val="tx1"/>
          </a:fontRef>
        </p:style>
      </p:cxnSp>
      <p:cxnSp>
        <p:nvCxnSpPr>
          <p:cNvPr id="19" name="Connector 18">
            <a:extLst>
              <a:ext uri="{FF2B5EF4-FFF2-40B4-BE49-F238E27FC236}">
                <a16:creationId xmlns:a16="http://schemas.microsoft.com/office/drawing/2014/main" id="{DF3A3AC8-F83C-A9E3-46A1-7313662062EC}"/>
              </a:ext>
            </a:extLst>
          </p:cNvPr>
          <p:cNvCxnSpPr/>
          <p:nvPr/>
        </p:nvCxnSpPr>
        <p:spPr>
          <a:xfrm>
            <a:off x="8420100" y="4038600"/>
            <a:ext cx="114300" cy="76200"/>
          </a:xfrm>
          <a:prstGeom prst="line">
            <a:avLst/>
          </a:prstGeom>
          <a:ln w="25400">
            <a:solidFill>
              <a:srgbClr val="167D89"/>
            </a:solidFill>
          </a:ln>
        </p:spPr>
        <p:style>
          <a:lnRef idx="2">
            <a:schemeClr val="accent1"/>
          </a:lnRef>
          <a:fillRef idx="0">
            <a:schemeClr val="accent1"/>
          </a:fillRef>
          <a:effectRef idx="1">
            <a:schemeClr val="accent1"/>
          </a:effectRef>
          <a:fontRef idx="minor">
            <a:schemeClr val="tx1"/>
          </a:fontRef>
        </p:style>
      </p:cxnSp>
      <p:cxnSp>
        <p:nvCxnSpPr>
          <p:cNvPr id="20" name="Connector 19">
            <a:extLst>
              <a:ext uri="{FF2B5EF4-FFF2-40B4-BE49-F238E27FC236}">
                <a16:creationId xmlns:a16="http://schemas.microsoft.com/office/drawing/2014/main" id="{8E0D901E-B0E1-E850-1FE4-538C90978320}"/>
              </a:ext>
            </a:extLst>
          </p:cNvPr>
          <p:cNvCxnSpPr/>
          <p:nvPr/>
        </p:nvCxnSpPr>
        <p:spPr>
          <a:xfrm flipV="1">
            <a:off x="8420100" y="4114800"/>
            <a:ext cx="114300" cy="76200"/>
          </a:xfrm>
          <a:prstGeom prst="line">
            <a:avLst/>
          </a:prstGeom>
          <a:ln w="25400">
            <a:solidFill>
              <a:srgbClr val="167D89"/>
            </a:solidFill>
          </a:ln>
        </p:spPr>
        <p:style>
          <a:lnRef idx="2">
            <a:schemeClr val="accent1"/>
          </a:lnRef>
          <a:fillRef idx="0">
            <a:schemeClr val="accent1"/>
          </a:fillRef>
          <a:effectRef idx="1">
            <a:schemeClr val="accent1"/>
          </a:effectRef>
          <a:fontRef idx="minor">
            <a:schemeClr val="tx1"/>
          </a:fontRef>
        </p:style>
      </p:cxnSp>
      <p:sp>
        <p:nvSpPr>
          <p:cNvPr id="21" name="Rounded Rectangle 20">
            <a:extLst>
              <a:ext uri="{FF2B5EF4-FFF2-40B4-BE49-F238E27FC236}">
                <a16:creationId xmlns:a16="http://schemas.microsoft.com/office/drawing/2014/main" id="{1CCDFBEA-33EE-7F4B-023B-97D4FE77422F}"/>
              </a:ext>
            </a:extLst>
          </p:cNvPr>
          <p:cNvSpPr/>
          <p:nvPr/>
        </p:nvSpPr>
        <p:spPr>
          <a:xfrm>
            <a:off x="8661400" y="3124200"/>
            <a:ext cx="3581400" cy="20193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a:extLst>
              <a:ext uri="{FF2B5EF4-FFF2-40B4-BE49-F238E27FC236}">
                <a16:creationId xmlns:a16="http://schemas.microsoft.com/office/drawing/2014/main" id="{423C759D-9135-78B2-AF36-8BF61827D8FF}"/>
              </a:ext>
            </a:extLst>
          </p:cNvPr>
          <p:cNvSpPr txBox="1"/>
          <p:nvPr/>
        </p:nvSpPr>
        <p:spPr>
          <a:xfrm>
            <a:off x="8890000" y="4025900"/>
            <a:ext cx="3149600" cy="677108"/>
          </a:xfrm>
          <a:prstGeom prst="rect">
            <a:avLst/>
          </a:prstGeom>
          <a:noFill/>
        </p:spPr>
        <p:txBody>
          <a:bodyPr wrap="square" lIns="0" tIns="0" rIns="0" bIns="0" anchor="t">
            <a:spAutoFit/>
          </a:bodyPr>
          <a:lstStyle/>
          <a:p>
            <a:pPr>
              <a:spcAft>
                <a:spcPts val="300"/>
              </a:spcAft>
              <a:defRPr sz="2200" b="0">
                <a:solidFill>
                  <a:srgbClr val="536577"/>
                </a:solidFill>
                <a:latin typeface="Arial"/>
              </a:defRPr>
            </a:pPr>
            <a:r>
              <a:rPr lang="en-US"/>
              <a:t>Compute labels based on several metrics</a:t>
            </a:r>
          </a:p>
        </p:txBody>
      </p:sp>
      <p:cxnSp>
        <p:nvCxnSpPr>
          <p:cNvPr id="27" name="Connector 26">
            <a:extLst>
              <a:ext uri="{FF2B5EF4-FFF2-40B4-BE49-F238E27FC236}">
                <a16:creationId xmlns:a16="http://schemas.microsoft.com/office/drawing/2014/main" id="{FFFAAE14-5189-16B2-77FD-B79E01EE80D5}"/>
              </a:ext>
            </a:extLst>
          </p:cNvPr>
          <p:cNvCxnSpPr/>
          <p:nvPr/>
        </p:nvCxnSpPr>
        <p:spPr>
          <a:xfrm>
            <a:off x="12306300" y="4114800"/>
            <a:ext cx="342900" cy="0"/>
          </a:xfrm>
          <a:prstGeom prst="line">
            <a:avLst/>
          </a:prstGeom>
          <a:ln w="25400">
            <a:solidFill>
              <a:srgbClr val="167D89"/>
            </a:solidFill>
          </a:ln>
        </p:spPr>
        <p:style>
          <a:lnRef idx="2">
            <a:schemeClr val="accent1"/>
          </a:lnRef>
          <a:fillRef idx="0">
            <a:schemeClr val="accent1"/>
          </a:fillRef>
          <a:effectRef idx="1">
            <a:schemeClr val="accent1"/>
          </a:effectRef>
          <a:fontRef idx="minor">
            <a:schemeClr val="tx1"/>
          </a:fontRef>
        </p:style>
      </p:cxnSp>
      <p:cxnSp>
        <p:nvCxnSpPr>
          <p:cNvPr id="28" name="Connector 27">
            <a:extLst>
              <a:ext uri="{FF2B5EF4-FFF2-40B4-BE49-F238E27FC236}">
                <a16:creationId xmlns:a16="http://schemas.microsoft.com/office/drawing/2014/main" id="{0BF142AC-0EFD-A913-C763-B8B6003E7CD5}"/>
              </a:ext>
            </a:extLst>
          </p:cNvPr>
          <p:cNvCxnSpPr/>
          <p:nvPr/>
        </p:nvCxnSpPr>
        <p:spPr>
          <a:xfrm>
            <a:off x="12534900" y="4038600"/>
            <a:ext cx="114300" cy="76200"/>
          </a:xfrm>
          <a:prstGeom prst="line">
            <a:avLst/>
          </a:prstGeom>
          <a:ln w="25400">
            <a:solidFill>
              <a:srgbClr val="167D89"/>
            </a:solidFill>
          </a:ln>
        </p:spPr>
        <p:style>
          <a:lnRef idx="2">
            <a:schemeClr val="accent1"/>
          </a:lnRef>
          <a:fillRef idx="0">
            <a:schemeClr val="accent1"/>
          </a:fillRef>
          <a:effectRef idx="1">
            <a:schemeClr val="accent1"/>
          </a:effectRef>
          <a:fontRef idx="minor">
            <a:schemeClr val="tx1"/>
          </a:fontRef>
        </p:style>
      </p:cxnSp>
      <p:cxnSp>
        <p:nvCxnSpPr>
          <p:cNvPr id="29" name="Connector 28">
            <a:extLst>
              <a:ext uri="{FF2B5EF4-FFF2-40B4-BE49-F238E27FC236}">
                <a16:creationId xmlns:a16="http://schemas.microsoft.com/office/drawing/2014/main" id="{52357332-33E6-FC61-67F2-37389ECB36EA}"/>
              </a:ext>
            </a:extLst>
          </p:cNvPr>
          <p:cNvCxnSpPr/>
          <p:nvPr/>
        </p:nvCxnSpPr>
        <p:spPr>
          <a:xfrm flipV="1">
            <a:off x="12534900" y="4114800"/>
            <a:ext cx="114300" cy="76200"/>
          </a:xfrm>
          <a:prstGeom prst="line">
            <a:avLst/>
          </a:prstGeom>
          <a:ln w="25400">
            <a:solidFill>
              <a:srgbClr val="167D89"/>
            </a:solidFill>
          </a:ln>
        </p:spPr>
        <p:style>
          <a:lnRef idx="2">
            <a:schemeClr val="accent1"/>
          </a:lnRef>
          <a:fillRef idx="0">
            <a:schemeClr val="accent1"/>
          </a:fillRef>
          <a:effectRef idx="1">
            <a:schemeClr val="accent1"/>
          </a:effectRef>
          <a:fontRef idx="minor">
            <a:schemeClr val="tx1"/>
          </a:fontRef>
        </p:style>
      </p:cxnSp>
      <p:cxnSp>
        <p:nvCxnSpPr>
          <p:cNvPr id="30" name="Connector 29">
            <a:extLst>
              <a:ext uri="{FF2B5EF4-FFF2-40B4-BE49-F238E27FC236}">
                <a16:creationId xmlns:a16="http://schemas.microsoft.com/office/drawing/2014/main" id="{D64C2F97-775B-73AE-39D0-1B89A60E803E}"/>
              </a:ext>
            </a:extLst>
          </p:cNvPr>
          <p:cNvCxnSpPr/>
          <p:nvPr/>
        </p:nvCxnSpPr>
        <p:spPr>
          <a:xfrm>
            <a:off x="10452100" y="5143500"/>
            <a:ext cx="0" cy="393700"/>
          </a:xfrm>
          <a:prstGeom prst="line">
            <a:avLst/>
          </a:prstGeom>
          <a:ln w="25400">
            <a:solidFill>
              <a:srgbClr val="167D89"/>
            </a:solidFill>
          </a:ln>
        </p:spPr>
        <p:style>
          <a:lnRef idx="2">
            <a:schemeClr val="accent1"/>
          </a:lnRef>
          <a:fillRef idx="0">
            <a:schemeClr val="accent1"/>
          </a:fillRef>
          <a:effectRef idx="1">
            <a:schemeClr val="accent1"/>
          </a:effectRef>
          <a:fontRef idx="minor">
            <a:schemeClr val="tx1"/>
          </a:fontRef>
        </p:style>
      </p:cxnSp>
      <p:cxnSp>
        <p:nvCxnSpPr>
          <p:cNvPr id="31" name="Connector 30">
            <a:extLst>
              <a:ext uri="{FF2B5EF4-FFF2-40B4-BE49-F238E27FC236}">
                <a16:creationId xmlns:a16="http://schemas.microsoft.com/office/drawing/2014/main" id="{66519600-AB95-E862-249E-B90D3AD7CFDC}"/>
              </a:ext>
            </a:extLst>
          </p:cNvPr>
          <p:cNvCxnSpPr/>
          <p:nvPr/>
        </p:nvCxnSpPr>
        <p:spPr>
          <a:xfrm>
            <a:off x="4508500" y="5537200"/>
            <a:ext cx="8953500" cy="0"/>
          </a:xfrm>
          <a:prstGeom prst="line">
            <a:avLst/>
          </a:prstGeom>
          <a:ln w="25400">
            <a:solidFill>
              <a:srgbClr val="167D89"/>
            </a:solidFill>
          </a:ln>
        </p:spPr>
        <p:style>
          <a:lnRef idx="2">
            <a:schemeClr val="accent1"/>
          </a:lnRef>
          <a:fillRef idx="0">
            <a:schemeClr val="accent1"/>
          </a:fillRef>
          <a:effectRef idx="1">
            <a:schemeClr val="accent1"/>
          </a:effectRef>
          <a:fontRef idx="minor">
            <a:schemeClr val="tx1"/>
          </a:fontRef>
        </p:style>
      </p:cxnSp>
      <p:cxnSp>
        <p:nvCxnSpPr>
          <p:cNvPr id="32" name="Connector 31">
            <a:extLst>
              <a:ext uri="{FF2B5EF4-FFF2-40B4-BE49-F238E27FC236}">
                <a16:creationId xmlns:a16="http://schemas.microsoft.com/office/drawing/2014/main" id="{038AA1FD-CAD9-2376-8051-169B4FDFBC97}"/>
              </a:ext>
            </a:extLst>
          </p:cNvPr>
          <p:cNvCxnSpPr/>
          <p:nvPr/>
        </p:nvCxnSpPr>
        <p:spPr>
          <a:xfrm>
            <a:off x="4508500" y="5537200"/>
            <a:ext cx="0" cy="254000"/>
          </a:xfrm>
          <a:prstGeom prst="line">
            <a:avLst/>
          </a:prstGeom>
          <a:ln w="25400">
            <a:solidFill>
              <a:srgbClr val="167D89"/>
            </a:solidFill>
          </a:ln>
        </p:spPr>
        <p:style>
          <a:lnRef idx="2">
            <a:schemeClr val="accent1"/>
          </a:lnRef>
          <a:fillRef idx="0">
            <a:schemeClr val="accent1"/>
          </a:fillRef>
          <a:effectRef idx="1">
            <a:schemeClr val="accent1"/>
          </a:effectRef>
          <a:fontRef idx="minor">
            <a:schemeClr val="tx1"/>
          </a:fontRef>
        </p:style>
      </p:cxnSp>
      <p:cxnSp>
        <p:nvCxnSpPr>
          <p:cNvPr id="33" name="Connector 32">
            <a:extLst>
              <a:ext uri="{FF2B5EF4-FFF2-40B4-BE49-F238E27FC236}">
                <a16:creationId xmlns:a16="http://schemas.microsoft.com/office/drawing/2014/main" id="{690F1E5B-EC89-3E89-9DAB-D52CE8C962D4}"/>
              </a:ext>
            </a:extLst>
          </p:cNvPr>
          <p:cNvCxnSpPr/>
          <p:nvPr/>
        </p:nvCxnSpPr>
        <p:spPr>
          <a:xfrm>
            <a:off x="13462000" y="5537200"/>
            <a:ext cx="0" cy="254000"/>
          </a:xfrm>
          <a:prstGeom prst="line">
            <a:avLst/>
          </a:prstGeom>
          <a:ln w="25400">
            <a:solidFill>
              <a:srgbClr val="167D89"/>
            </a:solidFill>
          </a:ln>
        </p:spPr>
        <p:style>
          <a:lnRef idx="2">
            <a:schemeClr val="accent1"/>
          </a:lnRef>
          <a:fillRef idx="0">
            <a:schemeClr val="accent1"/>
          </a:fillRef>
          <a:effectRef idx="1">
            <a:schemeClr val="accent1"/>
          </a:effectRef>
          <a:fontRef idx="minor">
            <a:schemeClr val="tx1"/>
          </a:fontRef>
        </p:style>
      </p:cxnSp>
      <p:sp>
        <p:nvSpPr>
          <p:cNvPr id="34" name="Rounded Rectangle 33">
            <a:extLst>
              <a:ext uri="{FF2B5EF4-FFF2-40B4-BE49-F238E27FC236}">
                <a16:creationId xmlns:a16="http://schemas.microsoft.com/office/drawing/2014/main" id="{B4A27F86-0D29-3731-77CB-CCAE08BB1493}"/>
              </a:ext>
            </a:extLst>
          </p:cNvPr>
          <p:cNvSpPr/>
          <p:nvPr/>
        </p:nvSpPr>
        <p:spPr>
          <a:xfrm>
            <a:off x="660400" y="5803900"/>
            <a:ext cx="7239000" cy="1409700"/>
          </a:xfrm>
          <a:prstGeom prst="roundRect">
            <a:avLst>
              <a:gd name="adj" fmla="val 8000"/>
            </a:avLst>
          </a:prstGeom>
          <a:solidFill>
            <a:srgbClr val="DDED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a:extLst>
              <a:ext uri="{FF2B5EF4-FFF2-40B4-BE49-F238E27FC236}">
                <a16:creationId xmlns:a16="http://schemas.microsoft.com/office/drawing/2014/main" id="{6C0E18CA-7D4D-D40C-B429-6A2E700EA0DA}"/>
              </a:ext>
            </a:extLst>
          </p:cNvPr>
          <p:cNvSpPr txBox="1"/>
          <p:nvPr/>
        </p:nvSpPr>
        <p:spPr>
          <a:xfrm>
            <a:off x="914400" y="5956300"/>
            <a:ext cx="6731000" cy="369332"/>
          </a:xfrm>
          <a:prstGeom prst="rect">
            <a:avLst/>
          </a:prstGeom>
          <a:noFill/>
        </p:spPr>
        <p:txBody>
          <a:bodyPr wrap="square" lIns="0" tIns="0" rIns="0" bIns="0" anchor="t">
            <a:spAutoFit/>
          </a:bodyPr>
          <a:lstStyle/>
          <a:p>
            <a:pPr>
              <a:spcAft>
                <a:spcPts val="300"/>
              </a:spcAft>
              <a:defRPr sz="2400" b="1">
                <a:solidFill>
                  <a:srgbClr val="14253A"/>
                </a:solidFill>
                <a:latin typeface="Arial"/>
              </a:defRPr>
            </a:pPr>
            <a:r>
              <a:rPr lang="en-US"/>
              <a:t>Text</a:t>
            </a:r>
          </a:p>
        </p:txBody>
      </p:sp>
      <p:sp>
        <p:nvSpPr>
          <p:cNvPr id="37" name="Rounded Rectangle 36">
            <a:extLst>
              <a:ext uri="{FF2B5EF4-FFF2-40B4-BE49-F238E27FC236}">
                <a16:creationId xmlns:a16="http://schemas.microsoft.com/office/drawing/2014/main" id="{13368F1C-3542-E07F-BBFA-AF7A37AED84A}"/>
              </a:ext>
            </a:extLst>
          </p:cNvPr>
          <p:cNvSpPr/>
          <p:nvPr/>
        </p:nvSpPr>
        <p:spPr>
          <a:xfrm>
            <a:off x="8284029" y="5794829"/>
            <a:ext cx="7302500" cy="1436913"/>
          </a:xfrm>
          <a:prstGeom prst="roundRect">
            <a:avLst>
              <a:gd name="adj" fmla="val 8000"/>
            </a:avLst>
          </a:prstGeom>
          <a:solidFill>
            <a:srgbClr val="FCE4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a:extLst>
              <a:ext uri="{FF2B5EF4-FFF2-40B4-BE49-F238E27FC236}">
                <a16:creationId xmlns:a16="http://schemas.microsoft.com/office/drawing/2014/main" id="{FF862642-D455-4C0F-EA0D-29593563B174}"/>
              </a:ext>
            </a:extLst>
          </p:cNvPr>
          <p:cNvSpPr txBox="1"/>
          <p:nvPr/>
        </p:nvSpPr>
        <p:spPr>
          <a:xfrm>
            <a:off x="8559800" y="5956300"/>
            <a:ext cx="6731000" cy="353943"/>
          </a:xfrm>
          <a:prstGeom prst="rect">
            <a:avLst/>
          </a:prstGeom>
          <a:noFill/>
        </p:spPr>
        <p:txBody>
          <a:bodyPr wrap="square" lIns="0" tIns="0" rIns="0" bIns="0" anchor="t">
            <a:spAutoFit/>
          </a:bodyPr>
          <a:lstStyle/>
          <a:p>
            <a:pPr>
              <a:spcAft>
                <a:spcPts val="300"/>
              </a:spcAft>
              <a:defRPr sz="2300" b="1">
                <a:solidFill>
                  <a:srgbClr val="14253A"/>
                </a:solidFill>
                <a:latin typeface="Arial"/>
              </a:defRPr>
            </a:pPr>
            <a:r>
              <a:rPr lang="en-US"/>
              <a:t>Image</a:t>
            </a:r>
          </a:p>
        </p:txBody>
      </p:sp>
      <p:sp>
        <p:nvSpPr>
          <p:cNvPr id="39" name="TextBox 38">
            <a:extLst>
              <a:ext uri="{FF2B5EF4-FFF2-40B4-BE49-F238E27FC236}">
                <a16:creationId xmlns:a16="http://schemas.microsoft.com/office/drawing/2014/main" id="{FBE57782-67A8-47FE-B8F4-E0271E98BBF6}"/>
              </a:ext>
            </a:extLst>
          </p:cNvPr>
          <p:cNvSpPr txBox="1"/>
          <p:nvPr/>
        </p:nvSpPr>
        <p:spPr>
          <a:xfrm>
            <a:off x="8559800" y="6477000"/>
            <a:ext cx="6731000" cy="646331"/>
          </a:xfrm>
          <a:prstGeom prst="rect">
            <a:avLst/>
          </a:prstGeom>
          <a:noFill/>
        </p:spPr>
        <p:txBody>
          <a:bodyPr wrap="square" lIns="0" tIns="0" rIns="0" bIns="0" anchor="t">
            <a:spAutoFit/>
          </a:bodyPr>
          <a:lstStyle/>
          <a:p>
            <a:pPr>
              <a:spcAft>
                <a:spcPts val="300"/>
              </a:spcAft>
              <a:defRPr sz="2100" b="0">
                <a:solidFill>
                  <a:srgbClr val="536577"/>
                </a:solidFill>
                <a:latin typeface="Arial"/>
              </a:defRPr>
            </a:pPr>
            <a:r>
              <a:rPr lang="en-US"/>
              <a:t>Low level : size, colors</a:t>
            </a:r>
            <a:br>
              <a:rPr lang="en-US"/>
            </a:br>
            <a:r>
              <a:rPr lang="en-US">
                <a:cs typeface="Arial"/>
              </a:rPr>
              <a:t>High level (with LLM) : feeling, description</a:t>
            </a:r>
          </a:p>
        </p:txBody>
      </p:sp>
      <p:sp>
        <p:nvSpPr>
          <p:cNvPr id="41" name="Rounded Rectangle 20">
            <a:extLst>
              <a:ext uri="{FF2B5EF4-FFF2-40B4-BE49-F238E27FC236}">
                <a16:creationId xmlns:a16="http://schemas.microsoft.com/office/drawing/2014/main" id="{FF78C521-BFDE-0024-14F6-BFA07F0B3D00}"/>
              </a:ext>
            </a:extLst>
          </p:cNvPr>
          <p:cNvSpPr/>
          <p:nvPr/>
        </p:nvSpPr>
        <p:spPr>
          <a:xfrm>
            <a:off x="12794085" y="3097135"/>
            <a:ext cx="3018972" cy="20193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a:extLst>
              <a:ext uri="{FF2B5EF4-FFF2-40B4-BE49-F238E27FC236}">
                <a16:creationId xmlns:a16="http://schemas.microsoft.com/office/drawing/2014/main" id="{C5FD13F1-1795-6588-FFEE-167F7AB60009}"/>
              </a:ext>
            </a:extLst>
          </p:cNvPr>
          <p:cNvSpPr txBox="1"/>
          <p:nvPr/>
        </p:nvSpPr>
        <p:spPr>
          <a:xfrm>
            <a:off x="8890140" y="3365641"/>
            <a:ext cx="3175000" cy="369332"/>
          </a:xfrm>
          <a:prstGeom prst="rect">
            <a:avLst/>
          </a:prstGeom>
          <a:noFill/>
        </p:spPr>
        <p:txBody>
          <a:bodyPr wrap="square" lIns="0" tIns="0" rIns="0" bIns="0" anchor="t">
            <a:spAutoFit/>
          </a:bodyPr>
          <a:lstStyle/>
          <a:p>
            <a:pPr>
              <a:spcAft>
                <a:spcPts val="300"/>
              </a:spcAft>
              <a:defRPr sz="2400" b="1">
                <a:solidFill>
                  <a:srgbClr val="14253A"/>
                </a:solidFill>
                <a:latin typeface="Arial"/>
              </a:defRPr>
            </a:pPr>
            <a:r>
              <a:t>3. </a:t>
            </a:r>
            <a:r>
              <a:rPr lang="en-US"/>
              <a:t>Compute data</a:t>
            </a:r>
            <a:endParaRPr/>
          </a:p>
        </p:txBody>
      </p:sp>
      <p:sp>
        <p:nvSpPr>
          <p:cNvPr id="22" name="TextBox 21">
            <a:extLst>
              <a:ext uri="{FF2B5EF4-FFF2-40B4-BE49-F238E27FC236}">
                <a16:creationId xmlns:a16="http://schemas.microsoft.com/office/drawing/2014/main" id="{4A708048-EA2D-D995-49EF-3DF928D65858}"/>
              </a:ext>
            </a:extLst>
          </p:cNvPr>
          <p:cNvSpPr txBox="1"/>
          <p:nvPr/>
        </p:nvSpPr>
        <p:spPr>
          <a:xfrm>
            <a:off x="13031606" y="3365500"/>
            <a:ext cx="3175000" cy="369332"/>
          </a:xfrm>
          <a:prstGeom prst="rect">
            <a:avLst/>
          </a:prstGeom>
          <a:noFill/>
        </p:spPr>
        <p:txBody>
          <a:bodyPr wrap="square" lIns="0" tIns="0" rIns="0" bIns="0" anchor="t">
            <a:spAutoFit/>
          </a:bodyPr>
          <a:lstStyle/>
          <a:p>
            <a:pPr>
              <a:spcAft>
                <a:spcPts val="300"/>
              </a:spcAft>
              <a:defRPr sz="2400" b="1">
                <a:solidFill>
                  <a:srgbClr val="14253A"/>
                </a:solidFill>
                <a:latin typeface="Arial"/>
              </a:defRPr>
            </a:pPr>
            <a:r>
              <a:rPr lang="en-US"/>
              <a:t>4</a:t>
            </a:r>
            <a:r>
              <a:t>. </a:t>
            </a:r>
            <a:r>
              <a:rPr lang="en-US"/>
              <a:t>Store data</a:t>
            </a:r>
            <a:endParaRPr/>
          </a:p>
        </p:txBody>
      </p:sp>
      <p:sp>
        <p:nvSpPr>
          <p:cNvPr id="43" name="TextBox 42">
            <a:extLst>
              <a:ext uri="{FF2B5EF4-FFF2-40B4-BE49-F238E27FC236}">
                <a16:creationId xmlns:a16="http://schemas.microsoft.com/office/drawing/2014/main" id="{0340C68F-65C5-5D21-0663-F163AFF81755}"/>
              </a:ext>
            </a:extLst>
          </p:cNvPr>
          <p:cNvSpPr txBox="1"/>
          <p:nvPr/>
        </p:nvSpPr>
        <p:spPr>
          <a:xfrm>
            <a:off x="13027453" y="3958214"/>
            <a:ext cx="2567092" cy="690655"/>
          </a:xfrm>
          <a:prstGeom prst="rect">
            <a:avLst/>
          </a:prstGeom>
          <a:noFill/>
        </p:spPr>
        <p:txBody>
          <a:bodyPr wrap="square" lIns="0" tIns="0" rIns="0" bIns="0" anchor="t">
            <a:spAutoFit/>
          </a:bodyPr>
          <a:lstStyle/>
          <a:p>
            <a:pPr>
              <a:spcAft>
                <a:spcPts val="300"/>
              </a:spcAft>
              <a:defRPr sz="2200" b="0">
                <a:solidFill>
                  <a:srgbClr val="536577"/>
                </a:solidFill>
                <a:latin typeface="Arial"/>
              </a:defRPr>
            </a:pPr>
            <a:r>
              <a:rPr lang="en-US"/>
              <a:t>Store in database for comparison </a:t>
            </a:r>
          </a:p>
        </p:txBody>
      </p:sp>
      <p:sp>
        <p:nvSpPr>
          <p:cNvPr id="24" name="TextBox 23">
            <a:extLst>
              <a:ext uri="{FF2B5EF4-FFF2-40B4-BE49-F238E27FC236}">
                <a16:creationId xmlns:a16="http://schemas.microsoft.com/office/drawing/2014/main" id="{4BEB8316-83C9-5C31-4EC7-AC82C56B39CA}"/>
              </a:ext>
            </a:extLst>
          </p:cNvPr>
          <p:cNvSpPr txBox="1"/>
          <p:nvPr/>
        </p:nvSpPr>
        <p:spPr>
          <a:xfrm>
            <a:off x="911744" y="6477138"/>
            <a:ext cx="6731000" cy="646331"/>
          </a:xfrm>
          <a:prstGeom prst="rect">
            <a:avLst/>
          </a:prstGeom>
          <a:noFill/>
        </p:spPr>
        <p:txBody>
          <a:bodyPr wrap="square" lIns="0" tIns="0" rIns="0" bIns="0" anchor="t">
            <a:spAutoFit/>
          </a:bodyPr>
          <a:lstStyle/>
          <a:p>
            <a:pPr>
              <a:spcAft>
                <a:spcPts val="300"/>
              </a:spcAft>
              <a:defRPr sz="2100" b="0">
                <a:solidFill>
                  <a:srgbClr val="536577"/>
                </a:solidFill>
                <a:latin typeface="Arial"/>
              </a:defRPr>
            </a:pPr>
            <a:r>
              <a:rPr lang="en-US"/>
              <a:t>Low level : length, complexity of vocabulary, tone, call to action (CTA)</a:t>
            </a:r>
            <a:endParaRPr lang="en-US">
              <a:cs typeface="Arial"/>
            </a:endParaRPr>
          </a:p>
        </p:txBody>
      </p:sp>
    </p:spTree>
    <p:extLst>
      <p:ext uri="{BB962C8B-B14F-4D97-AF65-F5344CB8AC3E}">
        <p14:creationId xmlns:p14="http://schemas.microsoft.com/office/powerpoint/2010/main" val="6678378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6256000" cy="9144000"/>
          </a:xfrm>
          <a:prstGeom prst="rect">
            <a:avLst/>
          </a:prstGeom>
          <a:solidFill>
            <a:srgbClr val="F7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60400" y="381000"/>
            <a:ext cx="13970000" cy="381000"/>
          </a:xfrm>
          <a:prstGeom prst="rect">
            <a:avLst/>
          </a:prstGeom>
          <a:noFill/>
        </p:spPr>
        <p:txBody>
          <a:bodyPr wrap="square" lIns="0" tIns="0" rIns="0" bIns="0">
            <a:spAutoFit/>
          </a:bodyPr>
          <a:lstStyle/>
          <a:p>
            <a:pPr>
              <a:spcAft>
                <a:spcPts val="300"/>
              </a:spcAft>
              <a:defRPr sz="1400" b="1">
                <a:solidFill>
                  <a:srgbClr val="167D89"/>
                </a:solidFill>
                <a:latin typeface="Arial"/>
              </a:defRPr>
            </a:pPr>
            <a:r>
              <a:t>04 / COMPARISON</a:t>
            </a:r>
          </a:p>
        </p:txBody>
      </p:sp>
      <p:sp>
        <p:nvSpPr>
          <p:cNvPr id="4" name="TextBox 3"/>
          <p:cNvSpPr txBox="1"/>
          <p:nvPr/>
        </p:nvSpPr>
        <p:spPr>
          <a:xfrm>
            <a:off x="660400" y="1016000"/>
            <a:ext cx="14935200" cy="1524000"/>
          </a:xfrm>
          <a:prstGeom prst="rect">
            <a:avLst/>
          </a:prstGeom>
          <a:noFill/>
        </p:spPr>
        <p:txBody>
          <a:bodyPr wrap="square" lIns="0" tIns="0" rIns="0" bIns="0">
            <a:spAutoFit/>
          </a:bodyPr>
          <a:lstStyle/>
          <a:p>
            <a:pPr>
              <a:spcAft>
                <a:spcPts val="300"/>
              </a:spcAft>
              <a:defRPr sz="4200" b="1">
                <a:solidFill>
                  <a:srgbClr val="14253A"/>
                </a:solidFill>
                <a:latin typeface="Arial"/>
              </a:defRPr>
            </a:pPr>
            <a:r>
              <a:t>Spot a difference. Then explain it.</a:t>
            </a:r>
          </a:p>
        </p:txBody>
      </p:sp>
      <p:sp>
        <p:nvSpPr>
          <p:cNvPr id="5" name="TextBox 4"/>
          <p:cNvSpPr txBox="1"/>
          <p:nvPr/>
        </p:nvSpPr>
        <p:spPr>
          <a:xfrm>
            <a:off x="685800" y="1930400"/>
            <a:ext cx="14605000" cy="990600"/>
          </a:xfrm>
          <a:prstGeom prst="rect">
            <a:avLst/>
          </a:prstGeom>
          <a:noFill/>
        </p:spPr>
        <p:txBody>
          <a:bodyPr wrap="square" lIns="0" tIns="0" rIns="0" bIns="0">
            <a:spAutoFit/>
          </a:bodyPr>
          <a:lstStyle/>
          <a:p>
            <a:pPr>
              <a:spcAft>
                <a:spcPts val="300"/>
              </a:spcAft>
              <a:defRPr sz="2300" b="0">
                <a:solidFill>
                  <a:srgbClr val="536577"/>
                </a:solidFill>
                <a:latin typeface="Arial"/>
              </a:defRPr>
            </a:pPr>
            <a:r>
              <a:t>Select comparable pages, choose a feature, and inspect the values behind the chart.</a:t>
            </a:r>
          </a:p>
        </p:txBody>
      </p:sp>
      <p:cxnSp>
        <p:nvCxnSpPr>
          <p:cNvPr id="6" name="Connector 5"/>
          <p:cNvCxnSpPr/>
          <p:nvPr/>
        </p:nvCxnSpPr>
        <p:spPr>
          <a:xfrm>
            <a:off x="660400" y="8534400"/>
            <a:ext cx="14935200" cy="0"/>
          </a:xfrm>
          <a:prstGeom prst="line">
            <a:avLst/>
          </a:prstGeom>
          <a:ln w="12700">
            <a:solidFill>
              <a:srgbClr val="D9DED9"/>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60400" y="8699500"/>
            <a:ext cx="13335000" cy="355600"/>
          </a:xfrm>
          <a:prstGeom prst="rect">
            <a:avLst/>
          </a:prstGeom>
          <a:noFill/>
        </p:spPr>
        <p:txBody>
          <a:bodyPr wrap="square" lIns="0" tIns="0" rIns="0" bIns="0">
            <a:spAutoFit/>
          </a:bodyPr>
          <a:lstStyle/>
          <a:p>
            <a:pPr>
              <a:spcAft>
                <a:spcPts val="300"/>
              </a:spcAft>
              <a:defRPr sz="1100" b="0">
                <a:solidFill>
                  <a:srgbClr val="536577"/>
                </a:solidFill>
                <a:latin typeface="Arial"/>
              </a:defRPr>
            </a:pPr>
            <a:r>
              <a:t>BANKING CAMPAIGNS COMPARATOR  /  RESEARCH PROTOTYPE</a:t>
            </a:r>
          </a:p>
        </p:txBody>
      </p:sp>
      <p:sp>
        <p:nvSpPr>
          <p:cNvPr id="8" name="TextBox 7"/>
          <p:cNvSpPr txBox="1"/>
          <p:nvPr/>
        </p:nvSpPr>
        <p:spPr>
          <a:xfrm>
            <a:off x="14668500" y="8636000"/>
            <a:ext cx="1143000" cy="230832"/>
          </a:xfrm>
          <a:prstGeom prst="rect">
            <a:avLst/>
          </a:prstGeom>
          <a:noFill/>
        </p:spPr>
        <p:txBody>
          <a:bodyPr wrap="square" lIns="0" tIns="0" rIns="0" bIns="0" anchor="t">
            <a:spAutoFit/>
          </a:bodyPr>
          <a:lstStyle/>
          <a:p>
            <a:pPr>
              <a:spcAft>
                <a:spcPts val="300"/>
              </a:spcAft>
              <a:defRPr sz="1500" b="0">
                <a:solidFill>
                  <a:srgbClr val="14253A"/>
                </a:solidFill>
                <a:latin typeface="Arial"/>
              </a:defRPr>
            </a:pPr>
            <a:r>
              <a:rPr lang="en-US"/>
              <a:t>07 </a:t>
            </a:r>
            <a:r>
              <a:t>/ 08</a:t>
            </a:r>
            <a:endParaRPr lang="en-US">
              <a:cs typeface="Arial"/>
            </a:endParaRPr>
          </a:p>
        </p:txBody>
      </p:sp>
      <p:sp>
        <p:nvSpPr>
          <p:cNvPr id="37" name="Oval 36"/>
          <p:cNvSpPr/>
          <p:nvPr/>
        </p:nvSpPr>
        <p:spPr>
          <a:xfrm>
            <a:off x="10109200" y="2997200"/>
            <a:ext cx="482600" cy="482600"/>
          </a:xfrm>
          <a:prstGeom prst="ellipse">
            <a:avLst/>
          </a:prstGeom>
          <a:solidFill>
            <a:srgbClr val="FF7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10210800" y="3098800"/>
            <a:ext cx="444500" cy="381000"/>
          </a:xfrm>
          <a:prstGeom prst="rect">
            <a:avLst/>
          </a:prstGeom>
          <a:noFill/>
        </p:spPr>
        <p:txBody>
          <a:bodyPr wrap="square" lIns="0" tIns="0" rIns="0" bIns="0">
            <a:spAutoFit/>
          </a:bodyPr>
          <a:lstStyle/>
          <a:p>
            <a:pPr>
              <a:spcAft>
                <a:spcPts val="300"/>
              </a:spcAft>
              <a:defRPr sz="1500" b="1">
                <a:solidFill>
                  <a:srgbClr val="14253A"/>
                </a:solidFill>
                <a:latin typeface="Arial"/>
              </a:defRPr>
            </a:pPr>
            <a:r>
              <a:t>01</a:t>
            </a:r>
          </a:p>
        </p:txBody>
      </p:sp>
      <p:sp>
        <p:nvSpPr>
          <p:cNvPr id="39" name="TextBox 38"/>
          <p:cNvSpPr txBox="1"/>
          <p:nvPr/>
        </p:nvSpPr>
        <p:spPr>
          <a:xfrm>
            <a:off x="10769600" y="2997200"/>
            <a:ext cx="4699000" cy="533400"/>
          </a:xfrm>
          <a:prstGeom prst="rect">
            <a:avLst/>
          </a:prstGeom>
          <a:noFill/>
        </p:spPr>
        <p:txBody>
          <a:bodyPr wrap="square" lIns="0" tIns="0" rIns="0" bIns="0">
            <a:spAutoFit/>
          </a:bodyPr>
          <a:lstStyle/>
          <a:p>
            <a:pPr>
              <a:spcAft>
                <a:spcPts val="300"/>
              </a:spcAft>
              <a:defRPr sz="2500" b="1">
                <a:solidFill>
                  <a:srgbClr val="14253A"/>
                </a:solidFill>
                <a:latin typeface="Arial"/>
              </a:defRPr>
            </a:pPr>
            <a:r>
              <a:t>Read the chart</a:t>
            </a:r>
          </a:p>
        </p:txBody>
      </p:sp>
      <p:sp>
        <p:nvSpPr>
          <p:cNvPr id="40" name="TextBox 39"/>
          <p:cNvSpPr txBox="1"/>
          <p:nvPr/>
        </p:nvSpPr>
        <p:spPr>
          <a:xfrm>
            <a:off x="10769600" y="3568700"/>
            <a:ext cx="4660900" cy="1016000"/>
          </a:xfrm>
          <a:prstGeom prst="rect">
            <a:avLst/>
          </a:prstGeom>
          <a:noFill/>
        </p:spPr>
        <p:txBody>
          <a:bodyPr wrap="square" lIns="0" tIns="0" rIns="0" bIns="0">
            <a:spAutoFit/>
          </a:bodyPr>
          <a:lstStyle/>
          <a:p>
            <a:pPr>
              <a:spcAft>
                <a:spcPts val="300"/>
              </a:spcAft>
              <a:defRPr sz="1900" b="0">
                <a:solidFill>
                  <a:srgbClr val="536577"/>
                </a:solidFill>
                <a:latin typeface="Arial"/>
              </a:defRPr>
            </a:pPr>
            <a:r>
              <a:t>A higher score describes the scale;</a:t>
            </a:r>
          </a:p>
          <a:p>
            <a:pPr>
              <a:spcAft>
                <a:spcPts val="300"/>
              </a:spcAft>
              <a:defRPr sz="1900" b="0">
                <a:solidFill>
                  <a:srgbClr val="536577"/>
                </a:solidFill>
                <a:latin typeface="Arial"/>
              </a:defRPr>
            </a:pPr>
            <a:r>
              <a:t>it does not mean better performance.</a:t>
            </a:r>
          </a:p>
        </p:txBody>
      </p:sp>
      <p:sp>
        <p:nvSpPr>
          <p:cNvPr id="41" name="Oval 40"/>
          <p:cNvSpPr/>
          <p:nvPr/>
        </p:nvSpPr>
        <p:spPr>
          <a:xfrm>
            <a:off x="10109200" y="4610100"/>
            <a:ext cx="482600" cy="482600"/>
          </a:xfrm>
          <a:prstGeom prst="ellipse">
            <a:avLst/>
          </a:prstGeom>
          <a:solidFill>
            <a:srgbClr val="FF7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10210800" y="4711700"/>
            <a:ext cx="444500" cy="381000"/>
          </a:xfrm>
          <a:prstGeom prst="rect">
            <a:avLst/>
          </a:prstGeom>
          <a:noFill/>
        </p:spPr>
        <p:txBody>
          <a:bodyPr wrap="square" lIns="0" tIns="0" rIns="0" bIns="0">
            <a:spAutoFit/>
          </a:bodyPr>
          <a:lstStyle/>
          <a:p>
            <a:pPr>
              <a:spcAft>
                <a:spcPts val="300"/>
              </a:spcAft>
              <a:defRPr sz="1500" b="1">
                <a:solidFill>
                  <a:srgbClr val="14253A"/>
                </a:solidFill>
                <a:latin typeface="Arial"/>
              </a:defRPr>
            </a:pPr>
            <a:r>
              <a:t>02</a:t>
            </a:r>
          </a:p>
        </p:txBody>
      </p:sp>
      <p:sp>
        <p:nvSpPr>
          <p:cNvPr id="43" name="TextBox 42"/>
          <p:cNvSpPr txBox="1"/>
          <p:nvPr/>
        </p:nvSpPr>
        <p:spPr>
          <a:xfrm>
            <a:off x="10769600" y="4610100"/>
            <a:ext cx="4699000" cy="533400"/>
          </a:xfrm>
          <a:prstGeom prst="rect">
            <a:avLst/>
          </a:prstGeom>
          <a:noFill/>
        </p:spPr>
        <p:txBody>
          <a:bodyPr wrap="square" lIns="0" tIns="0" rIns="0" bIns="0">
            <a:spAutoFit/>
          </a:bodyPr>
          <a:lstStyle/>
          <a:p>
            <a:pPr>
              <a:spcAft>
                <a:spcPts val="300"/>
              </a:spcAft>
              <a:defRPr sz="2500" b="1">
                <a:solidFill>
                  <a:srgbClr val="14253A"/>
                </a:solidFill>
                <a:latin typeface="Arial"/>
              </a:defRPr>
            </a:pPr>
            <a:r>
              <a:t>Open the details</a:t>
            </a:r>
          </a:p>
        </p:txBody>
      </p:sp>
      <p:sp>
        <p:nvSpPr>
          <p:cNvPr id="44" name="TextBox 43"/>
          <p:cNvSpPr txBox="1"/>
          <p:nvPr/>
        </p:nvSpPr>
        <p:spPr>
          <a:xfrm>
            <a:off x="10769600" y="5181600"/>
            <a:ext cx="4660900" cy="1016000"/>
          </a:xfrm>
          <a:prstGeom prst="rect">
            <a:avLst/>
          </a:prstGeom>
          <a:noFill/>
        </p:spPr>
        <p:txBody>
          <a:bodyPr wrap="square" lIns="0" tIns="0" rIns="0" bIns="0">
            <a:spAutoFit/>
          </a:bodyPr>
          <a:lstStyle/>
          <a:p>
            <a:pPr>
              <a:spcAft>
                <a:spcPts val="300"/>
              </a:spcAft>
              <a:defRPr sz="1900" b="0">
                <a:solidFill>
                  <a:srgbClr val="536577"/>
                </a:solidFill>
                <a:latin typeface="Arial"/>
              </a:defRPr>
            </a:pPr>
            <a:r>
              <a:t>Compare exact labels and see</a:t>
            </a:r>
          </a:p>
          <a:p>
            <a:pPr>
              <a:spcAft>
                <a:spcPts val="300"/>
              </a:spcAft>
              <a:defRPr sz="1900" b="0">
                <a:solidFill>
                  <a:srgbClr val="536577"/>
                </a:solidFill>
                <a:latin typeface="Arial"/>
              </a:defRPr>
            </a:pPr>
            <a:r>
              <a:t>which values are still missing.</a:t>
            </a:r>
          </a:p>
        </p:txBody>
      </p:sp>
      <p:sp>
        <p:nvSpPr>
          <p:cNvPr id="45" name="Oval 44"/>
          <p:cNvSpPr/>
          <p:nvPr/>
        </p:nvSpPr>
        <p:spPr>
          <a:xfrm>
            <a:off x="10109200" y="6210300"/>
            <a:ext cx="482600" cy="482600"/>
          </a:xfrm>
          <a:prstGeom prst="ellipse">
            <a:avLst/>
          </a:prstGeom>
          <a:solidFill>
            <a:srgbClr val="FF7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10210800" y="6311900"/>
            <a:ext cx="444500" cy="381000"/>
          </a:xfrm>
          <a:prstGeom prst="rect">
            <a:avLst/>
          </a:prstGeom>
          <a:noFill/>
        </p:spPr>
        <p:txBody>
          <a:bodyPr wrap="square" lIns="0" tIns="0" rIns="0" bIns="0">
            <a:spAutoFit/>
          </a:bodyPr>
          <a:lstStyle/>
          <a:p>
            <a:pPr>
              <a:spcAft>
                <a:spcPts val="300"/>
              </a:spcAft>
              <a:defRPr sz="1500" b="1">
                <a:solidFill>
                  <a:srgbClr val="14253A"/>
                </a:solidFill>
                <a:latin typeface="Arial"/>
              </a:defRPr>
            </a:pPr>
            <a:r>
              <a:t>03</a:t>
            </a:r>
          </a:p>
        </p:txBody>
      </p:sp>
      <p:sp>
        <p:nvSpPr>
          <p:cNvPr id="47" name="TextBox 46"/>
          <p:cNvSpPr txBox="1"/>
          <p:nvPr/>
        </p:nvSpPr>
        <p:spPr>
          <a:xfrm>
            <a:off x="10769600" y="6210300"/>
            <a:ext cx="4699000" cy="533400"/>
          </a:xfrm>
          <a:prstGeom prst="rect">
            <a:avLst/>
          </a:prstGeom>
          <a:noFill/>
        </p:spPr>
        <p:txBody>
          <a:bodyPr wrap="square" lIns="0" tIns="0" rIns="0" bIns="0">
            <a:spAutoFit/>
          </a:bodyPr>
          <a:lstStyle/>
          <a:p>
            <a:pPr>
              <a:spcAft>
                <a:spcPts val="300"/>
              </a:spcAft>
              <a:defRPr sz="2500" b="1">
                <a:solidFill>
                  <a:srgbClr val="14253A"/>
                </a:solidFill>
                <a:latin typeface="Arial"/>
              </a:defRPr>
            </a:pPr>
            <a:r>
              <a:t>Check the capture</a:t>
            </a:r>
          </a:p>
        </p:txBody>
      </p:sp>
      <p:sp>
        <p:nvSpPr>
          <p:cNvPr id="48" name="TextBox 47"/>
          <p:cNvSpPr txBox="1"/>
          <p:nvPr/>
        </p:nvSpPr>
        <p:spPr>
          <a:xfrm>
            <a:off x="10769600" y="6781800"/>
            <a:ext cx="4660900" cy="1016000"/>
          </a:xfrm>
          <a:prstGeom prst="rect">
            <a:avLst/>
          </a:prstGeom>
          <a:noFill/>
        </p:spPr>
        <p:txBody>
          <a:bodyPr wrap="square" lIns="0" tIns="0" rIns="0" bIns="0">
            <a:spAutoFit/>
          </a:bodyPr>
          <a:lstStyle/>
          <a:p>
            <a:pPr>
              <a:spcAft>
                <a:spcPts val="300"/>
              </a:spcAft>
              <a:defRPr sz="1900" b="0">
                <a:solidFill>
                  <a:srgbClr val="536577"/>
                </a:solidFill>
                <a:latin typeface="Arial"/>
              </a:defRPr>
            </a:pPr>
            <a:r>
              <a:t>Return to the page before drawing</a:t>
            </a:r>
          </a:p>
          <a:p>
            <a:pPr>
              <a:spcAft>
                <a:spcPts val="300"/>
              </a:spcAft>
              <a:defRPr sz="1900" b="0">
                <a:solidFill>
                  <a:srgbClr val="536577"/>
                </a:solidFill>
                <a:latin typeface="Arial"/>
              </a:defRPr>
            </a:pPr>
            <a:r>
              <a:t>a research conclusion.</a:t>
            </a:r>
          </a:p>
        </p:txBody>
      </p:sp>
      <p:sp>
        <p:nvSpPr>
          <p:cNvPr id="49" name="TextBox 48"/>
          <p:cNvSpPr txBox="1"/>
          <p:nvPr/>
        </p:nvSpPr>
        <p:spPr>
          <a:xfrm>
            <a:off x="685800" y="7810500"/>
            <a:ext cx="14859000" cy="654025"/>
          </a:xfrm>
          <a:prstGeom prst="rect">
            <a:avLst/>
          </a:prstGeom>
          <a:noFill/>
        </p:spPr>
        <p:txBody>
          <a:bodyPr wrap="square" lIns="0" tIns="0" rIns="0" bIns="0" anchor="t">
            <a:spAutoFit/>
          </a:bodyPr>
          <a:lstStyle/>
          <a:p>
            <a:pPr>
              <a:spcAft>
                <a:spcPts val="300"/>
              </a:spcAft>
              <a:defRPr sz="2000" b="1">
                <a:solidFill>
                  <a:srgbClr val="167D89"/>
                </a:solidFill>
                <a:latin typeface="Arial"/>
              </a:defRPr>
            </a:pPr>
            <a:r>
              <a:rPr lang="en-US"/>
              <a:t>The product shows you numbers, but does not tell you which is better. </a:t>
            </a:r>
          </a:p>
          <a:p>
            <a:pPr>
              <a:spcAft>
                <a:spcPts val="300"/>
              </a:spcAft>
              <a:defRPr sz="2000" b="1">
                <a:solidFill>
                  <a:srgbClr val="167D89"/>
                </a:solidFill>
                <a:latin typeface="Arial"/>
              </a:defRPr>
            </a:pPr>
            <a:r>
              <a:rPr lang="en-US"/>
              <a:t>You should draw your conclusions based on your own strategy.</a:t>
            </a:r>
          </a:p>
        </p:txBody>
      </p:sp>
      <p:pic>
        <p:nvPicPr>
          <p:cNvPr id="36" name="Picture 35">
            <a:extLst>
              <a:ext uri="{FF2B5EF4-FFF2-40B4-BE49-F238E27FC236}">
                <a16:creationId xmlns:a16="http://schemas.microsoft.com/office/drawing/2014/main" id="{6D70AE2E-9D3D-5F5D-4067-AE5C8C826297}"/>
              </a:ext>
            </a:extLst>
          </p:cNvPr>
          <p:cNvPicPr>
            <a:picLocks noChangeAspect="1"/>
          </p:cNvPicPr>
          <p:nvPr/>
        </p:nvPicPr>
        <p:blipFill>
          <a:blip r:embed="rId3"/>
          <a:stretch>
            <a:fillRect/>
          </a:stretch>
        </p:blipFill>
        <p:spPr>
          <a:xfrm>
            <a:off x="695952" y="2461149"/>
            <a:ext cx="8148287" cy="5186619"/>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6256000" cy="9144000"/>
          </a:xfrm>
          <a:prstGeom prst="rect">
            <a:avLst/>
          </a:prstGeom>
          <a:solidFill>
            <a:srgbClr val="F7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60400" y="381000"/>
            <a:ext cx="13970000" cy="215444"/>
          </a:xfrm>
          <a:prstGeom prst="rect">
            <a:avLst/>
          </a:prstGeom>
          <a:noFill/>
        </p:spPr>
        <p:txBody>
          <a:bodyPr wrap="square" lIns="0" tIns="0" rIns="0" bIns="0" anchor="t">
            <a:spAutoFit/>
          </a:bodyPr>
          <a:lstStyle/>
          <a:p>
            <a:pPr>
              <a:spcAft>
                <a:spcPts val="300"/>
              </a:spcAft>
              <a:defRPr sz="1400" b="1">
                <a:solidFill>
                  <a:srgbClr val="167D89"/>
                </a:solidFill>
                <a:latin typeface="Arial"/>
              </a:defRPr>
            </a:pPr>
            <a:r>
              <a:rPr lang="en-US"/>
              <a:t>05 </a:t>
            </a:r>
            <a:r>
              <a:t>/ AUTOMATION SCOPE</a:t>
            </a:r>
            <a:endParaRPr lang="en-US">
              <a:cs typeface="Arial"/>
            </a:endParaRPr>
          </a:p>
        </p:txBody>
      </p:sp>
      <p:sp>
        <p:nvSpPr>
          <p:cNvPr id="4" name="TextBox 3"/>
          <p:cNvSpPr txBox="1"/>
          <p:nvPr/>
        </p:nvSpPr>
        <p:spPr>
          <a:xfrm>
            <a:off x="660400" y="1016000"/>
            <a:ext cx="14935200" cy="1524000"/>
          </a:xfrm>
          <a:prstGeom prst="rect">
            <a:avLst/>
          </a:prstGeom>
          <a:noFill/>
        </p:spPr>
        <p:txBody>
          <a:bodyPr wrap="square" lIns="0" tIns="0" rIns="0" bIns="0">
            <a:spAutoFit/>
          </a:bodyPr>
          <a:lstStyle/>
          <a:p>
            <a:pPr>
              <a:spcAft>
                <a:spcPts val="300"/>
              </a:spcAft>
              <a:defRPr sz="4200" b="1">
                <a:solidFill>
                  <a:srgbClr val="14253A"/>
                </a:solidFill>
                <a:latin typeface="Arial"/>
              </a:defRPr>
            </a:pPr>
            <a:r>
              <a:t>What is automated — and what stays human?</a:t>
            </a:r>
          </a:p>
        </p:txBody>
      </p:sp>
      <p:sp>
        <p:nvSpPr>
          <p:cNvPr id="5" name="TextBox 4"/>
          <p:cNvSpPr txBox="1"/>
          <p:nvPr/>
        </p:nvSpPr>
        <p:spPr>
          <a:xfrm>
            <a:off x="685800" y="1930400"/>
            <a:ext cx="14605000" cy="990600"/>
          </a:xfrm>
          <a:prstGeom prst="rect">
            <a:avLst/>
          </a:prstGeom>
          <a:noFill/>
        </p:spPr>
        <p:txBody>
          <a:bodyPr wrap="square" lIns="0" tIns="0" rIns="0" bIns="0">
            <a:spAutoFit/>
          </a:bodyPr>
          <a:lstStyle/>
          <a:p>
            <a:pPr>
              <a:spcAft>
                <a:spcPts val="300"/>
              </a:spcAft>
              <a:defRPr sz="2300" b="0">
                <a:solidFill>
                  <a:srgbClr val="536577"/>
                </a:solidFill>
                <a:latin typeface="Arial"/>
              </a:defRPr>
            </a:pPr>
            <a:r>
              <a:t>The next step is broader coverage and better validation, not removing the reviewer.</a:t>
            </a:r>
          </a:p>
        </p:txBody>
      </p:sp>
      <p:cxnSp>
        <p:nvCxnSpPr>
          <p:cNvPr id="6" name="Connector 5"/>
          <p:cNvCxnSpPr/>
          <p:nvPr/>
        </p:nvCxnSpPr>
        <p:spPr>
          <a:xfrm>
            <a:off x="660400" y="8534400"/>
            <a:ext cx="14935200" cy="0"/>
          </a:xfrm>
          <a:prstGeom prst="line">
            <a:avLst/>
          </a:prstGeom>
          <a:ln w="12700">
            <a:solidFill>
              <a:srgbClr val="D9DED9"/>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60400" y="8699500"/>
            <a:ext cx="13335000" cy="355600"/>
          </a:xfrm>
          <a:prstGeom prst="rect">
            <a:avLst/>
          </a:prstGeom>
          <a:noFill/>
        </p:spPr>
        <p:txBody>
          <a:bodyPr wrap="square" lIns="0" tIns="0" rIns="0" bIns="0">
            <a:spAutoFit/>
          </a:bodyPr>
          <a:lstStyle/>
          <a:p>
            <a:pPr>
              <a:spcAft>
                <a:spcPts val="300"/>
              </a:spcAft>
              <a:defRPr sz="1100" b="0">
                <a:solidFill>
                  <a:srgbClr val="536577"/>
                </a:solidFill>
                <a:latin typeface="Arial"/>
              </a:defRPr>
            </a:pPr>
            <a:r>
              <a:t>BANKING CAMPAIGNS COMPARATOR  /  RESEARCH PROTOTYPE</a:t>
            </a:r>
          </a:p>
        </p:txBody>
      </p:sp>
      <p:sp>
        <p:nvSpPr>
          <p:cNvPr id="8" name="TextBox 7"/>
          <p:cNvSpPr txBox="1"/>
          <p:nvPr/>
        </p:nvSpPr>
        <p:spPr>
          <a:xfrm>
            <a:off x="14654967" y="8636000"/>
            <a:ext cx="1143000" cy="230832"/>
          </a:xfrm>
          <a:prstGeom prst="rect">
            <a:avLst/>
          </a:prstGeom>
          <a:noFill/>
        </p:spPr>
        <p:txBody>
          <a:bodyPr wrap="square" lIns="0" tIns="0" rIns="0" bIns="0" anchor="t">
            <a:spAutoFit/>
          </a:bodyPr>
          <a:lstStyle/>
          <a:p>
            <a:pPr>
              <a:spcAft>
                <a:spcPts val="300"/>
              </a:spcAft>
              <a:defRPr sz="1500" b="0">
                <a:solidFill>
                  <a:srgbClr val="14253A"/>
                </a:solidFill>
                <a:latin typeface="Arial"/>
              </a:defRPr>
            </a:pPr>
            <a:r>
              <a:rPr lang="en-US"/>
              <a:t>08</a:t>
            </a:r>
            <a:r>
              <a:t> / 08</a:t>
            </a:r>
          </a:p>
        </p:txBody>
      </p:sp>
      <p:sp>
        <p:nvSpPr>
          <p:cNvPr id="9" name="Rounded Rectangle 8"/>
          <p:cNvSpPr/>
          <p:nvPr/>
        </p:nvSpPr>
        <p:spPr>
          <a:xfrm>
            <a:off x="660400" y="3035300"/>
            <a:ext cx="4800600" cy="44704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60400" y="3035300"/>
            <a:ext cx="4800600" cy="88900"/>
          </a:xfrm>
          <a:prstGeom prst="rect">
            <a:avLst/>
          </a:prstGeom>
          <a:solidFill>
            <a:srgbClr val="167D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27100" y="3365500"/>
            <a:ext cx="4305300" cy="584200"/>
          </a:xfrm>
          <a:prstGeom prst="rect">
            <a:avLst/>
          </a:prstGeom>
          <a:noFill/>
        </p:spPr>
        <p:txBody>
          <a:bodyPr wrap="square" lIns="0" tIns="0" rIns="0" bIns="0">
            <a:spAutoFit/>
          </a:bodyPr>
          <a:lstStyle/>
          <a:p>
            <a:pPr>
              <a:spcAft>
                <a:spcPts val="300"/>
              </a:spcAft>
              <a:defRPr sz="2300" b="1">
                <a:solidFill>
                  <a:srgbClr val="167D89"/>
                </a:solidFill>
                <a:latin typeface="Arial"/>
              </a:defRPr>
            </a:pPr>
            <a:r>
              <a:t>AVAILABLE NOW</a:t>
            </a:r>
          </a:p>
        </p:txBody>
      </p:sp>
      <p:sp>
        <p:nvSpPr>
          <p:cNvPr id="12" name="Oval 11"/>
          <p:cNvSpPr/>
          <p:nvPr/>
        </p:nvSpPr>
        <p:spPr>
          <a:xfrm>
            <a:off x="939800" y="4330700"/>
            <a:ext cx="88900" cy="88900"/>
          </a:xfrm>
          <a:prstGeom prst="ellipse">
            <a:avLst/>
          </a:prstGeom>
          <a:solidFill>
            <a:srgbClr val="167D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168400" y="4191000"/>
            <a:ext cx="4064000" cy="323165"/>
          </a:xfrm>
          <a:prstGeom prst="rect">
            <a:avLst/>
          </a:prstGeom>
          <a:noFill/>
        </p:spPr>
        <p:txBody>
          <a:bodyPr wrap="square" lIns="0" tIns="0" rIns="0" bIns="0" anchor="t">
            <a:spAutoFit/>
          </a:bodyPr>
          <a:lstStyle/>
          <a:p>
            <a:pPr>
              <a:spcAft>
                <a:spcPts val="300"/>
              </a:spcAft>
              <a:defRPr sz="2100" b="0">
                <a:solidFill>
                  <a:srgbClr val="14253A"/>
                </a:solidFill>
                <a:latin typeface="Arial"/>
              </a:defRPr>
            </a:pPr>
            <a:r>
              <a:t>Capture </a:t>
            </a:r>
            <a:r>
              <a:rPr lang="en-US"/>
              <a:t>&amp; store labels </a:t>
            </a:r>
            <a:endParaRPr lang="en-US">
              <a:cs typeface="Arial"/>
            </a:endParaRPr>
          </a:p>
        </p:txBody>
      </p:sp>
      <p:sp>
        <p:nvSpPr>
          <p:cNvPr id="14" name="Oval 13"/>
          <p:cNvSpPr/>
          <p:nvPr/>
        </p:nvSpPr>
        <p:spPr>
          <a:xfrm>
            <a:off x="939800" y="5003800"/>
            <a:ext cx="88900" cy="88900"/>
          </a:xfrm>
          <a:prstGeom prst="ellipse">
            <a:avLst/>
          </a:prstGeom>
          <a:solidFill>
            <a:srgbClr val="167D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168400" y="4864100"/>
            <a:ext cx="4064000" cy="1769715"/>
          </a:xfrm>
          <a:prstGeom prst="rect">
            <a:avLst/>
          </a:prstGeom>
          <a:noFill/>
        </p:spPr>
        <p:txBody>
          <a:bodyPr wrap="square" lIns="0" tIns="0" rIns="0" bIns="0" anchor="t">
            <a:spAutoFit/>
          </a:bodyPr>
          <a:lstStyle/>
          <a:p>
            <a:pPr>
              <a:spcAft>
                <a:spcPts val="300"/>
              </a:spcAft>
              <a:defRPr sz="2100" b="0">
                <a:solidFill>
                  <a:srgbClr val="14253A"/>
                </a:solidFill>
                <a:latin typeface="Arial"/>
              </a:defRPr>
            </a:pPr>
            <a:r>
              <a:rPr lang="en-US"/>
              <a:t>Automatic labeling features: </a:t>
            </a:r>
          </a:p>
          <a:p>
            <a:pPr marL="342900" indent="-342900">
              <a:spcAft>
                <a:spcPts val="300"/>
              </a:spcAft>
              <a:buFont typeface="Arial"/>
              <a:buChar char="•"/>
              <a:defRPr sz="2100" b="0">
                <a:solidFill>
                  <a:srgbClr val="14253A"/>
                </a:solidFill>
                <a:latin typeface="Arial"/>
              </a:defRPr>
            </a:pPr>
            <a:r>
              <a:rPr lang="en-US"/>
              <a:t>Text &amp; content</a:t>
            </a:r>
          </a:p>
          <a:p>
            <a:pPr marL="342900" indent="-342900">
              <a:spcAft>
                <a:spcPts val="300"/>
              </a:spcAft>
              <a:buFont typeface="Arial"/>
              <a:buChar char="•"/>
              <a:defRPr sz="2100" b="0">
                <a:solidFill>
                  <a:srgbClr val="14253A"/>
                </a:solidFill>
                <a:latin typeface="Arial"/>
              </a:defRPr>
            </a:pPr>
            <a:r>
              <a:rPr lang="en-US"/>
              <a:t>Messaging &amp; tone</a:t>
            </a:r>
            <a:endParaRPr lang="en-US">
              <a:cs typeface="Arial"/>
            </a:endParaRPr>
          </a:p>
          <a:p>
            <a:pPr marL="342900" indent="-342900">
              <a:spcAft>
                <a:spcPts val="300"/>
              </a:spcAft>
              <a:buFont typeface="Arial"/>
              <a:buChar char="•"/>
              <a:defRPr sz="2100" b="0">
                <a:solidFill>
                  <a:srgbClr val="14253A"/>
                </a:solidFill>
                <a:latin typeface="Arial"/>
              </a:defRPr>
            </a:pPr>
            <a:r>
              <a:rPr lang="en-US"/>
              <a:t>Images &amp; visuals</a:t>
            </a:r>
            <a:endParaRPr lang="en-US">
              <a:cs typeface="Arial"/>
            </a:endParaRPr>
          </a:p>
          <a:p>
            <a:pPr marL="342900" indent="-342900">
              <a:spcAft>
                <a:spcPts val="300"/>
              </a:spcAft>
              <a:buFont typeface="Arial"/>
              <a:buChar char="•"/>
              <a:defRPr sz="2100" b="0">
                <a:solidFill>
                  <a:srgbClr val="14253A"/>
                </a:solidFill>
                <a:latin typeface="Arial"/>
              </a:defRPr>
            </a:pPr>
            <a:r>
              <a:rPr lang="en-US"/>
              <a:t>CTA</a:t>
            </a:r>
            <a:endParaRPr lang="en-US">
              <a:cs typeface="Arial"/>
            </a:endParaRPr>
          </a:p>
        </p:txBody>
      </p:sp>
      <p:sp>
        <p:nvSpPr>
          <p:cNvPr id="20" name="Rounded Rectangle 19"/>
          <p:cNvSpPr/>
          <p:nvPr/>
        </p:nvSpPr>
        <p:spPr>
          <a:xfrm>
            <a:off x="5727700" y="3035300"/>
            <a:ext cx="4800600" cy="44704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5727700" y="3035300"/>
            <a:ext cx="4800600" cy="88900"/>
          </a:xfrm>
          <a:prstGeom prst="rect">
            <a:avLst/>
          </a:prstGeom>
          <a:solidFill>
            <a:srgbClr val="FF7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994400" y="3365500"/>
            <a:ext cx="4305300" cy="584200"/>
          </a:xfrm>
          <a:prstGeom prst="rect">
            <a:avLst/>
          </a:prstGeom>
          <a:noFill/>
        </p:spPr>
        <p:txBody>
          <a:bodyPr wrap="square" lIns="0" tIns="0" rIns="0" bIns="0">
            <a:spAutoFit/>
          </a:bodyPr>
          <a:lstStyle/>
          <a:p>
            <a:pPr>
              <a:spcAft>
                <a:spcPts val="300"/>
              </a:spcAft>
              <a:defRPr sz="2300" b="1">
                <a:solidFill>
                  <a:srgbClr val="FF792F"/>
                </a:solidFill>
                <a:latin typeface="Arial"/>
              </a:defRPr>
            </a:pPr>
            <a:r>
              <a:t>NEXT DEVELOPMENT</a:t>
            </a:r>
          </a:p>
        </p:txBody>
      </p:sp>
      <p:sp>
        <p:nvSpPr>
          <p:cNvPr id="23" name="Oval 22"/>
          <p:cNvSpPr/>
          <p:nvPr/>
        </p:nvSpPr>
        <p:spPr>
          <a:xfrm>
            <a:off x="6007100" y="4330700"/>
            <a:ext cx="88900" cy="88900"/>
          </a:xfrm>
          <a:prstGeom prst="ellipse">
            <a:avLst/>
          </a:prstGeom>
          <a:solidFill>
            <a:srgbClr val="FF7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235700" y="4191000"/>
            <a:ext cx="4064000" cy="323165"/>
          </a:xfrm>
          <a:prstGeom prst="rect">
            <a:avLst/>
          </a:prstGeom>
          <a:noFill/>
        </p:spPr>
        <p:txBody>
          <a:bodyPr wrap="square" lIns="0" tIns="0" rIns="0" bIns="0" anchor="t">
            <a:spAutoFit/>
          </a:bodyPr>
          <a:lstStyle/>
          <a:p>
            <a:pPr>
              <a:spcAft>
                <a:spcPts val="300"/>
              </a:spcAft>
              <a:defRPr sz="2100" b="0">
                <a:solidFill>
                  <a:srgbClr val="14253A"/>
                </a:solidFill>
                <a:latin typeface="Arial"/>
              </a:defRPr>
            </a:pPr>
            <a:r>
              <a:t>More </a:t>
            </a:r>
            <a:r>
              <a:rPr lang="en-US"/>
              <a:t>sources</a:t>
            </a:r>
            <a:endParaRPr/>
          </a:p>
        </p:txBody>
      </p:sp>
      <p:sp>
        <p:nvSpPr>
          <p:cNvPr id="25" name="Oval 24"/>
          <p:cNvSpPr/>
          <p:nvPr/>
        </p:nvSpPr>
        <p:spPr>
          <a:xfrm>
            <a:off x="6007100" y="5003800"/>
            <a:ext cx="88900" cy="88900"/>
          </a:xfrm>
          <a:prstGeom prst="ellipse">
            <a:avLst/>
          </a:prstGeom>
          <a:solidFill>
            <a:srgbClr val="FF7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235700" y="4864100"/>
            <a:ext cx="4064000" cy="635000"/>
          </a:xfrm>
          <a:prstGeom prst="rect">
            <a:avLst/>
          </a:prstGeom>
          <a:noFill/>
        </p:spPr>
        <p:txBody>
          <a:bodyPr wrap="square" lIns="0" tIns="0" rIns="0" bIns="0">
            <a:spAutoFit/>
          </a:bodyPr>
          <a:lstStyle/>
          <a:p>
            <a:pPr>
              <a:spcAft>
                <a:spcPts val="300"/>
              </a:spcAft>
              <a:defRPr sz="2100" b="0">
                <a:solidFill>
                  <a:srgbClr val="14253A"/>
                </a:solidFill>
                <a:latin typeface="Arial"/>
              </a:defRPr>
            </a:pPr>
            <a:r>
              <a:t>Calibrate scoring rules</a:t>
            </a:r>
          </a:p>
        </p:txBody>
      </p:sp>
      <p:sp>
        <p:nvSpPr>
          <p:cNvPr id="27" name="Oval 26"/>
          <p:cNvSpPr/>
          <p:nvPr/>
        </p:nvSpPr>
        <p:spPr>
          <a:xfrm>
            <a:off x="6007100" y="5676900"/>
            <a:ext cx="88900" cy="88900"/>
          </a:xfrm>
          <a:prstGeom prst="ellipse">
            <a:avLst/>
          </a:prstGeom>
          <a:solidFill>
            <a:srgbClr val="FF7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235700" y="5537200"/>
            <a:ext cx="4064000" cy="323165"/>
          </a:xfrm>
          <a:prstGeom prst="rect">
            <a:avLst/>
          </a:prstGeom>
          <a:noFill/>
        </p:spPr>
        <p:txBody>
          <a:bodyPr wrap="square" lIns="0" tIns="0" rIns="0" bIns="0" anchor="t">
            <a:spAutoFit/>
          </a:bodyPr>
          <a:lstStyle/>
          <a:p>
            <a:pPr>
              <a:spcAft>
                <a:spcPts val="300"/>
              </a:spcAft>
              <a:defRPr sz="2100" b="0">
                <a:solidFill>
                  <a:srgbClr val="14253A"/>
                </a:solidFill>
                <a:latin typeface="Arial"/>
              </a:defRPr>
            </a:pPr>
            <a:r>
              <a:t>Validate</a:t>
            </a:r>
            <a:r>
              <a:rPr lang="en-US"/>
              <a:t> with marketing team</a:t>
            </a:r>
            <a:endParaRPr lang="en-US">
              <a:cs typeface="Arial"/>
            </a:endParaRPr>
          </a:p>
        </p:txBody>
      </p:sp>
      <p:sp>
        <p:nvSpPr>
          <p:cNvPr id="31" name="Rounded Rectangle 30"/>
          <p:cNvSpPr/>
          <p:nvPr/>
        </p:nvSpPr>
        <p:spPr>
          <a:xfrm>
            <a:off x="10795000" y="3035300"/>
            <a:ext cx="4800600" cy="44704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10795000" y="3035300"/>
            <a:ext cx="4800600" cy="88900"/>
          </a:xfrm>
          <a:prstGeom prst="rect">
            <a:avLst/>
          </a:prstGeom>
          <a:solidFill>
            <a:srgbClr val="14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1061700" y="3365500"/>
            <a:ext cx="4305300" cy="584200"/>
          </a:xfrm>
          <a:prstGeom prst="rect">
            <a:avLst/>
          </a:prstGeom>
          <a:noFill/>
        </p:spPr>
        <p:txBody>
          <a:bodyPr wrap="square" lIns="0" tIns="0" rIns="0" bIns="0">
            <a:spAutoFit/>
          </a:bodyPr>
          <a:lstStyle/>
          <a:p>
            <a:pPr>
              <a:spcAft>
                <a:spcPts val="300"/>
              </a:spcAft>
              <a:defRPr sz="2300" b="1">
                <a:solidFill>
                  <a:srgbClr val="14253A"/>
                </a:solidFill>
                <a:latin typeface="Arial"/>
              </a:defRPr>
            </a:pPr>
            <a:r>
              <a:t>HUMAN REVIEW</a:t>
            </a:r>
          </a:p>
        </p:txBody>
      </p:sp>
      <p:sp>
        <p:nvSpPr>
          <p:cNvPr id="34" name="Oval 33"/>
          <p:cNvSpPr/>
          <p:nvPr/>
        </p:nvSpPr>
        <p:spPr>
          <a:xfrm>
            <a:off x="11074400" y="4330700"/>
            <a:ext cx="88900" cy="88900"/>
          </a:xfrm>
          <a:prstGeom prst="ellipse">
            <a:avLst/>
          </a:prstGeom>
          <a:solidFill>
            <a:srgbClr val="14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11303000" y="4191000"/>
            <a:ext cx="4064000" cy="635000"/>
          </a:xfrm>
          <a:prstGeom prst="rect">
            <a:avLst/>
          </a:prstGeom>
          <a:noFill/>
        </p:spPr>
        <p:txBody>
          <a:bodyPr wrap="square" lIns="0" tIns="0" rIns="0" bIns="0">
            <a:spAutoFit/>
          </a:bodyPr>
          <a:lstStyle/>
          <a:p>
            <a:pPr>
              <a:spcAft>
                <a:spcPts val="300"/>
              </a:spcAft>
              <a:defRPr sz="2100" b="0">
                <a:solidFill>
                  <a:srgbClr val="14253A"/>
                </a:solidFill>
                <a:latin typeface="Arial"/>
              </a:defRPr>
            </a:pPr>
            <a:r>
              <a:t>Visual clarity and meaning</a:t>
            </a:r>
          </a:p>
        </p:txBody>
      </p:sp>
      <p:sp>
        <p:nvSpPr>
          <p:cNvPr id="36" name="Oval 35"/>
          <p:cNvSpPr/>
          <p:nvPr/>
        </p:nvSpPr>
        <p:spPr>
          <a:xfrm>
            <a:off x="11074400" y="5003800"/>
            <a:ext cx="88900" cy="88900"/>
          </a:xfrm>
          <a:prstGeom prst="ellipse">
            <a:avLst/>
          </a:prstGeom>
          <a:solidFill>
            <a:srgbClr val="14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11303000" y="4864100"/>
            <a:ext cx="4064000" cy="635000"/>
          </a:xfrm>
          <a:prstGeom prst="rect">
            <a:avLst/>
          </a:prstGeom>
          <a:noFill/>
        </p:spPr>
        <p:txBody>
          <a:bodyPr wrap="square" lIns="0" tIns="0" rIns="0" bIns="0">
            <a:spAutoFit/>
          </a:bodyPr>
          <a:lstStyle/>
          <a:p>
            <a:pPr>
              <a:spcAft>
                <a:spcPts val="300"/>
              </a:spcAft>
              <a:defRPr sz="2100" b="0">
                <a:solidFill>
                  <a:srgbClr val="14253A"/>
                </a:solidFill>
                <a:latin typeface="Arial"/>
              </a:defRPr>
            </a:pPr>
            <a:r>
              <a:t>Ambiguous messaging</a:t>
            </a:r>
          </a:p>
        </p:txBody>
      </p:sp>
      <p:sp>
        <p:nvSpPr>
          <p:cNvPr id="38" name="Oval 37"/>
          <p:cNvSpPr/>
          <p:nvPr/>
        </p:nvSpPr>
        <p:spPr>
          <a:xfrm>
            <a:off x="11074400" y="5676900"/>
            <a:ext cx="88900" cy="88900"/>
          </a:xfrm>
          <a:prstGeom prst="ellipse">
            <a:avLst/>
          </a:prstGeom>
          <a:solidFill>
            <a:srgbClr val="14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11303000" y="5537200"/>
            <a:ext cx="4064000" cy="635000"/>
          </a:xfrm>
          <a:prstGeom prst="rect">
            <a:avLst/>
          </a:prstGeom>
          <a:noFill/>
        </p:spPr>
        <p:txBody>
          <a:bodyPr wrap="square" lIns="0" tIns="0" rIns="0" bIns="0">
            <a:spAutoFit/>
          </a:bodyPr>
          <a:lstStyle/>
          <a:p>
            <a:pPr>
              <a:spcAft>
                <a:spcPts val="300"/>
              </a:spcAft>
              <a:defRPr sz="2100" b="0">
                <a:solidFill>
                  <a:srgbClr val="14253A"/>
                </a:solidFill>
                <a:latin typeface="Arial"/>
              </a:defRPr>
            </a:pPr>
            <a:r>
              <a:t>Final research conclusions</a:t>
            </a:r>
          </a:p>
        </p:txBody>
      </p:sp>
      <p:sp>
        <p:nvSpPr>
          <p:cNvPr id="16" name="TextBox 15">
            <a:extLst>
              <a:ext uri="{FF2B5EF4-FFF2-40B4-BE49-F238E27FC236}">
                <a16:creationId xmlns:a16="http://schemas.microsoft.com/office/drawing/2014/main" id="{84127B5F-05BA-9F36-ADA3-97F6F79C12DF}"/>
              </a:ext>
            </a:extLst>
          </p:cNvPr>
          <p:cNvSpPr txBox="1"/>
          <p:nvPr/>
        </p:nvSpPr>
        <p:spPr>
          <a:xfrm>
            <a:off x="6235844" y="6254619"/>
            <a:ext cx="4064000" cy="323165"/>
          </a:xfrm>
          <a:prstGeom prst="rect">
            <a:avLst/>
          </a:prstGeom>
          <a:noFill/>
        </p:spPr>
        <p:txBody>
          <a:bodyPr wrap="square" lIns="0" tIns="0" rIns="0" bIns="0" anchor="t">
            <a:spAutoFit/>
          </a:bodyPr>
          <a:lstStyle/>
          <a:p>
            <a:pPr>
              <a:spcAft>
                <a:spcPts val="300"/>
              </a:spcAft>
              <a:defRPr sz="2100" b="0">
                <a:solidFill>
                  <a:srgbClr val="14253A"/>
                </a:solidFill>
                <a:latin typeface="Arial"/>
              </a:defRPr>
            </a:pPr>
            <a:r>
              <a:rPr lang="en-US"/>
              <a:t>Increase list of computed labels </a:t>
            </a:r>
          </a:p>
        </p:txBody>
      </p:sp>
      <p:sp>
        <p:nvSpPr>
          <p:cNvPr id="17" name="Oval 16">
            <a:extLst>
              <a:ext uri="{FF2B5EF4-FFF2-40B4-BE49-F238E27FC236}">
                <a16:creationId xmlns:a16="http://schemas.microsoft.com/office/drawing/2014/main" id="{D40D07B8-4B7D-49DC-DB80-B6DC0809B83C}"/>
              </a:ext>
            </a:extLst>
          </p:cNvPr>
          <p:cNvSpPr/>
          <p:nvPr/>
        </p:nvSpPr>
        <p:spPr>
          <a:xfrm>
            <a:off x="6020778" y="6394319"/>
            <a:ext cx="88900" cy="88900"/>
          </a:xfrm>
          <a:prstGeom prst="ellipse">
            <a:avLst/>
          </a:prstGeom>
          <a:solidFill>
            <a:srgbClr val="FF7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6256000" cy="9144000"/>
          </a:xfrm>
          <a:prstGeom prst="rect">
            <a:avLst/>
          </a:prstGeom>
          <a:solidFill>
            <a:srgbClr val="14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60400" y="381000"/>
            <a:ext cx="13970000" cy="381000"/>
          </a:xfrm>
          <a:prstGeom prst="rect">
            <a:avLst/>
          </a:prstGeom>
          <a:noFill/>
        </p:spPr>
        <p:txBody>
          <a:bodyPr wrap="square" lIns="0" tIns="0" rIns="0" bIns="0">
            <a:spAutoFit/>
          </a:bodyPr>
          <a:lstStyle/>
          <a:p>
            <a:pPr>
              <a:spcAft>
                <a:spcPts val="300"/>
              </a:spcAft>
              <a:defRPr sz="1400" b="1">
                <a:solidFill>
                  <a:srgbClr val="FF792F"/>
                </a:solidFill>
                <a:latin typeface="Arial"/>
              </a:defRPr>
            </a:pPr>
            <a:r>
              <a:t>DISCUSSION</a:t>
            </a:r>
          </a:p>
        </p:txBody>
      </p:sp>
      <p:cxnSp>
        <p:nvCxnSpPr>
          <p:cNvPr id="4" name="Connector 3"/>
          <p:cNvCxnSpPr/>
          <p:nvPr/>
        </p:nvCxnSpPr>
        <p:spPr>
          <a:xfrm>
            <a:off x="660400" y="8534400"/>
            <a:ext cx="14935200" cy="0"/>
          </a:xfrm>
          <a:prstGeom prst="line">
            <a:avLst/>
          </a:prstGeom>
          <a:ln w="12700">
            <a:solidFill>
              <a:srgbClr val="22384E"/>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60400" y="8699500"/>
            <a:ext cx="13335000" cy="355600"/>
          </a:xfrm>
          <a:prstGeom prst="rect">
            <a:avLst/>
          </a:prstGeom>
          <a:noFill/>
        </p:spPr>
        <p:txBody>
          <a:bodyPr wrap="square" lIns="0" tIns="0" rIns="0" bIns="0">
            <a:spAutoFit/>
          </a:bodyPr>
          <a:lstStyle/>
          <a:p>
            <a:pPr>
              <a:spcAft>
                <a:spcPts val="300"/>
              </a:spcAft>
              <a:defRPr sz="1100" b="0">
                <a:solidFill>
                  <a:srgbClr val="BDCCDA"/>
                </a:solidFill>
                <a:latin typeface="Arial"/>
              </a:defRPr>
            </a:pPr>
            <a:r>
              <a:t>BANKING CAMPAIGNS COMPARATOR  /  RESEARCH PROTOTYPE</a:t>
            </a:r>
          </a:p>
        </p:txBody>
      </p:sp>
      <p:sp>
        <p:nvSpPr>
          <p:cNvPr id="7" name="Oval 6"/>
          <p:cNvSpPr/>
          <p:nvPr/>
        </p:nvSpPr>
        <p:spPr>
          <a:xfrm>
            <a:off x="11430000" y="1295400"/>
            <a:ext cx="3556000" cy="3556000"/>
          </a:xfrm>
          <a:prstGeom prst="ellipse">
            <a:avLst/>
          </a:prstGeom>
          <a:solidFill>
            <a:srgbClr val="2238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2530467" y="2130453"/>
            <a:ext cx="2603500" cy="2921000"/>
          </a:xfrm>
          <a:prstGeom prst="rect">
            <a:avLst/>
          </a:prstGeom>
          <a:noFill/>
        </p:spPr>
        <p:txBody>
          <a:bodyPr wrap="square" lIns="0" tIns="0" rIns="0" bIns="0">
            <a:spAutoFit/>
          </a:bodyPr>
          <a:lstStyle/>
          <a:p>
            <a:pPr>
              <a:spcAft>
                <a:spcPts val="300"/>
              </a:spcAft>
              <a:defRPr sz="14200" b="1">
                <a:solidFill>
                  <a:srgbClr val="FF792F"/>
                </a:solidFill>
                <a:latin typeface="Arial"/>
              </a:defRPr>
            </a:pPr>
            <a:r>
              <a:t>?</a:t>
            </a:r>
          </a:p>
        </p:txBody>
      </p:sp>
      <p:sp>
        <p:nvSpPr>
          <p:cNvPr id="9" name="TextBox 8"/>
          <p:cNvSpPr txBox="1"/>
          <p:nvPr/>
        </p:nvSpPr>
        <p:spPr>
          <a:xfrm>
            <a:off x="1843496" y="1547516"/>
            <a:ext cx="10033000" cy="3046988"/>
          </a:xfrm>
          <a:prstGeom prst="rect">
            <a:avLst/>
          </a:prstGeom>
          <a:noFill/>
        </p:spPr>
        <p:txBody>
          <a:bodyPr wrap="square" lIns="0" tIns="0" rIns="0" bIns="0" anchor="t">
            <a:spAutoFit/>
          </a:bodyPr>
          <a:lstStyle/>
          <a:p>
            <a:pPr>
              <a:defRPr sz="4300" b="1">
                <a:solidFill>
                  <a:srgbClr val="FFFFFF"/>
                </a:solidFill>
                <a:latin typeface="Arial"/>
              </a:defRPr>
            </a:pPr>
            <a:r>
              <a:rPr lang="en-US" sz="6600"/>
              <a:t>Questions </a:t>
            </a:r>
            <a:endParaRPr lang="en-US" sz="6600">
              <a:solidFill>
                <a:srgbClr val="000000"/>
              </a:solidFill>
            </a:endParaRPr>
          </a:p>
          <a:p>
            <a:pPr>
              <a:defRPr sz="4300" b="1">
                <a:solidFill>
                  <a:srgbClr val="FFFFFF"/>
                </a:solidFill>
                <a:latin typeface="Arial"/>
              </a:defRPr>
            </a:pPr>
            <a:r>
              <a:rPr lang="en-US" sz="6600"/>
              <a:t>&amp; answers</a:t>
            </a:r>
            <a:endParaRPr lang="en-US" sz="6600">
              <a:solidFill>
                <a:srgbClr val="000000"/>
              </a:solidFill>
              <a:cs typeface="Arial"/>
            </a:endParaRPr>
          </a:p>
          <a:p>
            <a:pPr>
              <a:spcAft>
                <a:spcPts val="300"/>
              </a:spcAft>
              <a:defRPr sz="4300" b="1">
                <a:solidFill>
                  <a:srgbClr val="FFFFFF"/>
                </a:solidFill>
                <a:latin typeface="Arial"/>
              </a:defRPr>
            </a:pPr>
            <a:endParaRPr sz="6600">
              <a:cs typeface="Aria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Custom</PresentationFormat>
  <Slides>9</Slides>
  <Notes>9</Notes>
  <HiddenSlides>0</HiddenSlide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revision>2</cp:revision>
  <dcterms:created xsi:type="dcterms:W3CDTF">2013-01-27T09:14:16Z</dcterms:created>
  <dcterms:modified xsi:type="dcterms:W3CDTF">2026-09-30T08:16:41Z</dcterms:modified>
  <cp:category/>
</cp:coreProperties>
</file>